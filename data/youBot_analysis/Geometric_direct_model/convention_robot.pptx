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3B3838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6387" autoAdjust="0"/>
  </p:normalViewPr>
  <p:slideViewPr>
    <p:cSldViewPr snapToGrid="0">
      <p:cViewPr varScale="1">
        <p:scale>
          <a:sx n="111" d="100"/>
          <a:sy n="111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3E5A7-6BCC-44ED-A7CA-3BEC1D375009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33766-934B-4C2C-9342-01CE89F36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956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33766-934B-4C2C-9342-01CE89F3655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22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33766-934B-4C2C-9342-01CE89F36555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7768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886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18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38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698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646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000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806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30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721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74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14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55A41-CCEA-472B-9CE7-051ADE1C7A2D}" type="datetimeFigureOut">
              <a:rPr lang="fr-FR" smtClean="0"/>
              <a:t>08/12/2020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D93DD-16CE-4A22-B045-B4AAF514884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70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4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44.png"/><Relationship Id="rId21" Type="http://schemas.openxmlformats.org/officeDocument/2006/relationships/image" Target="../media/image53.png"/><Relationship Id="rId34" Type="http://schemas.openxmlformats.org/officeDocument/2006/relationships/image" Target="../media/image40.png"/><Relationship Id="rId7" Type="http://schemas.openxmlformats.org/officeDocument/2006/relationships/image" Target="../media/image48.png"/><Relationship Id="rId12" Type="http://schemas.openxmlformats.org/officeDocument/2006/relationships/image" Target="../media/image51.png"/><Relationship Id="rId17" Type="http://schemas.openxmlformats.org/officeDocument/2006/relationships/image" Target="../media/image23.png"/><Relationship Id="rId25" Type="http://schemas.openxmlformats.org/officeDocument/2006/relationships/image" Target="../media/image540.png"/><Relationship Id="rId3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0.png"/><Relationship Id="rId24" Type="http://schemas.openxmlformats.org/officeDocument/2006/relationships/image" Target="../media/image56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" Type="http://schemas.openxmlformats.org/officeDocument/2006/relationships/image" Target="../media/image46.png"/><Relationship Id="rId15" Type="http://schemas.openxmlformats.org/officeDocument/2006/relationships/image" Target="../media/image21.png"/><Relationship Id="rId23" Type="http://schemas.openxmlformats.org/officeDocument/2006/relationships/image" Target="../media/image55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45.png"/><Relationship Id="rId9" Type="http://schemas.openxmlformats.org/officeDocument/2006/relationships/image" Target="../media/image15.png"/><Relationship Id="rId14" Type="http://schemas.openxmlformats.org/officeDocument/2006/relationships/image" Target="../media/image52.png"/><Relationship Id="rId22" Type="http://schemas.openxmlformats.org/officeDocument/2006/relationships/image" Target="../media/image54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5"/>
          <p:cNvSpPr/>
          <p:nvPr/>
        </p:nvSpPr>
        <p:spPr>
          <a:xfrm flipH="1">
            <a:off x="6058269" y="4225403"/>
            <a:ext cx="1268912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5"/>
          <p:cNvSpPr/>
          <p:nvPr/>
        </p:nvSpPr>
        <p:spPr>
          <a:xfrm>
            <a:off x="5916930" y="1747592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5"/>
          <p:cNvSpPr/>
          <p:nvPr/>
        </p:nvSpPr>
        <p:spPr>
          <a:xfrm>
            <a:off x="6107430" y="2058924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5"/>
          <p:cNvSpPr/>
          <p:nvPr/>
        </p:nvSpPr>
        <p:spPr>
          <a:xfrm>
            <a:off x="5104745" y="3340721"/>
            <a:ext cx="2068068" cy="169926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5356860" y="2862072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5393436" y="5056632"/>
            <a:ext cx="2685288" cy="777240"/>
          </a:xfrm>
          <a:custGeom>
            <a:avLst/>
            <a:gdLst>
              <a:gd name="connsiteX0" fmla="*/ 129543 w 2685288"/>
              <a:gd name="connsiteY0" fmla="*/ 0 h 777240"/>
              <a:gd name="connsiteX1" fmla="*/ 2395725 w 2685288"/>
              <a:gd name="connsiteY1" fmla="*/ 0 h 777240"/>
              <a:gd name="connsiteX2" fmla="*/ 2525268 w 2685288"/>
              <a:gd name="connsiteY2" fmla="*/ 129543 h 777240"/>
              <a:gd name="connsiteX3" fmla="*/ 2525268 w 2685288"/>
              <a:gd name="connsiteY3" fmla="*/ 228600 h 777240"/>
              <a:gd name="connsiteX4" fmla="*/ 2631947 w 2685288"/>
              <a:gd name="connsiteY4" fmla="*/ 228600 h 777240"/>
              <a:gd name="connsiteX5" fmla="*/ 2685288 w 2685288"/>
              <a:gd name="connsiteY5" fmla="*/ 281941 h 777240"/>
              <a:gd name="connsiteX6" fmla="*/ 2685288 w 2685288"/>
              <a:gd name="connsiteY6" fmla="*/ 723899 h 777240"/>
              <a:gd name="connsiteX7" fmla="*/ 2631947 w 2685288"/>
              <a:gd name="connsiteY7" fmla="*/ 777240 h 777240"/>
              <a:gd name="connsiteX8" fmla="*/ 2418589 w 2685288"/>
              <a:gd name="connsiteY8" fmla="*/ 777240 h 777240"/>
              <a:gd name="connsiteX9" fmla="*/ 2407157 w 2685288"/>
              <a:gd name="connsiteY9" fmla="*/ 774932 h 777240"/>
              <a:gd name="connsiteX10" fmla="*/ 2395725 w 2685288"/>
              <a:gd name="connsiteY10" fmla="*/ 777240 h 777240"/>
              <a:gd name="connsiteX11" fmla="*/ 129543 w 2685288"/>
              <a:gd name="connsiteY11" fmla="*/ 777240 h 777240"/>
              <a:gd name="connsiteX12" fmla="*/ 0 w 2685288"/>
              <a:gd name="connsiteY12" fmla="*/ 647697 h 777240"/>
              <a:gd name="connsiteX13" fmla="*/ 0 w 2685288"/>
              <a:gd name="connsiteY13" fmla="*/ 129543 h 777240"/>
              <a:gd name="connsiteX14" fmla="*/ 129543 w 2685288"/>
              <a:gd name="connsiteY1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5288" h="777240">
                <a:moveTo>
                  <a:pt x="129543" y="0"/>
                </a:moveTo>
                <a:lnTo>
                  <a:pt x="2395725" y="0"/>
                </a:lnTo>
                <a:cubicBezTo>
                  <a:pt x="2467270" y="0"/>
                  <a:pt x="2525268" y="57998"/>
                  <a:pt x="2525268" y="129543"/>
                </a:cubicBezTo>
                <a:lnTo>
                  <a:pt x="2525268" y="228600"/>
                </a:lnTo>
                <a:lnTo>
                  <a:pt x="2631947" y="228600"/>
                </a:lnTo>
                <a:cubicBezTo>
                  <a:pt x="2661406" y="228600"/>
                  <a:pt x="2685288" y="252482"/>
                  <a:pt x="2685288" y="281941"/>
                </a:cubicBezTo>
                <a:lnTo>
                  <a:pt x="2685288" y="723899"/>
                </a:lnTo>
                <a:cubicBezTo>
                  <a:pt x="2685288" y="753358"/>
                  <a:pt x="2661406" y="777240"/>
                  <a:pt x="2631947" y="777240"/>
                </a:cubicBezTo>
                <a:lnTo>
                  <a:pt x="2418589" y="777240"/>
                </a:lnTo>
                <a:lnTo>
                  <a:pt x="2407157" y="774932"/>
                </a:lnTo>
                <a:lnTo>
                  <a:pt x="2395725" y="777240"/>
                </a:lnTo>
                <a:lnTo>
                  <a:pt x="129543" y="777240"/>
                </a:lnTo>
                <a:cubicBezTo>
                  <a:pt x="57998" y="777240"/>
                  <a:pt x="0" y="719242"/>
                  <a:pt x="0" y="647697"/>
                </a:cubicBezTo>
                <a:lnTo>
                  <a:pt x="0" y="129543"/>
                </a:lnTo>
                <a:cubicBezTo>
                  <a:pt x="0" y="57998"/>
                  <a:pt x="57998" y="0"/>
                  <a:pt x="129543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6437376" y="4087368"/>
            <a:ext cx="969264" cy="9692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4989576" y="3346704"/>
            <a:ext cx="807720" cy="807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6629400" y="2859024"/>
            <a:ext cx="696468" cy="696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 rot="20011536">
            <a:off x="6081051" y="2043148"/>
            <a:ext cx="416159" cy="2362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à coins arrondis 45"/>
          <p:cNvSpPr/>
          <p:nvPr/>
        </p:nvSpPr>
        <p:spPr>
          <a:xfrm rot="3290027">
            <a:off x="6004791" y="1662851"/>
            <a:ext cx="192565" cy="38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3" name="Connecteur droit avec flèche 62"/>
          <p:cNvCxnSpPr>
            <a:stCxn id="26" idx="11"/>
          </p:cNvCxnSpPr>
          <p:nvPr/>
        </p:nvCxnSpPr>
        <p:spPr>
          <a:xfrm flipH="1">
            <a:off x="2688336" y="5833872"/>
            <a:ext cx="28346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 flipH="1" flipV="1">
            <a:off x="6706478" y="1094175"/>
            <a:ext cx="0" cy="4724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c 66"/>
          <p:cNvSpPr/>
          <p:nvPr/>
        </p:nvSpPr>
        <p:spPr>
          <a:xfrm>
            <a:off x="6714437" y="2736891"/>
            <a:ext cx="726246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Arc 67"/>
          <p:cNvSpPr/>
          <p:nvPr/>
        </p:nvSpPr>
        <p:spPr>
          <a:xfrm>
            <a:off x="6678211" y="3945121"/>
            <a:ext cx="757160" cy="757160"/>
          </a:xfrm>
          <a:prstGeom prst="arc">
            <a:avLst/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Arc 68"/>
          <p:cNvSpPr/>
          <p:nvPr/>
        </p:nvSpPr>
        <p:spPr>
          <a:xfrm>
            <a:off x="4891292" y="3253627"/>
            <a:ext cx="75716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7377200" y="2630308"/>
                <a:ext cx="461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00" y="2630308"/>
                <a:ext cx="46121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7270687" y="3740057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687" y="3740057"/>
                <a:ext cx="4666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4510781" y="310999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81" y="3109990"/>
                <a:ext cx="4666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2504343" y="5346438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343" y="5346438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6632127" y="767459"/>
                <a:ext cx="353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127" y="767459"/>
                <a:ext cx="35375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ZoneTexte 2"/>
          <p:cNvSpPr txBox="1"/>
          <p:nvPr/>
        </p:nvSpPr>
        <p:spPr>
          <a:xfrm>
            <a:off x="955746" y="398127"/>
            <a:ext cx="7043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Robot configuration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starting</a:t>
            </a:r>
            <a:r>
              <a:rPr lang="fr-FR" dirty="0" smtClean="0"/>
              <a:t>,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motor</a:t>
            </a:r>
            <a:r>
              <a:rPr lang="fr-FR" dirty="0" smtClean="0"/>
              <a:t> rotation positive direction</a:t>
            </a:r>
            <a:endParaRPr lang="fr-FR" dirty="0"/>
          </a:p>
        </p:txBody>
      </p:sp>
      <p:sp>
        <p:nvSpPr>
          <p:cNvPr id="8" name="Flèche droite 7"/>
          <p:cNvSpPr/>
          <p:nvPr/>
        </p:nvSpPr>
        <p:spPr>
          <a:xfrm flipH="1">
            <a:off x="8333232" y="5486400"/>
            <a:ext cx="381000" cy="16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14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5"/>
          <p:cNvSpPr/>
          <p:nvPr/>
        </p:nvSpPr>
        <p:spPr>
          <a:xfrm>
            <a:off x="6567023" y="4252073"/>
            <a:ext cx="1232916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55"/>
          <p:cNvSpPr/>
          <p:nvPr/>
        </p:nvSpPr>
        <p:spPr>
          <a:xfrm>
            <a:off x="5916930" y="1747592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5"/>
          <p:cNvSpPr/>
          <p:nvPr/>
        </p:nvSpPr>
        <p:spPr>
          <a:xfrm>
            <a:off x="6107430" y="2058924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55"/>
          <p:cNvSpPr/>
          <p:nvPr/>
        </p:nvSpPr>
        <p:spPr>
          <a:xfrm>
            <a:off x="5104745" y="3340721"/>
            <a:ext cx="2068068" cy="169926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55"/>
          <p:cNvSpPr/>
          <p:nvPr/>
        </p:nvSpPr>
        <p:spPr>
          <a:xfrm>
            <a:off x="5356860" y="2862072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orme libre 8"/>
          <p:cNvSpPr/>
          <p:nvPr/>
        </p:nvSpPr>
        <p:spPr>
          <a:xfrm>
            <a:off x="5393436" y="5056632"/>
            <a:ext cx="2685288" cy="777240"/>
          </a:xfrm>
          <a:custGeom>
            <a:avLst/>
            <a:gdLst>
              <a:gd name="connsiteX0" fmla="*/ 129543 w 2685288"/>
              <a:gd name="connsiteY0" fmla="*/ 0 h 777240"/>
              <a:gd name="connsiteX1" fmla="*/ 2395725 w 2685288"/>
              <a:gd name="connsiteY1" fmla="*/ 0 h 777240"/>
              <a:gd name="connsiteX2" fmla="*/ 2525268 w 2685288"/>
              <a:gd name="connsiteY2" fmla="*/ 129543 h 777240"/>
              <a:gd name="connsiteX3" fmla="*/ 2525268 w 2685288"/>
              <a:gd name="connsiteY3" fmla="*/ 228600 h 777240"/>
              <a:gd name="connsiteX4" fmla="*/ 2631947 w 2685288"/>
              <a:gd name="connsiteY4" fmla="*/ 228600 h 777240"/>
              <a:gd name="connsiteX5" fmla="*/ 2685288 w 2685288"/>
              <a:gd name="connsiteY5" fmla="*/ 281941 h 777240"/>
              <a:gd name="connsiteX6" fmla="*/ 2685288 w 2685288"/>
              <a:gd name="connsiteY6" fmla="*/ 723899 h 777240"/>
              <a:gd name="connsiteX7" fmla="*/ 2631947 w 2685288"/>
              <a:gd name="connsiteY7" fmla="*/ 777240 h 777240"/>
              <a:gd name="connsiteX8" fmla="*/ 2418589 w 2685288"/>
              <a:gd name="connsiteY8" fmla="*/ 777240 h 777240"/>
              <a:gd name="connsiteX9" fmla="*/ 2407157 w 2685288"/>
              <a:gd name="connsiteY9" fmla="*/ 774932 h 777240"/>
              <a:gd name="connsiteX10" fmla="*/ 2395725 w 2685288"/>
              <a:gd name="connsiteY10" fmla="*/ 777240 h 777240"/>
              <a:gd name="connsiteX11" fmla="*/ 129543 w 2685288"/>
              <a:gd name="connsiteY11" fmla="*/ 777240 h 777240"/>
              <a:gd name="connsiteX12" fmla="*/ 0 w 2685288"/>
              <a:gd name="connsiteY12" fmla="*/ 647697 h 777240"/>
              <a:gd name="connsiteX13" fmla="*/ 0 w 2685288"/>
              <a:gd name="connsiteY13" fmla="*/ 129543 h 777240"/>
              <a:gd name="connsiteX14" fmla="*/ 129543 w 2685288"/>
              <a:gd name="connsiteY1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5288" h="777240">
                <a:moveTo>
                  <a:pt x="129543" y="0"/>
                </a:moveTo>
                <a:lnTo>
                  <a:pt x="2395725" y="0"/>
                </a:lnTo>
                <a:cubicBezTo>
                  <a:pt x="2467270" y="0"/>
                  <a:pt x="2525268" y="57998"/>
                  <a:pt x="2525268" y="129543"/>
                </a:cubicBezTo>
                <a:lnTo>
                  <a:pt x="2525268" y="228600"/>
                </a:lnTo>
                <a:lnTo>
                  <a:pt x="2631947" y="228600"/>
                </a:lnTo>
                <a:cubicBezTo>
                  <a:pt x="2661406" y="228600"/>
                  <a:pt x="2685288" y="252482"/>
                  <a:pt x="2685288" y="281941"/>
                </a:cubicBezTo>
                <a:lnTo>
                  <a:pt x="2685288" y="723899"/>
                </a:lnTo>
                <a:cubicBezTo>
                  <a:pt x="2685288" y="753358"/>
                  <a:pt x="2661406" y="777240"/>
                  <a:pt x="2631947" y="777240"/>
                </a:cubicBezTo>
                <a:lnTo>
                  <a:pt x="2418589" y="777240"/>
                </a:lnTo>
                <a:lnTo>
                  <a:pt x="2407157" y="774932"/>
                </a:lnTo>
                <a:lnTo>
                  <a:pt x="2395725" y="777240"/>
                </a:lnTo>
                <a:lnTo>
                  <a:pt x="129543" y="777240"/>
                </a:lnTo>
                <a:cubicBezTo>
                  <a:pt x="57998" y="777240"/>
                  <a:pt x="0" y="719242"/>
                  <a:pt x="0" y="647697"/>
                </a:cubicBezTo>
                <a:lnTo>
                  <a:pt x="0" y="129543"/>
                </a:lnTo>
                <a:cubicBezTo>
                  <a:pt x="0" y="57998"/>
                  <a:pt x="57998" y="0"/>
                  <a:pt x="12954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/>
          <p:cNvSpPr/>
          <p:nvPr/>
        </p:nvSpPr>
        <p:spPr>
          <a:xfrm>
            <a:off x="6437376" y="4087368"/>
            <a:ext cx="969264" cy="9692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/>
          <p:cNvSpPr/>
          <p:nvPr/>
        </p:nvSpPr>
        <p:spPr>
          <a:xfrm>
            <a:off x="4989576" y="3346704"/>
            <a:ext cx="807720" cy="8077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6629400" y="2859024"/>
            <a:ext cx="696468" cy="6964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/>
          <p:cNvSpPr/>
          <p:nvPr/>
        </p:nvSpPr>
        <p:spPr>
          <a:xfrm rot="20068295">
            <a:off x="6060642" y="2010798"/>
            <a:ext cx="435864" cy="28150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c 14"/>
          <p:cNvSpPr/>
          <p:nvPr/>
        </p:nvSpPr>
        <p:spPr>
          <a:xfrm>
            <a:off x="6714437" y="2736891"/>
            <a:ext cx="726246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c 15"/>
          <p:cNvSpPr/>
          <p:nvPr/>
        </p:nvSpPr>
        <p:spPr>
          <a:xfrm>
            <a:off x="6678211" y="3945121"/>
            <a:ext cx="757160" cy="757160"/>
          </a:xfrm>
          <a:prstGeom prst="arc">
            <a:avLst/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c 16"/>
          <p:cNvSpPr/>
          <p:nvPr/>
        </p:nvSpPr>
        <p:spPr>
          <a:xfrm>
            <a:off x="4891292" y="3253627"/>
            <a:ext cx="75716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7377200" y="2630308"/>
                <a:ext cx="461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200" y="2630308"/>
                <a:ext cx="46121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7270687" y="3740057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0687" y="3740057"/>
                <a:ext cx="46660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4510781" y="310999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81" y="3109990"/>
                <a:ext cx="46660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à coins arrondis 22"/>
          <p:cNvSpPr/>
          <p:nvPr/>
        </p:nvSpPr>
        <p:spPr>
          <a:xfrm rot="3290027">
            <a:off x="6004791" y="1662851"/>
            <a:ext cx="192565" cy="3816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0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55"/>
          <p:cNvSpPr/>
          <p:nvPr/>
        </p:nvSpPr>
        <p:spPr>
          <a:xfrm>
            <a:off x="8980250" y="5243369"/>
            <a:ext cx="1232916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55"/>
          <p:cNvSpPr/>
          <p:nvPr/>
        </p:nvSpPr>
        <p:spPr>
          <a:xfrm>
            <a:off x="8330157" y="2738888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55"/>
          <p:cNvSpPr/>
          <p:nvPr/>
        </p:nvSpPr>
        <p:spPr>
          <a:xfrm>
            <a:off x="8520657" y="3050220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5"/>
          <p:cNvSpPr/>
          <p:nvPr/>
        </p:nvSpPr>
        <p:spPr>
          <a:xfrm>
            <a:off x="7517972" y="4332017"/>
            <a:ext cx="2068068" cy="169926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5"/>
          <p:cNvSpPr/>
          <p:nvPr/>
        </p:nvSpPr>
        <p:spPr>
          <a:xfrm>
            <a:off x="7770087" y="3853368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orme libre 52"/>
          <p:cNvSpPr/>
          <p:nvPr/>
        </p:nvSpPr>
        <p:spPr>
          <a:xfrm>
            <a:off x="7806663" y="6038403"/>
            <a:ext cx="2685288" cy="777240"/>
          </a:xfrm>
          <a:custGeom>
            <a:avLst/>
            <a:gdLst>
              <a:gd name="connsiteX0" fmla="*/ 129543 w 2685288"/>
              <a:gd name="connsiteY0" fmla="*/ 0 h 777240"/>
              <a:gd name="connsiteX1" fmla="*/ 2395725 w 2685288"/>
              <a:gd name="connsiteY1" fmla="*/ 0 h 777240"/>
              <a:gd name="connsiteX2" fmla="*/ 2525268 w 2685288"/>
              <a:gd name="connsiteY2" fmla="*/ 129543 h 777240"/>
              <a:gd name="connsiteX3" fmla="*/ 2525268 w 2685288"/>
              <a:gd name="connsiteY3" fmla="*/ 228600 h 777240"/>
              <a:gd name="connsiteX4" fmla="*/ 2631947 w 2685288"/>
              <a:gd name="connsiteY4" fmla="*/ 228600 h 777240"/>
              <a:gd name="connsiteX5" fmla="*/ 2685288 w 2685288"/>
              <a:gd name="connsiteY5" fmla="*/ 281941 h 777240"/>
              <a:gd name="connsiteX6" fmla="*/ 2685288 w 2685288"/>
              <a:gd name="connsiteY6" fmla="*/ 723899 h 777240"/>
              <a:gd name="connsiteX7" fmla="*/ 2631947 w 2685288"/>
              <a:gd name="connsiteY7" fmla="*/ 777240 h 777240"/>
              <a:gd name="connsiteX8" fmla="*/ 2418589 w 2685288"/>
              <a:gd name="connsiteY8" fmla="*/ 777240 h 777240"/>
              <a:gd name="connsiteX9" fmla="*/ 2407157 w 2685288"/>
              <a:gd name="connsiteY9" fmla="*/ 774932 h 777240"/>
              <a:gd name="connsiteX10" fmla="*/ 2395725 w 2685288"/>
              <a:gd name="connsiteY10" fmla="*/ 777240 h 777240"/>
              <a:gd name="connsiteX11" fmla="*/ 129543 w 2685288"/>
              <a:gd name="connsiteY11" fmla="*/ 777240 h 777240"/>
              <a:gd name="connsiteX12" fmla="*/ 0 w 2685288"/>
              <a:gd name="connsiteY12" fmla="*/ 647697 h 777240"/>
              <a:gd name="connsiteX13" fmla="*/ 0 w 2685288"/>
              <a:gd name="connsiteY13" fmla="*/ 129543 h 777240"/>
              <a:gd name="connsiteX14" fmla="*/ 129543 w 2685288"/>
              <a:gd name="connsiteY1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5288" h="777240">
                <a:moveTo>
                  <a:pt x="129543" y="0"/>
                </a:moveTo>
                <a:lnTo>
                  <a:pt x="2395725" y="0"/>
                </a:lnTo>
                <a:cubicBezTo>
                  <a:pt x="2467270" y="0"/>
                  <a:pt x="2525268" y="57998"/>
                  <a:pt x="2525268" y="129543"/>
                </a:cubicBezTo>
                <a:lnTo>
                  <a:pt x="2525268" y="228600"/>
                </a:lnTo>
                <a:lnTo>
                  <a:pt x="2631947" y="228600"/>
                </a:lnTo>
                <a:cubicBezTo>
                  <a:pt x="2661406" y="228600"/>
                  <a:pt x="2685288" y="252482"/>
                  <a:pt x="2685288" y="281941"/>
                </a:cubicBezTo>
                <a:lnTo>
                  <a:pt x="2685288" y="723899"/>
                </a:lnTo>
                <a:cubicBezTo>
                  <a:pt x="2685288" y="753358"/>
                  <a:pt x="2661406" y="777240"/>
                  <a:pt x="2631947" y="777240"/>
                </a:cubicBezTo>
                <a:lnTo>
                  <a:pt x="2418589" y="777240"/>
                </a:lnTo>
                <a:lnTo>
                  <a:pt x="2407157" y="774932"/>
                </a:lnTo>
                <a:lnTo>
                  <a:pt x="2395725" y="777240"/>
                </a:lnTo>
                <a:lnTo>
                  <a:pt x="129543" y="777240"/>
                </a:lnTo>
                <a:cubicBezTo>
                  <a:pt x="57998" y="777240"/>
                  <a:pt x="0" y="719242"/>
                  <a:pt x="0" y="647697"/>
                </a:cubicBezTo>
                <a:lnTo>
                  <a:pt x="0" y="129543"/>
                </a:lnTo>
                <a:cubicBezTo>
                  <a:pt x="0" y="57998"/>
                  <a:pt x="57998" y="0"/>
                  <a:pt x="12954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/>
          <p:cNvSpPr/>
          <p:nvPr/>
        </p:nvSpPr>
        <p:spPr>
          <a:xfrm>
            <a:off x="8850603" y="5078664"/>
            <a:ext cx="969264" cy="9692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/>
          <p:cNvSpPr/>
          <p:nvPr/>
        </p:nvSpPr>
        <p:spPr>
          <a:xfrm>
            <a:off x="7402803" y="4338000"/>
            <a:ext cx="807720" cy="8077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Ellipse 60"/>
          <p:cNvSpPr/>
          <p:nvPr/>
        </p:nvSpPr>
        <p:spPr>
          <a:xfrm>
            <a:off x="9042627" y="3850320"/>
            <a:ext cx="696468" cy="6964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/>
          <p:cNvSpPr/>
          <p:nvPr/>
        </p:nvSpPr>
        <p:spPr>
          <a:xfrm>
            <a:off x="8495511" y="2986212"/>
            <a:ext cx="435864" cy="4358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Arc 64"/>
          <p:cNvSpPr/>
          <p:nvPr/>
        </p:nvSpPr>
        <p:spPr>
          <a:xfrm rot="14343804">
            <a:off x="8748873" y="3847052"/>
            <a:ext cx="726246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Arc 65"/>
          <p:cNvSpPr/>
          <p:nvPr/>
        </p:nvSpPr>
        <p:spPr>
          <a:xfrm rot="15025673">
            <a:off x="8694949" y="5013519"/>
            <a:ext cx="757160" cy="757160"/>
          </a:xfrm>
          <a:prstGeom prst="arc">
            <a:avLst/>
          </a:prstGeom>
          <a:ln w="28575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Arc 74"/>
          <p:cNvSpPr/>
          <p:nvPr/>
        </p:nvSpPr>
        <p:spPr>
          <a:xfrm>
            <a:off x="7304519" y="4244923"/>
            <a:ext cx="75716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8305302" y="3668429"/>
                <a:ext cx="461215" cy="383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302" y="3668429"/>
                <a:ext cx="461215" cy="383182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8234718" y="5007763"/>
                <a:ext cx="466602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4718" y="5007763"/>
                <a:ext cx="466602" cy="384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/>
              <p:cNvSpPr txBox="1"/>
              <p:nvPr/>
            </p:nvSpPr>
            <p:spPr>
              <a:xfrm>
                <a:off x="6924008" y="4101286"/>
                <a:ext cx="466602" cy="385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008" y="4101286"/>
                <a:ext cx="466602" cy="385747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à coins arrondis 78"/>
          <p:cNvSpPr/>
          <p:nvPr/>
        </p:nvSpPr>
        <p:spPr>
          <a:xfrm rot="3290027">
            <a:off x="8418018" y="2654147"/>
            <a:ext cx="192565" cy="3816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5"/>
          <p:cNvSpPr/>
          <p:nvPr/>
        </p:nvSpPr>
        <p:spPr>
          <a:xfrm flipH="1">
            <a:off x="8947736" y="5212599"/>
            <a:ext cx="1260461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5"/>
          <p:cNvSpPr/>
          <p:nvPr/>
        </p:nvSpPr>
        <p:spPr>
          <a:xfrm rot="1880518">
            <a:off x="9497526" y="92470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5"/>
          <p:cNvSpPr/>
          <p:nvPr/>
        </p:nvSpPr>
        <p:spPr>
          <a:xfrm rot="1898888">
            <a:off x="9231936" y="459349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5"/>
          <p:cNvSpPr/>
          <p:nvPr/>
        </p:nvSpPr>
        <p:spPr>
          <a:xfrm rot="3895540">
            <a:off x="8658651" y="3774343"/>
            <a:ext cx="2262077" cy="160844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 rot="17322608">
            <a:off x="8974567" y="1883907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810742" y="6028878"/>
            <a:ext cx="2685288" cy="777240"/>
          </a:xfrm>
          <a:custGeom>
            <a:avLst/>
            <a:gdLst>
              <a:gd name="connsiteX0" fmla="*/ 129543 w 2685288"/>
              <a:gd name="connsiteY0" fmla="*/ 0 h 777240"/>
              <a:gd name="connsiteX1" fmla="*/ 2395725 w 2685288"/>
              <a:gd name="connsiteY1" fmla="*/ 0 h 777240"/>
              <a:gd name="connsiteX2" fmla="*/ 2525268 w 2685288"/>
              <a:gd name="connsiteY2" fmla="*/ 129543 h 777240"/>
              <a:gd name="connsiteX3" fmla="*/ 2525268 w 2685288"/>
              <a:gd name="connsiteY3" fmla="*/ 228600 h 777240"/>
              <a:gd name="connsiteX4" fmla="*/ 2631947 w 2685288"/>
              <a:gd name="connsiteY4" fmla="*/ 228600 h 777240"/>
              <a:gd name="connsiteX5" fmla="*/ 2685288 w 2685288"/>
              <a:gd name="connsiteY5" fmla="*/ 281941 h 777240"/>
              <a:gd name="connsiteX6" fmla="*/ 2685288 w 2685288"/>
              <a:gd name="connsiteY6" fmla="*/ 723899 h 777240"/>
              <a:gd name="connsiteX7" fmla="*/ 2631947 w 2685288"/>
              <a:gd name="connsiteY7" fmla="*/ 777240 h 777240"/>
              <a:gd name="connsiteX8" fmla="*/ 2418589 w 2685288"/>
              <a:gd name="connsiteY8" fmla="*/ 777240 h 777240"/>
              <a:gd name="connsiteX9" fmla="*/ 2407157 w 2685288"/>
              <a:gd name="connsiteY9" fmla="*/ 774932 h 777240"/>
              <a:gd name="connsiteX10" fmla="*/ 2395725 w 2685288"/>
              <a:gd name="connsiteY10" fmla="*/ 777240 h 777240"/>
              <a:gd name="connsiteX11" fmla="*/ 129543 w 2685288"/>
              <a:gd name="connsiteY11" fmla="*/ 777240 h 777240"/>
              <a:gd name="connsiteX12" fmla="*/ 0 w 2685288"/>
              <a:gd name="connsiteY12" fmla="*/ 647697 h 777240"/>
              <a:gd name="connsiteX13" fmla="*/ 0 w 2685288"/>
              <a:gd name="connsiteY13" fmla="*/ 129543 h 777240"/>
              <a:gd name="connsiteX14" fmla="*/ 129543 w 2685288"/>
              <a:gd name="connsiteY1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5288" h="777240">
                <a:moveTo>
                  <a:pt x="129543" y="0"/>
                </a:moveTo>
                <a:lnTo>
                  <a:pt x="2395725" y="0"/>
                </a:lnTo>
                <a:cubicBezTo>
                  <a:pt x="2467270" y="0"/>
                  <a:pt x="2525268" y="57998"/>
                  <a:pt x="2525268" y="129543"/>
                </a:cubicBezTo>
                <a:lnTo>
                  <a:pt x="2525268" y="228600"/>
                </a:lnTo>
                <a:lnTo>
                  <a:pt x="2631947" y="228600"/>
                </a:lnTo>
                <a:cubicBezTo>
                  <a:pt x="2661406" y="228600"/>
                  <a:pt x="2685288" y="252482"/>
                  <a:pt x="2685288" y="281941"/>
                </a:cubicBezTo>
                <a:lnTo>
                  <a:pt x="2685288" y="723899"/>
                </a:lnTo>
                <a:cubicBezTo>
                  <a:pt x="2685288" y="753358"/>
                  <a:pt x="2661406" y="777240"/>
                  <a:pt x="2631947" y="777240"/>
                </a:cubicBezTo>
                <a:lnTo>
                  <a:pt x="2418589" y="777240"/>
                </a:lnTo>
                <a:lnTo>
                  <a:pt x="2407157" y="774932"/>
                </a:lnTo>
                <a:lnTo>
                  <a:pt x="2395725" y="777240"/>
                </a:lnTo>
                <a:lnTo>
                  <a:pt x="129543" y="777240"/>
                </a:lnTo>
                <a:cubicBezTo>
                  <a:pt x="57998" y="777240"/>
                  <a:pt x="0" y="719242"/>
                  <a:pt x="0" y="647697"/>
                </a:cubicBezTo>
                <a:lnTo>
                  <a:pt x="0" y="129543"/>
                </a:lnTo>
                <a:cubicBezTo>
                  <a:pt x="0" y="57998"/>
                  <a:pt x="57998" y="0"/>
                  <a:pt x="129543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9329126" y="5078664"/>
            <a:ext cx="969264" cy="9692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9409898" y="3058769"/>
            <a:ext cx="807720" cy="807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9465524" y="1314662"/>
            <a:ext cx="696468" cy="696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9556828" y="388620"/>
            <a:ext cx="435864" cy="2813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à coins arrondis 45"/>
          <p:cNvSpPr/>
          <p:nvPr/>
        </p:nvSpPr>
        <p:spPr>
          <a:xfrm rot="5356018">
            <a:off x="9678477" y="-62253"/>
            <a:ext cx="192565" cy="38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3" name="Connecteur droit avec flèche 62"/>
          <p:cNvCxnSpPr/>
          <p:nvPr/>
        </p:nvCxnSpPr>
        <p:spPr>
          <a:xfrm flipH="1">
            <a:off x="6887028" y="6811555"/>
            <a:ext cx="2834643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 flipH="1" flipV="1">
            <a:off x="9603012" y="1355729"/>
            <a:ext cx="0" cy="545991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c 66"/>
          <p:cNvSpPr/>
          <p:nvPr/>
        </p:nvSpPr>
        <p:spPr>
          <a:xfrm rot="6169523" flipH="1">
            <a:off x="9596354" y="1138304"/>
            <a:ext cx="676348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Arc 67"/>
          <p:cNvSpPr/>
          <p:nvPr/>
        </p:nvSpPr>
        <p:spPr>
          <a:xfrm rot="5400000" flipH="1">
            <a:off x="9612019" y="4988017"/>
            <a:ext cx="916339" cy="819644"/>
          </a:xfrm>
          <a:prstGeom prst="arc">
            <a:avLst/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Arc 68"/>
          <p:cNvSpPr/>
          <p:nvPr/>
        </p:nvSpPr>
        <p:spPr>
          <a:xfrm flipH="1">
            <a:off x="9542107" y="2868495"/>
            <a:ext cx="83163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9949875" y="812038"/>
                <a:ext cx="461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9875" y="812038"/>
                <a:ext cx="4612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10307053" y="478650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7053" y="4786500"/>
                <a:ext cx="4666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10316610" y="2729379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6610" y="2729379"/>
                <a:ext cx="4666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6961657" y="646581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57" y="6465819"/>
                <a:ext cx="36798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9103879" y="1558346"/>
                <a:ext cx="383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879" y="1558346"/>
                <a:ext cx="3838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èche droite 7"/>
          <p:cNvSpPr/>
          <p:nvPr/>
        </p:nvSpPr>
        <p:spPr>
          <a:xfrm flipH="1">
            <a:off x="10750538" y="6477696"/>
            <a:ext cx="381000" cy="16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9574618" y="6264436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4618" y="6264436"/>
                <a:ext cx="46660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Arc 80"/>
          <p:cNvSpPr/>
          <p:nvPr/>
        </p:nvSpPr>
        <p:spPr>
          <a:xfrm rot="13008897" flipH="1">
            <a:off x="9077726" y="5404584"/>
            <a:ext cx="916339" cy="819644"/>
          </a:xfrm>
          <a:prstGeom prst="arc">
            <a:avLst/>
          </a:prstGeom>
          <a:ln w="28575">
            <a:solidFill>
              <a:schemeClr val="accent5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/>
              <p:cNvSpPr txBox="1"/>
              <p:nvPr/>
            </p:nvSpPr>
            <p:spPr>
              <a:xfrm>
                <a:off x="9576068" y="550433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2" name="ZoneTexte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6068" y="550433"/>
                <a:ext cx="4666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c 82"/>
          <p:cNvSpPr/>
          <p:nvPr/>
        </p:nvSpPr>
        <p:spPr>
          <a:xfrm rot="13008897" flipH="1">
            <a:off x="9267866" y="-251272"/>
            <a:ext cx="916339" cy="819644"/>
          </a:xfrm>
          <a:prstGeom prst="arc">
            <a:avLst/>
          </a:prstGeom>
          <a:ln w="28575">
            <a:solidFill>
              <a:schemeClr val="accent5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Tableau 8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4283992"/>
                  </p:ext>
                </p:extLst>
              </p:nvPr>
            </p:nvGraphicFramePr>
            <p:xfrm>
              <a:off x="1493246" y="842481"/>
              <a:ext cx="556148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14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27163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Config.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Straight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169°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65°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-146°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102,5°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167,5°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Exp.*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 smtClean="0"/>
                            <a:t>169°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96°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-250°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86°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57.5°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Tableau 8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4283992"/>
                  </p:ext>
                </p:extLst>
              </p:nvPr>
            </p:nvGraphicFramePr>
            <p:xfrm>
              <a:off x="1493246" y="842481"/>
              <a:ext cx="556148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14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27163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Config.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100000" t="-8197" r="-40065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201316" t="-8197" r="-30328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301316" t="-8197" r="-20328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398693" t="-8197" r="-10196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501974" t="-8197" r="-263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Straight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169°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65°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-146°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102,5°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167,5°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Exp.*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 smtClean="0"/>
                            <a:t>169°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96°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-250°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86°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57.5°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Flèche droite 8"/>
          <p:cNvSpPr/>
          <p:nvPr/>
        </p:nvSpPr>
        <p:spPr>
          <a:xfrm>
            <a:off x="10941038" y="2554467"/>
            <a:ext cx="746137" cy="62805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0750538" y="2185135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User </a:t>
            </a:r>
            <a:r>
              <a:rPr lang="fr-FR" dirty="0" err="1" smtClean="0"/>
              <a:t>side</a:t>
            </a:r>
            <a:endParaRPr lang="fr-FR" dirty="0"/>
          </a:p>
        </p:txBody>
      </p:sp>
      <p:cxnSp>
        <p:nvCxnSpPr>
          <p:cNvPr id="12" name="Connecteur en arc 11"/>
          <p:cNvCxnSpPr/>
          <p:nvPr/>
        </p:nvCxnSpPr>
        <p:spPr>
          <a:xfrm rot="10800000">
            <a:off x="514398" y="4890785"/>
            <a:ext cx="378305" cy="111298"/>
          </a:xfrm>
          <a:prstGeom prst="curved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7061207" y="475537"/>
            <a:ext cx="1766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Straight configuration</a:t>
            </a:r>
            <a:endParaRPr lang="fr-FR" sz="1400" dirty="0"/>
          </a:p>
        </p:txBody>
      </p:sp>
      <p:sp>
        <p:nvSpPr>
          <p:cNvPr id="14" name="ZoneTexte 13"/>
          <p:cNvSpPr txBox="1"/>
          <p:nvPr/>
        </p:nvSpPr>
        <p:spPr>
          <a:xfrm>
            <a:off x="1296395" y="2174327"/>
            <a:ext cx="3608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*</a:t>
            </a:r>
            <a:r>
              <a:rPr lang="fr-FR" sz="1400" dirty="0" err="1" smtClean="0"/>
              <a:t>Starting</a:t>
            </a:r>
            <a:r>
              <a:rPr lang="fr-FR" sz="1400" dirty="0" smtClean="0"/>
              <a:t> configuration </a:t>
            </a:r>
            <a:r>
              <a:rPr lang="fr-FR" sz="1400" dirty="0" err="1" smtClean="0"/>
              <a:t>during</a:t>
            </a:r>
            <a:r>
              <a:rPr lang="fr-FR" sz="1400" dirty="0" smtClean="0"/>
              <a:t> the </a:t>
            </a:r>
            <a:r>
              <a:rPr lang="fr-FR" sz="1400" dirty="0" err="1" smtClean="0"/>
              <a:t>experiments</a:t>
            </a:r>
            <a:endParaRPr lang="fr-FR" sz="1400" dirty="0"/>
          </a:p>
        </p:txBody>
      </p:sp>
      <p:grpSp>
        <p:nvGrpSpPr>
          <p:cNvPr id="165" name="Groupe 164"/>
          <p:cNvGrpSpPr/>
          <p:nvPr/>
        </p:nvGrpSpPr>
        <p:grpSpPr>
          <a:xfrm>
            <a:off x="1182107" y="2752239"/>
            <a:ext cx="652356" cy="3530297"/>
            <a:chOff x="2495018" y="2967495"/>
            <a:chExt cx="652356" cy="3530297"/>
          </a:xfrm>
        </p:grpSpPr>
        <p:cxnSp>
          <p:nvCxnSpPr>
            <p:cNvPr id="131" name="Connecteur droit 130"/>
            <p:cNvCxnSpPr/>
            <p:nvPr/>
          </p:nvCxnSpPr>
          <p:spPr>
            <a:xfrm flipH="1" flipV="1">
              <a:off x="2543710" y="4826633"/>
              <a:ext cx="3837" cy="25426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e 16"/>
            <p:cNvGrpSpPr/>
            <p:nvPr/>
          </p:nvGrpSpPr>
          <p:grpSpPr>
            <a:xfrm>
              <a:off x="2641368" y="5876777"/>
              <a:ext cx="313171" cy="621015"/>
              <a:chOff x="1803797" y="4451209"/>
              <a:chExt cx="606021" cy="1201740"/>
            </a:xfrm>
          </p:grpSpPr>
          <p:sp>
            <p:nvSpPr>
              <p:cNvPr id="86" name="Forme libre 85"/>
              <p:cNvSpPr/>
              <p:nvPr/>
            </p:nvSpPr>
            <p:spPr>
              <a:xfrm>
                <a:off x="1803797" y="4566353"/>
                <a:ext cx="606021" cy="1086596"/>
              </a:xfrm>
              <a:custGeom>
                <a:avLst/>
                <a:gdLst>
                  <a:gd name="connsiteX0" fmla="*/ 0 w 606022"/>
                  <a:gd name="connsiteY0" fmla="*/ 0 h 1086596"/>
                  <a:gd name="connsiteX1" fmla="*/ 606021 w 606022"/>
                  <a:gd name="connsiteY1" fmla="*/ 0 h 1086596"/>
                  <a:gd name="connsiteX2" fmla="*/ 606021 w 606022"/>
                  <a:gd name="connsiteY2" fmla="*/ 962220 h 1086596"/>
                  <a:gd name="connsiteX3" fmla="*/ 606022 w 606022"/>
                  <a:gd name="connsiteY3" fmla="*/ 962224 h 1086596"/>
                  <a:gd name="connsiteX4" fmla="*/ 303281 w 606022"/>
                  <a:gd name="connsiteY4" fmla="*/ 1086596 h 1086596"/>
                  <a:gd name="connsiteX5" fmla="*/ 540 w 606022"/>
                  <a:gd name="connsiteY5" fmla="*/ 962224 h 1086596"/>
                  <a:gd name="connsiteX6" fmla="*/ 0 w 606022"/>
                  <a:gd name="connsiteY6" fmla="*/ 962224 h 1086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022" h="1086596">
                    <a:moveTo>
                      <a:pt x="0" y="0"/>
                    </a:moveTo>
                    <a:lnTo>
                      <a:pt x="606021" y="0"/>
                    </a:lnTo>
                    <a:lnTo>
                      <a:pt x="606021" y="962220"/>
                    </a:lnTo>
                    <a:lnTo>
                      <a:pt x="606022" y="962224"/>
                    </a:lnTo>
                    <a:cubicBezTo>
                      <a:pt x="606022" y="1030913"/>
                      <a:pt x="470480" y="1086596"/>
                      <a:pt x="303281" y="1086596"/>
                    </a:cubicBezTo>
                    <a:cubicBezTo>
                      <a:pt x="136082" y="1086596"/>
                      <a:pt x="540" y="1030913"/>
                      <a:pt x="540" y="962224"/>
                    </a:cubicBezTo>
                    <a:lnTo>
                      <a:pt x="0" y="96222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1804337" y="4451209"/>
                <a:ext cx="605479" cy="2487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0" name="Groupe 89"/>
            <p:cNvGrpSpPr/>
            <p:nvPr/>
          </p:nvGrpSpPr>
          <p:grpSpPr>
            <a:xfrm>
              <a:off x="2609306" y="3288781"/>
              <a:ext cx="313170" cy="621016"/>
              <a:chOff x="1741762" y="4564994"/>
              <a:chExt cx="606022" cy="1201742"/>
            </a:xfrm>
          </p:grpSpPr>
          <p:sp>
            <p:nvSpPr>
              <p:cNvPr id="91" name="Forme libre 90"/>
              <p:cNvSpPr/>
              <p:nvPr/>
            </p:nvSpPr>
            <p:spPr>
              <a:xfrm>
                <a:off x="1741762" y="4680140"/>
                <a:ext cx="606022" cy="1086596"/>
              </a:xfrm>
              <a:custGeom>
                <a:avLst/>
                <a:gdLst>
                  <a:gd name="connsiteX0" fmla="*/ 0 w 606022"/>
                  <a:gd name="connsiteY0" fmla="*/ 0 h 1086596"/>
                  <a:gd name="connsiteX1" fmla="*/ 606021 w 606022"/>
                  <a:gd name="connsiteY1" fmla="*/ 0 h 1086596"/>
                  <a:gd name="connsiteX2" fmla="*/ 606021 w 606022"/>
                  <a:gd name="connsiteY2" fmla="*/ 962220 h 1086596"/>
                  <a:gd name="connsiteX3" fmla="*/ 606022 w 606022"/>
                  <a:gd name="connsiteY3" fmla="*/ 962224 h 1086596"/>
                  <a:gd name="connsiteX4" fmla="*/ 303281 w 606022"/>
                  <a:gd name="connsiteY4" fmla="*/ 1086596 h 1086596"/>
                  <a:gd name="connsiteX5" fmla="*/ 540 w 606022"/>
                  <a:gd name="connsiteY5" fmla="*/ 962224 h 1086596"/>
                  <a:gd name="connsiteX6" fmla="*/ 0 w 606022"/>
                  <a:gd name="connsiteY6" fmla="*/ 962224 h 1086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022" h="1086596">
                    <a:moveTo>
                      <a:pt x="0" y="0"/>
                    </a:moveTo>
                    <a:lnTo>
                      <a:pt x="606021" y="0"/>
                    </a:lnTo>
                    <a:lnTo>
                      <a:pt x="606021" y="962220"/>
                    </a:lnTo>
                    <a:lnTo>
                      <a:pt x="606022" y="962224"/>
                    </a:lnTo>
                    <a:cubicBezTo>
                      <a:pt x="606022" y="1030913"/>
                      <a:pt x="470480" y="1086596"/>
                      <a:pt x="303281" y="1086596"/>
                    </a:cubicBezTo>
                    <a:cubicBezTo>
                      <a:pt x="136082" y="1086596"/>
                      <a:pt x="540" y="1030913"/>
                      <a:pt x="540" y="962224"/>
                    </a:cubicBezTo>
                    <a:lnTo>
                      <a:pt x="0" y="96222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Ellipse 91"/>
              <p:cNvSpPr/>
              <p:nvPr/>
            </p:nvSpPr>
            <p:spPr>
              <a:xfrm>
                <a:off x="1742303" y="4564994"/>
                <a:ext cx="605481" cy="2487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1" name="Groupe 110"/>
            <p:cNvGrpSpPr/>
            <p:nvPr/>
          </p:nvGrpSpPr>
          <p:grpSpPr>
            <a:xfrm>
              <a:off x="2495018" y="5393154"/>
              <a:ext cx="586841" cy="443030"/>
              <a:chOff x="2495018" y="5393154"/>
              <a:chExt cx="586841" cy="443030"/>
            </a:xfrm>
          </p:grpSpPr>
          <p:sp>
            <p:nvSpPr>
              <p:cNvPr id="110" name="Forme libre 109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Ellipse 88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2" name="Groupe 111"/>
            <p:cNvGrpSpPr/>
            <p:nvPr/>
          </p:nvGrpSpPr>
          <p:grpSpPr>
            <a:xfrm>
              <a:off x="2495369" y="4779754"/>
              <a:ext cx="586841" cy="443030"/>
              <a:chOff x="2495018" y="5393154"/>
              <a:chExt cx="586841" cy="443030"/>
            </a:xfrm>
          </p:grpSpPr>
          <p:sp>
            <p:nvSpPr>
              <p:cNvPr id="113" name="Forme libre 112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4" name="Ellipse 113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19" name="Connecteur droit 118"/>
            <p:cNvCxnSpPr/>
            <p:nvPr/>
          </p:nvCxnSpPr>
          <p:spPr>
            <a:xfrm flipV="1">
              <a:off x="2798844" y="5768809"/>
              <a:ext cx="0" cy="189696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eur droit 121"/>
            <p:cNvCxnSpPr/>
            <p:nvPr/>
          </p:nvCxnSpPr>
          <p:spPr>
            <a:xfrm flipH="1" flipV="1">
              <a:off x="2936629" y="5693577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eur droit 125"/>
            <p:cNvCxnSpPr/>
            <p:nvPr/>
          </p:nvCxnSpPr>
          <p:spPr>
            <a:xfrm flipV="1">
              <a:off x="3136628" y="5438774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eur droit 127"/>
            <p:cNvCxnSpPr/>
            <p:nvPr/>
          </p:nvCxnSpPr>
          <p:spPr>
            <a:xfrm flipH="1" flipV="1">
              <a:off x="2543710" y="5081841"/>
              <a:ext cx="596589" cy="367811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137"/>
            <p:cNvCxnSpPr/>
            <p:nvPr/>
          </p:nvCxnSpPr>
          <p:spPr>
            <a:xfrm flipH="1" flipV="1">
              <a:off x="2550785" y="4214492"/>
              <a:ext cx="3837" cy="25426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eur droit 138"/>
            <p:cNvCxnSpPr/>
            <p:nvPr/>
          </p:nvCxnSpPr>
          <p:spPr>
            <a:xfrm flipH="1" flipV="1">
              <a:off x="2943704" y="5081436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eur droit 139"/>
            <p:cNvCxnSpPr/>
            <p:nvPr/>
          </p:nvCxnSpPr>
          <p:spPr>
            <a:xfrm flipV="1">
              <a:off x="3143703" y="4826633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eur droit 140"/>
            <p:cNvCxnSpPr/>
            <p:nvPr/>
          </p:nvCxnSpPr>
          <p:spPr>
            <a:xfrm flipH="1" flipV="1">
              <a:off x="2550785" y="4469700"/>
              <a:ext cx="596589" cy="367811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e 114"/>
            <p:cNvGrpSpPr/>
            <p:nvPr/>
          </p:nvGrpSpPr>
          <p:grpSpPr>
            <a:xfrm>
              <a:off x="2495960" y="4173462"/>
              <a:ext cx="586841" cy="443030"/>
              <a:chOff x="2495018" y="5393154"/>
              <a:chExt cx="586841" cy="443030"/>
            </a:xfrm>
          </p:grpSpPr>
          <p:sp>
            <p:nvSpPr>
              <p:cNvPr id="116" name="Forme libre 115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7" name="Ellipse 116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45" name="Connecteur droit 144"/>
            <p:cNvCxnSpPr>
              <a:endCxn id="91" idx="4"/>
            </p:cNvCxnSpPr>
            <p:nvPr/>
          </p:nvCxnSpPr>
          <p:spPr>
            <a:xfrm flipV="1">
              <a:off x="2765892" y="3909797"/>
              <a:ext cx="139" cy="92776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eur droit 145"/>
            <p:cNvCxnSpPr/>
            <p:nvPr/>
          </p:nvCxnSpPr>
          <p:spPr>
            <a:xfrm flipH="1" flipV="1">
              <a:off x="2942589" y="4476342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146"/>
            <p:cNvCxnSpPr/>
            <p:nvPr/>
          </p:nvCxnSpPr>
          <p:spPr>
            <a:xfrm flipV="1">
              <a:off x="3142588" y="4221539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/>
            <p:cNvCxnSpPr/>
            <p:nvPr/>
          </p:nvCxnSpPr>
          <p:spPr>
            <a:xfrm flipH="1" flipV="1">
              <a:off x="2762054" y="3995546"/>
              <a:ext cx="384206" cy="2368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eur droit 150"/>
            <p:cNvCxnSpPr/>
            <p:nvPr/>
          </p:nvCxnSpPr>
          <p:spPr>
            <a:xfrm flipV="1">
              <a:off x="2762054" y="2967495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e 165"/>
          <p:cNvGrpSpPr/>
          <p:nvPr/>
        </p:nvGrpSpPr>
        <p:grpSpPr>
          <a:xfrm>
            <a:off x="2141805" y="5790868"/>
            <a:ext cx="859188" cy="910433"/>
            <a:chOff x="1494846" y="5893745"/>
            <a:chExt cx="859188" cy="910433"/>
          </a:xfrm>
        </p:grpSpPr>
        <p:cxnSp>
          <p:nvCxnSpPr>
            <p:cNvPr id="153" name="Connecteur droit avec flèche 152"/>
            <p:cNvCxnSpPr/>
            <p:nvPr/>
          </p:nvCxnSpPr>
          <p:spPr>
            <a:xfrm>
              <a:off x="1854303" y="6420848"/>
              <a:ext cx="499731" cy="295393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eur droit avec flèche 154"/>
            <p:cNvCxnSpPr/>
            <p:nvPr/>
          </p:nvCxnSpPr>
          <p:spPr>
            <a:xfrm flipH="1" flipV="1">
              <a:off x="1854303" y="5893745"/>
              <a:ext cx="3888" cy="521878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 droit avec flèche 161"/>
            <p:cNvCxnSpPr/>
            <p:nvPr/>
          </p:nvCxnSpPr>
          <p:spPr>
            <a:xfrm flipH="1">
              <a:off x="1494846" y="6423065"/>
              <a:ext cx="361833" cy="381113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ZoneTexte 166"/>
          <p:cNvSpPr txBox="1"/>
          <p:nvPr/>
        </p:nvSpPr>
        <p:spPr>
          <a:xfrm>
            <a:off x="2468605" y="5495995"/>
            <a:ext cx="266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z</a:t>
            </a:r>
            <a:endParaRPr lang="fr-FR" dirty="0"/>
          </a:p>
        </p:txBody>
      </p:sp>
      <p:sp>
        <p:nvSpPr>
          <p:cNvPr id="168" name="ZoneTexte 167"/>
          <p:cNvSpPr txBox="1"/>
          <p:nvPr/>
        </p:nvSpPr>
        <p:spPr>
          <a:xfrm>
            <a:off x="1766879" y="6510744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x</a:t>
            </a:r>
            <a:endParaRPr lang="fr-FR" dirty="0"/>
          </a:p>
        </p:txBody>
      </p:sp>
      <p:sp>
        <p:nvSpPr>
          <p:cNvPr id="169" name="ZoneTexte 168"/>
          <p:cNvSpPr txBox="1"/>
          <p:nvPr/>
        </p:nvSpPr>
        <p:spPr>
          <a:xfrm>
            <a:off x="2935962" y="6532024"/>
            <a:ext cx="45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y</a:t>
            </a:r>
            <a:endParaRPr lang="fr-FR" dirty="0"/>
          </a:p>
        </p:txBody>
      </p:sp>
      <p:cxnSp>
        <p:nvCxnSpPr>
          <p:cNvPr id="171" name="Connecteur droit avec flèche 170"/>
          <p:cNvCxnSpPr/>
          <p:nvPr/>
        </p:nvCxnSpPr>
        <p:spPr>
          <a:xfrm>
            <a:off x="972772" y="5067481"/>
            <a:ext cx="0" cy="883198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avec flèche 171"/>
          <p:cNvCxnSpPr/>
          <p:nvPr/>
        </p:nvCxnSpPr>
        <p:spPr>
          <a:xfrm>
            <a:off x="971426" y="4438349"/>
            <a:ext cx="0" cy="47864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/>
          <p:cNvCxnSpPr/>
          <p:nvPr/>
        </p:nvCxnSpPr>
        <p:spPr>
          <a:xfrm>
            <a:off x="971426" y="2844961"/>
            <a:ext cx="0" cy="968234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avec flèche 174"/>
          <p:cNvCxnSpPr/>
          <p:nvPr/>
        </p:nvCxnSpPr>
        <p:spPr>
          <a:xfrm>
            <a:off x="971426" y="2414866"/>
            <a:ext cx="0" cy="430095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avec flèche 179"/>
          <p:cNvCxnSpPr/>
          <p:nvPr/>
        </p:nvCxnSpPr>
        <p:spPr>
          <a:xfrm flipV="1">
            <a:off x="1473346" y="4916995"/>
            <a:ext cx="0" cy="106425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81"/>
          <p:cNvCxnSpPr/>
          <p:nvPr/>
        </p:nvCxnSpPr>
        <p:spPr>
          <a:xfrm>
            <a:off x="1707843" y="5530700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avec flèche 183"/>
          <p:cNvCxnSpPr/>
          <p:nvPr/>
        </p:nvCxnSpPr>
        <p:spPr>
          <a:xfrm>
            <a:off x="1711026" y="4916995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84"/>
          <p:cNvCxnSpPr/>
          <p:nvPr/>
        </p:nvCxnSpPr>
        <p:spPr>
          <a:xfrm>
            <a:off x="1723081" y="4317347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eur droit avec flèche 185"/>
          <p:cNvCxnSpPr/>
          <p:nvPr/>
        </p:nvCxnSpPr>
        <p:spPr>
          <a:xfrm flipV="1">
            <a:off x="1449143" y="2865059"/>
            <a:ext cx="0" cy="2873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avec flèche 188"/>
          <p:cNvCxnSpPr/>
          <p:nvPr/>
        </p:nvCxnSpPr>
        <p:spPr>
          <a:xfrm flipV="1">
            <a:off x="1474775" y="5026480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4" name="Tableau 1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3044692"/>
                  </p:ext>
                </p:extLst>
              </p:nvPr>
            </p:nvGraphicFramePr>
            <p:xfrm>
              <a:off x="2863679" y="3269248"/>
              <a:ext cx="4164730" cy="2608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970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783426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495300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124673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</a:tblGrid>
                  <a:tr h="37261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Joint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oMath>
                            </m:oMathPara>
                          </a14:m>
                          <a:endParaRPr lang="fr-FR" b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3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0837448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4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36622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6605535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fr-F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fr-F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702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4" name="Tableau 1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3044692"/>
                  </p:ext>
                </p:extLst>
              </p:nvPr>
            </p:nvGraphicFramePr>
            <p:xfrm>
              <a:off x="2863679" y="3269248"/>
              <a:ext cx="4164730" cy="2608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970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783426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495300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124673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</a:tblGrid>
                  <a:tr h="37261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Joint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8197" r="-337209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8197" r="-437037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8197" r="-145833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8197" r="-2439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106452" r="-337209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106452" r="-437037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106452" r="-145833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106452" r="-2439" b="-516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209836" r="-33720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209836" r="-43703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209836" r="-14583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209836" r="-243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3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309836" r="-33720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309836" r="-43703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309836" r="-14583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309836" r="-243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0837448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4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409836" r="-33720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409836" r="-43703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409836" r="-14583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409836" r="-243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0436622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501613" r="-337209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501613" r="-437037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501613" r="-14583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501613" r="-2439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605535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611475" r="-33720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611475" r="-43703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611475" r="-14583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611475" r="-243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3702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5" name="Connecteur droit avec flèche 194"/>
          <p:cNvCxnSpPr/>
          <p:nvPr/>
        </p:nvCxnSpPr>
        <p:spPr>
          <a:xfrm>
            <a:off x="126629" y="6103381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>
            <a:off x="126628" y="6276435"/>
            <a:ext cx="236909" cy="14270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ZoneTexte 198"/>
              <p:cNvSpPr txBox="1"/>
              <p:nvPr/>
            </p:nvSpPr>
            <p:spPr>
              <a:xfrm>
                <a:off x="323697" y="6020844"/>
                <a:ext cx="3653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9" name="ZoneTexte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7" y="6020844"/>
                <a:ext cx="36535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ZoneTexte 200"/>
              <p:cNvSpPr txBox="1"/>
              <p:nvPr/>
            </p:nvSpPr>
            <p:spPr>
              <a:xfrm>
                <a:off x="323697" y="6193898"/>
                <a:ext cx="3776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1" name="ZoneTexte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7" y="6193898"/>
                <a:ext cx="377603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Connecteur droit avec flèche 201"/>
          <p:cNvCxnSpPr/>
          <p:nvPr/>
        </p:nvCxnSpPr>
        <p:spPr>
          <a:xfrm flipH="1">
            <a:off x="1806603" y="6140684"/>
            <a:ext cx="385900" cy="37827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avec flèche 205"/>
          <p:cNvCxnSpPr/>
          <p:nvPr/>
        </p:nvCxnSpPr>
        <p:spPr>
          <a:xfrm>
            <a:off x="972772" y="5967931"/>
            <a:ext cx="0" cy="32575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 flipH="1">
            <a:off x="972772" y="6310708"/>
            <a:ext cx="1616888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 flipH="1" flipV="1">
            <a:off x="1459319" y="630326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ZoneTexte 214"/>
              <p:cNvSpPr txBox="1"/>
              <p:nvPr/>
            </p:nvSpPr>
            <p:spPr>
              <a:xfrm>
                <a:off x="1709504" y="5910066"/>
                <a:ext cx="7432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14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15" name="ZoneTexte 2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04" y="5910066"/>
                <a:ext cx="743280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Connecteur droit avec flèche 215"/>
          <p:cNvCxnSpPr/>
          <p:nvPr/>
        </p:nvCxnSpPr>
        <p:spPr>
          <a:xfrm flipV="1">
            <a:off x="1445372" y="2920596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avec flèche 217"/>
          <p:cNvCxnSpPr/>
          <p:nvPr/>
        </p:nvCxnSpPr>
        <p:spPr>
          <a:xfrm flipV="1">
            <a:off x="1730868" y="4635722"/>
            <a:ext cx="0" cy="28730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avec flèche 218"/>
          <p:cNvCxnSpPr/>
          <p:nvPr/>
        </p:nvCxnSpPr>
        <p:spPr>
          <a:xfrm flipV="1">
            <a:off x="1726893" y="5236315"/>
            <a:ext cx="0" cy="304392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ZoneTexte 219"/>
              <p:cNvSpPr txBox="1"/>
              <p:nvPr/>
            </p:nvSpPr>
            <p:spPr>
              <a:xfrm>
                <a:off x="608265" y="5944815"/>
                <a:ext cx="4206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0" name="ZoneTexte 2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5" y="5944815"/>
                <a:ext cx="42062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1" name="Connecteur droit 220"/>
          <p:cNvCxnSpPr/>
          <p:nvPr/>
        </p:nvCxnSpPr>
        <p:spPr>
          <a:xfrm flipH="1" flipV="1">
            <a:off x="979772" y="4934922"/>
            <a:ext cx="950956" cy="609254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/>
          <p:cNvCxnSpPr/>
          <p:nvPr/>
        </p:nvCxnSpPr>
        <p:spPr>
          <a:xfrm flipH="1" flipV="1">
            <a:off x="991465" y="5068207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avec flèche 222"/>
          <p:cNvCxnSpPr/>
          <p:nvPr/>
        </p:nvCxnSpPr>
        <p:spPr>
          <a:xfrm flipH="1">
            <a:off x="902782" y="4936036"/>
            <a:ext cx="140519" cy="13774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ZoneTexte 225"/>
              <p:cNvSpPr txBox="1"/>
              <p:nvPr/>
            </p:nvSpPr>
            <p:spPr>
              <a:xfrm>
                <a:off x="158967" y="4656449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6" name="ZoneTexte 2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7" y="4656449"/>
                <a:ext cx="444865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ZoneTexte 226"/>
              <p:cNvSpPr txBox="1"/>
              <p:nvPr/>
            </p:nvSpPr>
            <p:spPr>
              <a:xfrm>
                <a:off x="627596" y="5290902"/>
                <a:ext cx="4014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7" name="ZoneTexte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96" y="5290902"/>
                <a:ext cx="40145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Connecteur droit avec flèche 228"/>
          <p:cNvCxnSpPr/>
          <p:nvPr/>
        </p:nvCxnSpPr>
        <p:spPr>
          <a:xfrm flipV="1">
            <a:off x="1469184" y="5764997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Rectangle 230"/>
              <p:cNvSpPr/>
              <p:nvPr/>
            </p:nvSpPr>
            <p:spPr>
              <a:xfrm>
                <a:off x="1157252" y="5128505"/>
                <a:ext cx="41569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1" name="Rectangle 2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252" y="5128505"/>
                <a:ext cx="41569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Rectangle 231"/>
              <p:cNvSpPr/>
              <p:nvPr/>
            </p:nvSpPr>
            <p:spPr>
              <a:xfrm>
                <a:off x="1723671" y="5332394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2" name="Rectangle 2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671" y="5332394"/>
                <a:ext cx="419859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Rectangle 232"/>
              <p:cNvSpPr/>
              <p:nvPr/>
            </p:nvSpPr>
            <p:spPr>
              <a:xfrm>
                <a:off x="1704389" y="4686735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3" name="Rectangle 2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4389" y="4686735"/>
                <a:ext cx="419859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Rectangle 233"/>
              <p:cNvSpPr/>
              <p:nvPr/>
            </p:nvSpPr>
            <p:spPr>
              <a:xfrm>
                <a:off x="1751918" y="4125978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4" name="Rectangle 2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918" y="4125978"/>
                <a:ext cx="41985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Rectangle 234"/>
              <p:cNvSpPr/>
              <p:nvPr/>
            </p:nvSpPr>
            <p:spPr>
              <a:xfrm>
                <a:off x="1494382" y="2963904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5" name="Rectangle 2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382" y="2963904"/>
                <a:ext cx="41985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7" name="Connecteur droit 236"/>
          <p:cNvCxnSpPr/>
          <p:nvPr/>
        </p:nvCxnSpPr>
        <p:spPr>
          <a:xfrm flipH="1" flipV="1">
            <a:off x="885411" y="439142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 flipH="1" flipV="1">
            <a:off x="886951" y="3773662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avec flèche 240"/>
          <p:cNvCxnSpPr/>
          <p:nvPr/>
        </p:nvCxnSpPr>
        <p:spPr>
          <a:xfrm>
            <a:off x="971426" y="3828739"/>
            <a:ext cx="0" cy="608224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ZoneTexte 241"/>
              <p:cNvSpPr txBox="1"/>
              <p:nvPr/>
            </p:nvSpPr>
            <p:spPr>
              <a:xfrm>
                <a:off x="576870" y="4454640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2" name="ZoneTexte 2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70" y="4454640"/>
                <a:ext cx="44486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ZoneTexte 242"/>
              <p:cNvSpPr txBox="1"/>
              <p:nvPr/>
            </p:nvSpPr>
            <p:spPr>
              <a:xfrm>
                <a:off x="608265" y="3947818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3" name="ZoneTexte 2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5" y="3947818"/>
                <a:ext cx="44486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Connecteur droit 243"/>
          <p:cNvCxnSpPr/>
          <p:nvPr/>
        </p:nvCxnSpPr>
        <p:spPr>
          <a:xfrm flipH="1" flipV="1">
            <a:off x="906187" y="2811280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/>
          <p:cNvCxnSpPr/>
          <p:nvPr/>
        </p:nvCxnSpPr>
        <p:spPr>
          <a:xfrm flipH="1" flipV="1">
            <a:off x="933485" y="241998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ZoneTexte 247"/>
              <p:cNvSpPr txBox="1"/>
              <p:nvPr/>
            </p:nvSpPr>
            <p:spPr>
              <a:xfrm>
                <a:off x="578789" y="3168041"/>
                <a:ext cx="4014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8" name="ZoneTexte 2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9" y="3168041"/>
                <a:ext cx="40145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ZoneTexte 248"/>
              <p:cNvSpPr txBox="1"/>
              <p:nvPr/>
            </p:nvSpPr>
            <p:spPr>
              <a:xfrm>
                <a:off x="558709" y="2463623"/>
                <a:ext cx="3897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9" name="ZoneTexte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09" y="2463623"/>
                <a:ext cx="389722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0" name="Ellipse 249"/>
          <p:cNvSpPr/>
          <p:nvPr/>
        </p:nvSpPr>
        <p:spPr>
          <a:xfrm>
            <a:off x="1399138" y="2681969"/>
            <a:ext cx="107944" cy="1079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1" name="ZoneTexte 250"/>
          <p:cNvSpPr txBox="1"/>
          <p:nvPr/>
        </p:nvSpPr>
        <p:spPr>
          <a:xfrm>
            <a:off x="2927451" y="2957384"/>
            <a:ext cx="3885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/>
              <a:t>Denavit</a:t>
            </a:r>
            <a:r>
              <a:rPr lang="fr-FR" sz="1400" dirty="0" smtClean="0"/>
              <a:t> </a:t>
            </a:r>
            <a:r>
              <a:rPr lang="fr-FR" sz="1400" dirty="0" err="1" smtClean="0"/>
              <a:t>Hartenberg</a:t>
            </a:r>
            <a:r>
              <a:rPr lang="fr-FR" sz="1400" dirty="0" smtClean="0"/>
              <a:t> </a:t>
            </a:r>
            <a:r>
              <a:rPr lang="fr-FR" sz="1400" dirty="0" err="1" smtClean="0"/>
              <a:t>parameters</a:t>
            </a:r>
            <a:r>
              <a:rPr lang="fr-FR" sz="1400" dirty="0" smtClean="0"/>
              <a:t>, in Khalil - Kl. </a:t>
            </a:r>
            <a:r>
              <a:rPr lang="fr-FR" sz="1400" dirty="0" err="1" smtClean="0"/>
              <a:t>conv</a:t>
            </a:r>
            <a:r>
              <a:rPr lang="fr-FR" sz="1400" dirty="0" smtClean="0"/>
              <a:t>.</a:t>
            </a:r>
            <a:endParaRPr lang="fr-FR" sz="1400" dirty="0"/>
          </a:p>
        </p:txBody>
      </p:sp>
      <p:cxnSp>
        <p:nvCxnSpPr>
          <p:cNvPr id="252" name="Connecteur droit avec flèche 251"/>
          <p:cNvCxnSpPr/>
          <p:nvPr/>
        </p:nvCxnSpPr>
        <p:spPr>
          <a:xfrm flipV="1">
            <a:off x="1735668" y="4091962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252"/>
          <p:cNvCxnSpPr/>
          <p:nvPr/>
        </p:nvCxnSpPr>
        <p:spPr>
          <a:xfrm flipH="1">
            <a:off x="933485" y="5976172"/>
            <a:ext cx="1559457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eur droit avec flèche 265"/>
          <p:cNvCxnSpPr/>
          <p:nvPr/>
        </p:nvCxnSpPr>
        <p:spPr>
          <a:xfrm flipH="1">
            <a:off x="9594147" y="5593272"/>
            <a:ext cx="224285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Rectangle 269"/>
              <p:cNvSpPr/>
              <p:nvPr/>
            </p:nvSpPr>
            <p:spPr>
              <a:xfrm>
                <a:off x="9309596" y="5282842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0" name="Rectangle 2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596" y="5282842"/>
                <a:ext cx="411716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Connecteur droit avec flèche 270"/>
          <p:cNvCxnSpPr/>
          <p:nvPr/>
        </p:nvCxnSpPr>
        <p:spPr>
          <a:xfrm>
            <a:off x="10420907" y="5590619"/>
            <a:ext cx="0" cy="1199315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Rectangle 273"/>
              <p:cNvSpPr/>
              <p:nvPr/>
            </p:nvSpPr>
            <p:spPr>
              <a:xfrm>
                <a:off x="10373957" y="5731135"/>
                <a:ext cx="7479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4" name="Rectangle 2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957" y="5731135"/>
                <a:ext cx="747961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5" name="Connecteur droit avec flèche 274"/>
          <p:cNvCxnSpPr/>
          <p:nvPr/>
        </p:nvCxnSpPr>
        <p:spPr>
          <a:xfrm>
            <a:off x="10423626" y="3506595"/>
            <a:ext cx="0" cy="2074457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eur droit 276"/>
          <p:cNvCxnSpPr/>
          <p:nvPr/>
        </p:nvCxnSpPr>
        <p:spPr>
          <a:xfrm flipH="1">
            <a:off x="9437286" y="5602052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eur droit 279"/>
          <p:cNvCxnSpPr/>
          <p:nvPr/>
        </p:nvCxnSpPr>
        <p:spPr>
          <a:xfrm flipH="1">
            <a:off x="9334925" y="3491874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droit 280"/>
          <p:cNvCxnSpPr/>
          <p:nvPr/>
        </p:nvCxnSpPr>
        <p:spPr>
          <a:xfrm flipH="1">
            <a:off x="9357363" y="1649570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eur droit 281"/>
          <p:cNvCxnSpPr/>
          <p:nvPr/>
        </p:nvCxnSpPr>
        <p:spPr>
          <a:xfrm flipH="1">
            <a:off x="9285437" y="491880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eur droit avec flèche 282"/>
          <p:cNvCxnSpPr/>
          <p:nvPr/>
        </p:nvCxnSpPr>
        <p:spPr>
          <a:xfrm>
            <a:off x="10430432" y="1662896"/>
            <a:ext cx="0" cy="182897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eur droit avec flèche 284"/>
          <p:cNvCxnSpPr/>
          <p:nvPr/>
        </p:nvCxnSpPr>
        <p:spPr>
          <a:xfrm>
            <a:off x="10430432" y="504025"/>
            <a:ext cx="0" cy="1145545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/>
              <p:cNvSpPr/>
              <p:nvPr/>
            </p:nvSpPr>
            <p:spPr>
              <a:xfrm>
                <a:off x="10438626" y="4460660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7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626" y="4460660"/>
                <a:ext cx="411716" cy="30777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Rectangle 287"/>
              <p:cNvSpPr/>
              <p:nvPr/>
            </p:nvSpPr>
            <p:spPr>
              <a:xfrm>
                <a:off x="10446085" y="2402898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8" name="Rectangle 2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085" y="2402898"/>
                <a:ext cx="411716" cy="3077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Rectangle 288"/>
              <p:cNvSpPr/>
              <p:nvPr/>
            </p:nvSpPr>
            <p:spPr>
              <a:xfrm>
                <a:off x="10443781" y="939009"/>
                <a:ext cx="372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9" name="Rectangle 2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781" y="939009"/>
                <a:ext cx="372731" cy="30777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Rectangle 289"/>
              <p:cNvSpPr/>
              <p:nvPr/>
            </p:nvSpPr>
            <p:spPr>
              <a:xfrm>
                <a:off x="10453930" y="81719"/>
                <a:ext cx="372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0" name="Rectangle 2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930" y="81719"/>
                <a:ext cx="372731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1" name="Connecteur droit avec flèche 290"/>
          <p:cNvCxnSpPr/>
          <p:nvPr/>
        </p:nvCxnSpPr>
        <p:spPr>
          <a:xfrm flipV="1">
            <a:off x="10430432" y="29845"/>
            <a:ext cx="0" cy="46213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9309596" y="24714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eur droit 294"/>
          <p:cNvCxnSpPr>
            <a:stCxn id="4" idx="4"/>
          </p:cNvCxnSpPr>
          <p:nvPr/>
        </p:nvCxnSpPr>
        <p:spPr>
          <a:xfrm flipV="1">
            <a:off x="9813758" y="5059178"/>
            <a:ext cx="0" cy="98875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ZoneTexte 299"/>
              <p:cNvSpPr txBox="1"/>
              <p:nvPr/>
            </p:nvSpPr>
            <p:spPr>
              <a:xfrm>
                <a:off x="4090029" y="6061053"/>
                <a:ext cx="15704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00" name="ZoneTexte 2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029" y="6061053"/>
                <a:ext cx="1570430" cy="307777"/>
              </a:xfrm>
              <a:prstGeom prst="rect">
                <a:avLst/>
              </a:prstGeom>
              <a:blipFill>
                <a:blip r:embed="rId3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Connecteur droit 309"/>
          <p:cNvCxnSpPr/>
          <p:nvPr/>
        </p:nvCxnSpPr>
        <p:spPr>
          <a:xfrm flipH="1" flipV="1">
            <a:off x="2103881" y="6058521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eur en arc 327"/>
          <p:cNvCxnSpPr>
            <a:stCxn id="13" idx="2"/>
          </p:cNvCxnSpPr>
          <p:nvPr/>
        </p:nvCxnSpPr>
        <p:spPr>
          <a:xfrm rot="16200000" flipH="1">
            <a:off x="8289848" y="437927"/>
            <a:ext cx="572415" cy="1263187"/>
          </a:xfrm>
          <a:prstGeom prst="curved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ZoneTexte 330"/>
          <p:cNvSpPr txBox="1"/>
          <p:nvPr/>
        </p:nvSpPr>
        <p:spPr>
          <a:xfrm>
            <a:off x="799302" y="284229"/>
            <a:ext cx="434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Denavit</a:t>
            </a:r>
            <a:r>
              <a:rPr lang="fr-FR" dirty="0" smtClean="0"/>
              <a:t> </a:t>
            </a:r>
            <a:r>
              <a:rPr lang="fr-FR" dirty="0" err="1" smtClean="0"/>
              <a:t>Hartenberg</a:t>
            </a:r>
            <a:r>
              <a:rPr lang="fr-FR" dirty="0" smtClean="0"/>
              <a:t> and </a:t>
            </a:r>
            <a:r>
              <a:rPr lang="fr-FR" dirty="0" err="1" smtClean="0"/>
              <a:t>youBot</a:t>
            </a:r>
            <a:r>
              <a:rPr lang="fr-FR" dirty="0" smtClean="0"/>
              <a:t> conventions</a:t>
            </a:r>
            <a:endParaRPr lang="fr-FR" dirty="0"/>
          </a:p>
        </p:txBody>
      </p:sp>
      <p:sp>
        <p:nvSpPr>
          <p:cNvPr id="332" name="Rectangle à coins arrondis 331"/>
          <p:cNvSpPr/>
          <p:nvPr/>
        </p:nvSpPr>
        <p:spPr>
          <a:xfrm>
            <a:off x="1497843" y="1205658"/>
            <a:ext cx="5530565" cy="34654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4" name="Connecteur en arc 333"/>
          <p:cNvCxnSpPr>
            <a:stCxn id="332" idx="3"/>
          </p:cNvCxnSpPr>
          <p:nvPr/>
        </p:nvCxnSpPr>
        <p:spPr>
          <a:xfrm>
            <a:off x="7028408" y="1378929"/>
            <a:ext cx="374395" cy="482523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/>
              <p:cNvSpPr/>
              <p:nvPr/>
            </p:nvSpPr>
            <p:spPr>
              <a:xfrm>
                <a:off x="7112998" y="1828467"/>
                <a:ext cx="76771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35" name="Rectangle 3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98" y="1828467"/>
                <a:ext cx="767710" cy="307777"/>
              </a:xfrm>
              <a:prstGeom prst="rect">
                <a:avLst/>
              </a:prstGeom>
              <a:blipFill>
                <a:blip r:embed="rId3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ZoneTexte 1"/>
          <p:cNvSpPr txBox="1"/>
          <p:nvPr/>
        </p:nvSpPr>
        <p:spPr>
          <a:xfrm rot="20119657">
            <a:off x="1981323" y="2611877"/>
            <a:ext cx="86473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200" dirty="0" smtClean="0">
                <a:solidFill>
                  <a:schemeClr val="tx1">
                    <a:alpha val="50000"/>
                  </a:schemeClr>
                </a:solidFill>
              </a:rPr>
              <a:t>WRONG CONVENTION</a:t>
            </a:r>
            <a:endParaRPr lang="fr-FR" sz="7200" dirty="0">
              <a:solidFill>
                <a:schemeClr val="tx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52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55"/>
          <p:cNvSpPr/>
          <p:nvPr/>
        </p:nvSpPr>
        <p:spPr>
          <a:xfrm flipH="1">
            <a:off x="8664818" y="5241199"/>
            <a:ext cx="1159882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55"/>
          <p:cNvSpPr/>
          <p:nvPr/>
        </p:nvSpPr>
        <p:spPr>
          <a:xfrm>
            <a:off x="8502982" y="2716299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55"/>
          <p:cNvSpPr/>
          <p:nvPr/>
        </p:nvSpPr>
        <p:spPr>
          <a:xfrm>
            <a:off x="8693482" y="3027631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5"/>
          <p:cNvSpPr/>
          <p:nvPr/>
        </p:nvSpPr>
        <p:spPr>
          <a:xfrm>
            <a:off x="7690797" y="4309428"/>
            <a:ext cx="2068068" cy="169926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ectangle 55"/>
          <p:cNvSpPr/>
          <p:nvPr/>
        </p:nvSpPr>
        <p:spPr>
          <a:xfrm>
            <a:off x="7942912" y="3830779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11000"/>
            </a:srgb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Ellipse 53"/>
          <p:cNvSpPr/>
          <p:nvPr/>
        </p:nvSpPr>
        <p:spPr>
          <a:xfrm>
            <a:off x="9023428" y="5056075"/>
            <a:ext cx="969264" cy="9692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Ellipse 54"/>
          <p:cNvSpPr/>
          <p:nvPr/>
        </p:nvSpPr>
        <p:spPr>
          <a:xfrm>
            <a:off x="7575628" y="4315411"/>
            <a:ext cx="807720" cy="80772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Ellipse 60"/>
          <p:cNvSpPr/>
          <p:nvPr/>
        </p:nvSpPr>
        <p:spPr>
          <a:xfrm>
            <a:off x="9215452" y="3827731"/>
            <a:ext cx="696468" cy="69646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Ellipse 61"/>
          <p:cNvSpPr/>
          <p:nvPr/>
        </p:nvSpPr>
        <p:spPr>
          <a:xfrm rot="19958494">
            <a:off x="8663691" y="3018550"/>
            <a:ext cx="431312" cy="23106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Arc 64"/>
          <p:cNvSpPr/>
          <p:nvPr/>
        </p:nvSpPr>
        <p:spPr>
          <a:xfrm rot="1371518">
            <a:off x="9356552" y="3813006"/>
            <a:ext cx="726246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Arc 65"/>
          <p:cNvSpPr/>
          <p:nvPr/>
        </p:nvSpPr>
        <p:spPr>
          <a:xfrm rot="332832">
            <a:off x="9314621" y="4881386"/>
            <a:ext cx="757160" cy="757160"/>
          </a:xfrm>
          <a:prstGeom prst="arc">
            <a:avLst/>
          </a:prstGeom>
          <a:ln w="28575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Arc 74"/>
          <p:cNvSpPr/>
          <p:nvPr/>
        </p:nvSpPr>
        <p:spPr>
          <a:xfrm>
            <a:off x="7407649" y="4241324"/>
            <a:ext cx="75716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ZoneTexte 75"/>
              <p:cNvSpPr txBox="1"/>
              <p:nvPr/>
            </p:nvSpPr>
            <p:spPr>
              <a:xfrm>
                <a:off x="10026658" y="3754446"/>
                <a:ext cx="461215" cy="383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6" name="ZoneTexte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658" y="3754446"/>
                <a:ext cx="461215" cy="383182"/>
              </a:xfrm>
              <a:prstGeom prst="rect">
                <a:avLst/>
              </a:prstGeom>
              <a:blipFill>
                <a:blip r:embed="rId3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ZoneTexte 76"/>
              <p:cNvSpPr txBox="1"/>
              <p:nvPr/>
            </p:nvSpPr>
            <p:spPr>
              <a:xfrm>
                <a:off x="9894629" y="4683145"/>
                <a:ext cx="466602" cy="3843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7" name="ZoneTexte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4629" y="4683145"/>
                <a:ext cx="466602" cy="384336"/>
              </a:xfrm>
              <a:prstGeom prst="rect">
                <a:avLst/>
              </a:prstGeom>
              <a:blipFill>
                <a:blip r:embed="rId4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/>
              <p:cNvSpPr txBox="1"/>
              <p:nvPr/>
            </p:nvSpPr>
            <p:spPr>
              <a:xfrm>
                <a:off x="7043866" y="4065539"/>
                <a:ext cx="466602" cy="3857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8" name="ZoneTexte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3866" y="4065539"/>
                <a:ext cx="466602" cy="385747"/>
              </a:xfrm>
              <a:prstGeom prst="rect">
                <a:avLst/>
              </a:prstGeom>
              <a:blipFill>
                <a:blip r:embed="rId5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 à coins arrondis 78"/>
          <p:cNvSpPr/>
          <p:nvPr/>
        </p:nvSpPr>
        <p:spPr>
          <a:xfrm rot="3290027">
            <a:off x="8590843" y="2631558"/>
            <a:ext cx="192565" cy="3816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5"/>
          <p:cNvSpPr/>
          <p:nvPr/>
        </p:nvSpPr>
        <p:spPr>
          <a:xfrm>
            <a:off x="9035906" y="5238463"/>
            <a:ext cx="1177797" cy="830580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  <a:gd name="connsiteX0" fmla="*/ 347472 w 2068068"/>
              <a:gd name="connsiteY0" fmla="*/ 0 h 1589532"/>
              <a:gd name="connsiteX1" fmla="*/ 2068068 w 2068068"/>
              <a:gd name="connsiteY1" fmla="*/ 822960 h 1589532"/>
              <a:gd name="connsiteX2" fmla="*/ 1501140 w 2068068"/>
              <a:gd name="connsiteY2" fmla="*/ 1589532 h 1589532"/>
              <a:gd name="connsiteX3" fmla="*/ 0 w 2068068"/>
              <a:gd name="connsiteY3" fmla="*/ 702564 h 1589532"/>
              <a:gd name="connsiteX4" fmla="*/ 347472 w 2068068"/>
              <a:gd name="connsiteY4" fmla="*/ 0 h 1589532"/>
              <a:gd name="connsiteX0" fmla="*/ 0 w 1720596"/>
              <a:gd name="connsiteY0" fmla="*/ 0 h 1726692"/>
              <a:gd name="connsiteX1" fmla="*/ 1720596 w 1720596"/>
              <a:gd name="connsiteY1" fmla="*/ 822960 h 1726692"/>
              <a:gd name="connsiteX2" fmla="*/ 1153668 w 1720596"/>
              <a:gd name="connsiteY2" fmla="*/ 1589532 h 1726692"/>
              <a:gd name="connsiteX3" fmla="*/ 1133856 w 1720596"/>
              <a:gd name="connsiteY3" fmla="*/ 1726692 h 1726692"/>
              <a:gd name="connsiteX4" fmla="*/ 0 w 1720596"/>
              <a:gd name="connsiteY4" fmla="*/ 0 h 1726692"/>
              <a:gd name="connsiteX0" fmla="*/ 1188720 w 1188720"/>
              <a:gd name="connsiteY0" fmla="*/ 896112 h 903732"/>
              <a:gd name="connsiteX1" fmla="*/ 586740 w 1188720"/>
              <a:gd name="connsiteY1" fmla="*/ 0 h 903732"/>
              <a:gd name="connsiteX2" fmla="*/ 19812 w 1188720"/>
              <a:gd name="connsiteY2" fmla="*/ 766572 h 903732"/>
              <a:gd name="connsiteX3" fmla="*/ 0 w 1188720"/>
              <a:gd name="connsiteY3" fmla="*/ 903732 h 903732"/>
              <a:gd name="connsiteX4" fmla="*/ 1188720 w 1188720"/>
              <a:gd name="connsiteY4" fmla="*/ 896112 h 903732"/>
              <a:gd name="connsiteX0" fmla="*/ 1188720 w 1188720"/>
              <a:gd name="connsiteY0" fmla="*/ 822960 h 830580"/>
              <a:gd name="connsiteX1" fmla="*/ 669036 w 1188720"/>
              <a:gd name="connsiteY1" fmla="*/ 0 h 830580"/>
              <a:gd name="connsiteX2" fmla="*/ 19812 w 1188720"/>
              <a:gd name="connsiteY2" fmla="*/ 693420 h 830580"/>
              <a:gd name="connsiteX3" fmla="*/ 0 w 1188720"/>
              <a:gd name="connsiteY3" fmla="*/ 830580 h 830580"/>
              <a:gd name="connsiteX4" fmla="*/ 1188720 w 1188720"/>
              <a:gd name="connsiteY4" fmla="*/ 822960 h 830580"/>
              <a:gd name="connsiteX0" fmla="*/ 1232916 w 1232916"/>
              <a:gd name="connsiteY0" fmla="*/ 822960 h 830580"/>
              <a:gd name="connsiteX1" fmla="*/ 713232 w 1232916"/>
              <a:gd name="connsiteY1" fmla="*/ 0 h 830580"/>
              <a:gd name="connsiteX2" fmla="*/ 0 w 1232916"/>
              <a:gd name="connsiteY2" fmla="*/ 620268 h 830580"/>
              <a:gd name="connsiteX3" fmla="*/ 44196 w 1232916"/>
              <a:gd name="connsiteY3" fmla="*/ 830580 h 830580"/>
              <a:gd name="connsiteX4" fmla="*/ 1232916 w 1232916"/>
              <a:gd name="connsiteY4" fmla="*/ 822960 h 83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916" h="830580">
                <a:moveTo>
                  <a:pt x="1232916" y="822960"/>
                </a:moveTo>
                <a:lnTo>
                  <a:pt x="713232" y="0"/>
                </a:lnTo>
                <a:lnTo>
                  <a:pt x="0" y="620268"/>
                </a:lnTo>
                <a:lnTo>
                  <a:pt x="44196" y="830580"/>
                </a:lnTo>
                <a:lnTo>
                  <a:pt x="1232916" y="82296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 55"/>
          <p:cNvSpPr/>
          <p:nvPr/>
        </p:nvSpPr>
        <p:spPr>
          <a:xfrm rot="1880518">
            <a:off x="9013404" y="97976"/>
            <a:ext cx="547116" cy="52882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  <a:gd name="connsiteX0" fmla="*/ 356616 w 614172"/>
              <a:gd name="connsiteY0" fmla="*/ 347472 h 1744980"/>
              <a:gd name="connsiteX1" fmla="*/ 83820 w 614172"/>
              <a:gd name="connsiteY1" fmla="*/ 0 h 1744980"/>
              <a:gd name="connsiteX2" fmla="*/ 614172 w 614172"/>
              <a:gd name="connsiteY2" fmla="*/ 1744980 h 1744980"/>
              <a:gd name="connsiteX3" fmla="*/ 0 w 614172"/>
              <a:gd name="connsiteY3" fmla="*/ 574548 h 1744980"/>
              <a:gd name="connsiteX4" fmla="*/ 356616 w 614172"/>
              <a:gd name="connsiteY4" fmla="*/ 347472 h 1744980"/>
              <a:gd name="connsiteX0" fmla="*/ 547116 w 547116"/>
              <a:gd name="connsiteY0" fmla="*/ 347472 h 574548"/>
              <a:gd name="connsiteX1" fmla="*/ 274320 w 547116"/>
              <a:gd name="connsiteY1" fmla="*/ 0 h 574548"/>
              <a:gd name="connsiteX2" fmla="*/ 0 w 547116"/>
              <a:gd name="connsiteY2" fmla="*/ 227076 h 574548"/>
              <a:gd name="connsiteX3" fmla="*/ 190500 w 547116"/>
              <a:gd name="connsiteY3" fmla="*/ 574548 h 574548"/>
              <a:gd name="connsiteX4" fmla="*/ 547116 w 547116"/>
              <a:gd name="connsiteY4" fmla="*/ 347472 h 574548"/>
              <a:gd name="connsiteX0" fmla="*/ 547116 w 547116"/>
              <a:gd name="connsiteY0" fmla="*/ 301752 h 528828"/>
              <a:gd name="connsiteX1" fmla="*/ 329184 w 547116"/>
              <a:gd name="connsiteY1" fmla="*/ 0 h 528828"/>
              <a:gd name="connsiteX2" fmla="*/ 0 w 547116"/>
              <a:gd name="connsiteY2" fmla="*/ 181356 h 528828"/>
              <a:gd name="connsiteX3" fmla="*/ 190500 w 547116"/>
              <a:gd name="connsiteY3" fmla="*/ 528828 h 528828"/>
              <a:gd name="connsiteX4" fmla="*/ 547116 w 547116"/>
              <a:gd name="connsiteY4" fmla="*/ 301752 h 528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116" h="528828">
                <a:moveTo>
                  <a:pt x="547116" y="301752"/>
                </a:moveTo>
                <a:lnTo>
                  <a:pt x="329184" y="0"/>
                </a:lnTo>
                <a:lnTo>
                  <a:pt x="0" y="181356"/>
                </a:lnTo>
                <a:lnTo>
                  <a:pt x="190500" y="528828"/>
                </a:lnTo>
                <a:lnTo>
                  <a:pt x="547116" y="30175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5"/>
          <p:cNvSpPr/>
          <p:nvPr/>
        </p:nvSpPr>
        <p:spPr>
          <a:xfrm rot="1898888">
            <a:off x="8739188" y="464855"/>
            <a:ext cx="1190244" cy="1397508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36576 w 2433828"/>
              <a:gd name="connsiteY0" fmla="*/ 182880 h 995172"/>
              <a:gd name="connsiteX1" fmla="*/ 2433828 w 2433828"/>
              <a:gd name="connsiteY1" fmla="*/ 0 h 995172"/>
              <a:gd name="connsiteX2" fmla="*/ 1812036 w 2433828"/>
              <a:gd name="connsiteY2" fmla="*/ 336804 h 995172"/>
              <a:gd name="connsiteX3" fmla="*/ 0 w 2433828"/>
              <a:gd name="connsiteY3" fmla="*/ 995172 h 995172"/>
              <a:gd name="connsiteX4" fmla="*/ 36576 w 2433828"/>
              <a:gd name="connsiteY4" fmla="*/ 182880 h 995172"/>
              <a:gd name="connsiteX0" fmla="*/ 1572768 w 2433828"/>
              <a:gd name="connsiteY0" fmla="*/ 0 h 2028444"/>
              <a:gd name="connsiteX1" fmla="*/ 2433828 w 2433828"/>
              <a:gd name="connsiteY1" fmla="*/ 1033272 h 2028444"/>
              <a:gd name="connsiteX2" fmla="*/ 1812036 w 2433828"/>
              <a:gd name="connsiteY2" fmla="*/ 1370076 h 2028444"/>
              <a:gd name="connsiteX3" fmla="*/ 0 w 2433828"/>
              <a:gd name="connsiteY3" fmla="*/ 2028444 h 2028444"/>
              <a:gd name="connsiteX4" fmla="*/ 1572768 w 2433828"/>
              <a:gd name="connsiteY4" fmla="*/ 0 h 2028444"/>
              <a:gd name="connsiteX0" fmla="*/ 356616 w 1217676"/>
              <a:gd name="connsiteY0" fmla="*/ 0 h 1370076"/>
              <a:gd name="connsiteX1" fmla="*/ 1217676 w 1217676"/>
              <a:gd name="connsiteY1" fmla="*/ 1033272 h 1370076"/>
              <a:gd name="connsiteX2" fmla="*/ 595884 w 1217676"/>
              <a:gd name="connsiteY2" fmla="*/ 1370076 h 1370076"/>
              <a:gd name="connsiteX3" fmla="*/ 0 w 1217676"/>
              <a:gd name="connsiteY3" fmla="*/ 227076 h 1370076"/>
              <a:gd name="connsiteX4" fmla="*/ 356616 w 1217676"/>
              <a:gd name="connsiteY4" fmla="*/ 0 h 1370076"/>
              <a:gd name="connsiteX0" fmla="*/ 356616 w 1217676"/>
              <a:gd name="connsiteY0" fmla="*/ 0 h 1397508"/>
              <a:gd name="connsiteX1" fmla="*/ 1217676 w 1217676"/>
              <a:gd name="connsiteY1" fmla="*/ 1033272 h 1397508"/>
              <a:gd name="connsiteX2" fmla="*/ 614172 w 1217676"/>
              <a:gd name="connsiteY2" fmla="*/ 1397508 h 1397508"/>
              <a:gd name="connsiteX3" fmla="*/ 0 w 1217676"/>
              <a:gd name="connsiteY3" fmla="*/ 227076 h 1397508"/>
              <a:gd name="connsiteX4" fmla="*/ 356616 w 1217676"/>
              <a:gd name="connsiteY4" fmla="*/ 0 h 1397508"/>
              <a:gd name="connsiteX0" fmla="*/ 356616 w 1190244"/>
              <a:gd name="connsiteY0" fmla="*/ 0 h 1397508"/>
              <a:gd name="connsiteX1" fmla="*/ 1190244 w 1190244"/>
              <a:gd name="connsiteY1" fmla="*/ 1014984 h 1397508"/>
              <a:gd name="connsiteX2" fmla="*/ 614172 w 1190244"/>
              <a:gd name="connsiteY2" fmla="*/ 1397508 h 1397508"/>
              <a:gd name="connsiteX3" fmla="*/ 0 w 1190244"/>
              <a:gd name="connsiteY3" fmla="*/ 227076 h 1397508"/>
              <a:gd name="connsiteX4" fmla="*/ 356616 w 1190244"/>
              <a:gd name="connsiteY4" fmla="*/ 0 h 139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0244" h="1397508">
                <a:moveTo>
                  <a:pt x="356616" y="0"/>
                </a:moveTo>
                <a:lnTo>
                  <a:pt x="1190244" y="1014984"/>
                </a:lnTo>
                <a:lnTo>
                  <a:pt x="614172" y="1397508"/>
                </a:lnTo>
                <a:lnTo>
                  <a:pt x="0" y="227076"/>
                </a:lnTo>
                <a:lnTo>
                  <a:pt x="356616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5"/>
          <p:cNvSpPr/>
          <p:nvPr/>
        </p:nvSpPr>
        <p:spPr>
          <a:xfrm rot="3895540">
            <a:off x="8171475" y="3675533"/>
            <a:ext cx="2262077" cy="160844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  <a:gd name="connsiteX0" fmla="*/ 0 w 1876044"/>
              <a:gd name="connsiteY0" fmla="*/ 0 h 2055876"/>
              <a:gd name="connsiteX1" fmla="*/ 1656588 w 1876044"/>
              <a:gd name="connsiteY1" fmla="*/ 758952 h 2055876"/>
              <a:gd name="connsiteX2" fmla="*/ 1876044 w 1876044"/>
              <a:gd name="connsiteY2" fmla="*/ 1397508 h 2055876"/>
              <a:gd name="connsiteX3" fmla="*/ 64008 w 1876044"/>
              <a:gd name="connsiteY3" fmla="*/ 2055876 h 2055876"/>
              <a:gd name="connsiteX4" fmla="*/ 0 w 1876044"/>
              <a:gd name="connsiteY4" fmla="*/ 0 h 2055876"/>
              <a:gd name="connsiteX0" fmla="*/ 347472 w 2223516"/>
              <a:gd name="connsiteY0" fmla="*/ 0 h 1397508"/>
              <a:gd name="connsiteX1" fmla="*/ 2004060 w 2223516"/>
              <a:gd name="connsiteY1" fmla="*/ 758952 h 1397508"/>
              <a:gd name="connsiteX2" fmla="*/ 2223516 w 2223516"/>
              <a:gd name="connsiteY2" fmla="*/ 1397508 h 1397508"/>
              <a:gd name="connsiteX3" fmla="*/ 0 w 2223516"/>
              <a:gd name="connsiteY3" fmla="*/ 720852 h 1397508"/>
              <a:gd name="connsiteX4" fmla="*/ 347472 w 2223516"/>
              <a:gd name="connsiteY4" fmla="*/ 0 h 1397508"/>
              <a:gd name="connsiteX0" fmla="*/ 347472 w 2004060"/>
              <a:gd name="connsiteY0" fmla="*/ 0 h 1699260"/>
              <a:gd name="connsiteX1" fmla="*/ 2004060 w 2004060"/>
              <a:gd name="connsiteY1" fmla="*/ 758952 h 1699260"/>
              <a:gd name="connsiteX2" fmla="*/ 1674876 w 2004060"/>
              <a:gd name="connsiteY2" fmla="*/ 1699260 h 1699260"/>
              <a:gd name="connsiteX3" fmla="*/ 0 w 2004060"/>
              <a:gd name="connsiteY3" fmla="*/ 720852 h 1699260"/>
              <a:gd name="connsiteX4" fmla="*/ 347472 w 2004060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20852 h 1699260"/>
              <a:gd name="connsiteX4" fmla="*/ 347472 w 2068068"/>
              <a:gd name="connsiteY4" fmla="*/ 0 h 1699260"/>
              <a:gd name="connsiteX0" fmla="*/ 347472 w 2068068"/>
              <a:gd name="connsiteY0" fmla="*/ 0 h 1699260"/>
              <a:gd name="connsiteX1" fmla="*/ 2068068 w 2068068"/>
              <a:gd name="connsiteY1" fmla="*/ 822960 h 1699260"/>
              <a:gd name="connsiteX2" fmla="*/ 1674876 w 2068068"/>
              <a:gd name="connsiteY2" fmla="*/ 1699260 h 1699260"/>
              <a:gd name="connsiteX3" fmla="*/ 0 w 2068068"/>
              <a:gd name="connsiteY3" fmla="*/ 702564 h 1699260"/>
              <a:gd name="connsiteX4" fmla="*/ 347472 w 2068068"/>
              <a:gd name="connsiteY4" fmla="*/ 0 h 1699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8068" h="1699260">
                <a:moveTo>
                  <a:pt x="347472" y="0"/>
                </a:moveTo>
                <a:lnTo>
                  <a:pt x="2068068" y="822960"/>
                </a:lnTo>
                <a:lnTo>
                  <a:pt x="1674876" y="1699260"/>
                </a:lnTo>
                <a:lnTo>
                  <a:pt x="0" y="702564"/>
                </a:lnTo>
                <a:lnTo>
                  <a:pt x="347472" y="0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 rot="17322608">
            <a:off x="8481819" y="1889413"/>
            <a:ext cx="1812036" cy="1296924"/>
          </a:xfrm>
          <a:custGeom>
            <a:avLst/>
            <a:gdLst>
              <a:gd name="connsiteX0" fmla="*/ 0 w 1738884"/>
              <a:gd name="connsiteY0" fmla="*/ 0 h 208788"/>
              <a:gd name="connsiteX1" fmla="*/ 1738884 w 1738884"/>
              <a:gd name="connsiteY1" fmla="*/ 0 h 208788"/>
              <a:gd name="connsiteX2" fmla="*/ 1738884 w 1738884"/>
              <a:gd name="connsiteY2" fmla="*/ 208788 h 208788"/>
              <a:gd name="connsiteX3" fmla="*/ 0 w 1738884"/>
              <a:gd name="connsiteY3" fmla="*/ 208788 h 208788"/>
              <a:gd name="connsiteX4" fmla="*/ 0 w 1738884"/>
              <a:gd name="connsiteY4" fmla="*/ 0 h 208788"/>
              <a:gd name="connsiteX0" fmla="*/ 0 w 1738884"/>
              <a:gd name="connsiteY0" fmla="*/ 475488 h 684276"/>
              <a:gd name="connsiteX1" fmla="*/ 1574292 w 1738884"/>
              <a:gd name="connsiteY1" fmla="*/ 0 h 684276"/>
              <a:gd name="connsiteX2" fmla="*/ 1738884 w 1738884"/>
              <a:gd name="connsiteY2" fmla="*/ 684276 h 684276"/>
              <a:gd name="connsiteX3" fmla="*/ 0 w 1738884"/>
              <a:gd name="connsiteY3" fmla="*/ 684276 h 684276"/>
              <a:gd name="connsiteX4" fmla="*/ 0 w 1738884"/>
              <a:gd name="connsiteY4" fmla="*/ 475488 h 684276"/>
              <a:gd name="connsiteX0" fmla="*/ 0 w 1775460"/>
              <a:gd name="connsiteY0" fmla="*/ 475488 h 684276"/>
              <a:gd name="connsiteX1" fmla="*/ 1574292 w 1775460"/>
              <a:gd name="connsiteY1" fmla="*/ 0 h 684276"/>
              <a:gd name="connsiteX2" fmla="*/ 1775460 w 1775460"/>
              <a:gd name="connsiteY2" fmla="*/ 675132 h 684276"/>
              <a:gd name="connsiteX3" fmla="*/ 0 w 1775460"/>
              <a:gd name="connsiteY3" fmla="*/ 684276 h 684276"/>
              <a:gd name="connsiteX4" fmla="*/ 0 w 1775460"/>
              <a:gd name="connsiteY4" fmla="*/ 475488 h 684276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7513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75488 h 1287780"/>
              <a:gd name="connsiteX1" fmla="*/ 1610868 w 1812036"/>
              <a:gd name="connsiteY1" fmla="*/ 0 h 1287780"/>
              <a:gd name="connsiteX2" fmla="*/ 1812036 w 1812036"/>
              <a:gd name="connsiteY2" fmla="*/ 629412 h 1287780"/>
              <a:gd name="connsiteX3" fmla="*/ 0 w 1812036"/>
              <a:gd name="connsiteY3" fmla="*/ 1287780 h 1287780"/>
              <a:gd name="connsiteX4" fmla="*/ 36576 w 1812036"/>
              <a:gd name="connsiteY4" fmla="*/ 475488 h 1287780"/>
              <a:gd name="connsiteX0" fmla="*/ 36576 w 1812036"/>
              <a:gd name="connsiteY0" fmla="*/ 484632 h 1296924"/>
              <a:gd name="connsiteX1" fmla="*/ 1592580 w 1812036"/>
              <a:gd name="connsiteY1" fmla="*/ 0 h 1296924"/>
              <a:gd name="connsiteX2" fmla="*/ 1812036 w 1812036"/>
              <a:gd name="connsiteY2" fmla="*/ 638556 h 1296924"/>
              <a:gd name="connsiteX3" fmla="*/ 0 w 1812036"/>
              <a:gd name="connsiteY3" fmla="*/ 1296924 h 1296924"/>
              <a:gd name="connsiteX4" fmla="*/ 36576 w 1812036"/>
              <a:gd name="connsiteY4" fmla="*/ 484632 h 129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2036" h="1296924">
                <a:moveTo>
                  <a:pt x="36576" y="484632"/>
                </a:moveTo>
                <a:lnTo>
                  <a:pt x="1592580" y="0"/>
                </a:lnTo>
                <a:lnTo>
                  <a:pt x="1812036" y="638556"/>
                </a:lnTo>
                <a:lnTo>
                  <a:pt x="0" y="1296924"/>
                </a:lnTo>
                <a:lnTo>
                  <a:pt x="36576" y="484632"/>
                </a:lnTo>
                <a:close/>
              </a:path>
            </a:pathLst>
          </a:custGeom>
          <a:solidFill>
            <a:srgbClr val="5B9BD5">
              <a:alpha val="2784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orme libre 25"/>
          <p:cNvSpPr/>
          <p:nvPr/>
        </p:nvSpPr>
        <p:spPr>
          <a:xfrm>
            <a:off x="7933831" y="6028736"/>
            <a:ext cx="2685288" cy="777240"/>
          </a:xfrm>
          <a:custGeom>
            <a:avLst/>
            <a:gdLst>
              <a:gd name="connsiteX0" fmla="*/ 129543 w 2685288"/>
              <a:gd name="connsiteY0" fmla="*/ 0 h 777240"/>
              <a:gd name="connsiteX1" fmla="*/ 2395725 w 2685288"/>
              <a:gd name="connsiteY1" fmla="*/ 0 h 777240"/>
              <a:gd name="connsiteX2" fmla="*/ 2525268 w 2685288"/>
              <a:gd name="connsiteY2" fmla="*/ 129543 h 777240"/>
              <a:gd name="connsiteX3" fmla="*/ 2525268 w 2685288"/>
              <a:gd name="connsiteY3" fmla="*/ 228600 h 777240"/>
              <a:gd name="connsiteX4" fmla="*/ 2631947 w 2685288"/>
              <a:gd name="connsiteY4" fmla="*/ 228600 h 777240"/>
              <a:gd name="connsiteX5" fmla="*/ 2685288 w 2685288"/>
              <a:gd name="connsiteY5" fmla="*/ 281941 h 777240"/>
              <a:gd name="connsiteX6" fmla="*/ 2685288 w 2685288"/>
              <a:gd name="connsiteY6" fmla="*/ 723899 h 777240"/>
              <a:gd name="connsiteX7" fmla="*/ 2631947 w 2685288"/>
              <a:gd name="connsiteY7" fmla="*/ 777240 h 777240"/>
              <a:gd name="connsiteX8" fmla="*/ 2418589 w 2685288"/>
              <a:gd name="connsiteY8" fmla="*/ 777240 h 777240"/>
              <a:gd name="connsiteX9" fmla="*/ 2407157 w 2685288"/>
              <a:gd name="connsiteY9" fmla="*/ 774932 h 777240"/>
              <a:gd name="connsiteX10" fmla="*/ 2395725 w 2685288"/>
              <a:gd name="connsiteY10" fmla="*/ 777240 h 777240"/>
              <a:gd name="connsiteX11" fmla="*/ 129543 w 2685288"/>
              <a:gd name="connsiteY11" fmla="*/ 777240 h 777240"/>
              <a:gd name="connsiteX12" fmla="*/ 0 w 2685288"/>
              <a:gd name="connsiteY12" fmla="*/ 647697 h 777240"/>
              <a:gd name="connsiteX13" fmla="*/ 0 w 2685288"/>
              <a:gd name="connsiteY13" fmla="*/ 129543 h 777240"/>
              <a:gd name="connsiteX14" fmla="*/ 129543 w 2685288"/>
              <a:gd name="connsiteY14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85288" h="777240">
                <a:moveTo>
                  <a:pt x="129543" y="0"/>
                </a:moveTo>
                <a:lnTo>
                  <a:pt x="2395725" y="0"/>
                </a:lnTo>
                <a:cubicBezTo>
                  <a:pt x="2467270" y="0"/>
                  <a:pt x="2525268" y="57998"/>
                  <a:pt x="2525268" y="129543"/>
                </a:cubicBezTo>
                <a:lnTo>
                  <a:pt x="2525268" y="228600"/>
                </a:lnTo>
                <a:lnTo>
                  <a:pt x="2631947" y="228600"/>
                </a:lnTo>
                <a:cubicBezTo>
                  <a:pt x="2661406" y="228600"/>
                  <a:pt x="2685288" y="252482"/>
                  <a:pt x="2685288" y="281941"/>
                </a:cubicBezTo>
                <a:lnTo>
                  <a:pt x="2685288" y="723899"/>
                </a:lnTo>
                <a:cubicBezTo>
                  <a:pt x="2685288" y="753358"/>
                  <a:pt x="2661406" y="777240"/>
                  <a:pt x="2631947" y="777240"/>
                </a:cubicBezTo>
                <a:lnTo>
                  <a:pt x="2418589" y="777240"/>
                </a:lnTo>
                <a:lnTo>
                  <a:pt x="2407157" y="774932"/>
                </a:lnTo>
                <a:lnTo>
                  <a:pt x="2395725" y="777240"/>
                </a:lnTo>
                <a:lnTo>
                  <a:pt x="129543" y="777240"/>
                </a:lnTo>
                <a:cubicBezTo>
                  <a:pt x="57998" y="777240"/>
                  <a:pt x="0" y="719242"/>
                  <a:pt x="0" y="647697"/>
                </a:cubicBezTo>
                <a:lnTo>
                  <a:pt x="0" y="129543"/>
                </a:lnTo>
                <a:cubicBezTo>
                  <a:pt x="0" y="57998"/>
                  <a:pt x="57998" y="0"/>
                  <a:pt x="129543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/>
          <p:cNvSpPr/>
          <p:nvPr/>
        </p:nvSpPr>
        <p:spPr>
          <a:xfrm>
            <a:off x="8855436" y="5069473"/>
            <a:ext cx="969264" cy="9692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8917150" y="3064275"/>
            <a:ext cx="807720" cy="807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8972776" y="1320168"/>
            <a:ext cx="696468" cy="6964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9068014" y="353377"/>
            <a:ext cx="435864" cy="2813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à coins arrondis 45"/>
          <p:cNvSpPr/>
          <p:nvPr/>
        </p:nvSpPr>
        <p:spPr>
          <a:xfrm rot="5356018">
            <a:off x="9185729" y="-56747"/>
            <a:ext cx="192565" cy="381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3" name="Connecteur droit avec flèche 62"/>
          <p:cNvCxnSpPr/>
          <p:nvPr/>
        </p:nvCxnSpPr>
        <p:spPr>
          <a:xfrm flipH="1">
            <a:off x="6887028" y="6811555"/>
            <a:ext cx="2834643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 flipH="1" flipV="1">
            <a:off x="9574618" y="1330020"/>
            <a:ext cx="0" cy="5459914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c 66"/>
          <p:cNvSpPr/>
          <p:nvPr/>
        </p:nvSpPr>
        <p:spPr>
          <a:xfrm rot="6169523" flipH="1">
            <a:off x="9111288" y="1173727"/>
            <a:ext cx="676348" cy="643890"/>
          </a:xfrm>
          <a:prstGeom prst="arc">
            <a:avLst>
              <a:gd name="adj1" fmla="val 17359383"/>
              <a:gd name="adj2" fmla="val 927750"/>
            </a:avLst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Arc 67"/>
          <p:cNvSpPr/>
          <p:nvPr/>
        </p:nvSpPr>
        <p:spPr>
          <a:xfrm rot="20927128" flipH="1">
            <a:off x="8737539" y="4856152"/>
            <a:ext cx="916339" cy="819644"/>
          </a:xfrm>
          <a:prstGeom prst="arc">
            <a:avLst/>
          </a:prstGeom>
          <a:ln w="285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Arc 68"/>
          <p:cNvSpPr/>
          <p:nvPr/>
        </p:nvSpPr>
        <p:spPr>
          <a:xfrm flipH="1">
            <a:off x="9076640" y="2937024"/>
            <a:ext cx="831630" cy="757160"/>
          </a:xfrm>
          <a:prstGeom prst="arc">
            <a:avLst>
              <a:gd name="adj1" fmla="val 10303803"/>
              <a:gd name="adj2" fmla="val 15595349"/>
            </a:avLst>
          </a:prstGeom>
          <a:ln w="28575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9707890" y="1173656"/>
                <a:ext cx="4612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890" y="1173656"/>
                <a:ext cx="46121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ZoneTexte 70"/>
              <p:cNvSpPr txBox="1"/>
              <p:nvPr/>
            </p:nvSpPr>
            <p:spPr>
              <a:xfrm>
                <a:off x="8382985" y="512216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1" name="ZoneTexte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985" y="5122160"/>
                <a:ext cx="46660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ZoneTexte 71"/>
              <p:cNvSpPr txBox="1"/>
              <p:nvPr/>
            </p:nvSpPr>
            <p:spPr>
              <a:xfrm>
                <a:off x="9775085" y="2797759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2" name="ZoneTexte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085" y="2797759"/>
                <a:ext cx="46660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/>
              <p:cNvSpPr txBox="1"/>
              <p:nvPr/>
            </p:nvSpPr>
            <p:spPr>
              <a:xfrm>
                <a:off x="6961657" y="646581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3" name="ZoneTexte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1657" y="6465819"/>
                <a:ext cx="36798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ZoneTexte 73"/>
              <p:cNvSpPr txBox="1"/>
              <p:nvPr/>
            </p:nvSpPr>
            <p:spPr>
              <a:xfrm>
                <a:off x="9103879" y="1558346"/>
                <a:ext cx="383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4" name="ZoneTexte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879" y="1558346"/>
                <a:ext cx="38381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èche droite 7"/>
          <p:cNvSpPr/>
          <p:nvPr/>
        </p:nvSpPr>
        <p:spPr>
          <a:xfrm flipH="1">
            <a:off x="10750538" y="6477696"/>
            <a:ext cx="381000" cy="1645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/>
              <p:cNvSpPr txBox="1"/>
              <p:nvPr/>
            </p:nvSpPr>
            <p:spPr>
              <a:xfrm>
                <a:off x="9092192" y="6217843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0" name="ZoneTexte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192" y="6217843"/>
                <a:ext cx="46660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Arc 80"/>
          <p:cNvSpPr/>
          <p:nvPr/>
        </p:nvSpPr>
        <p:spPr>
          <a:xfrm rot="13008897" flipH="1">
            <a:off x="9052256" y="5413081"/>
            <a:ext cx="916339" cy="819644"/>
          </a:xfrm>
          <a:prstGeom prst="arc">
            <a:avLst/>
          </a:prstGeom>
          <a:ln w="28575">
            <a:solidFill>
              <a:schemeClr val="accent5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/>
              <p:cNvSpPr txBox="1"/>
              <p:nvPr/>
            </p:nvSpPr>
            <p:spPr>
              <a:xfrm>
                <a:off x="9014739" y="585367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2" name="ZoneTexte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739" y="585367"/>
                <a:ext cx="46660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Arc 82"/>
          <p:cNvSpPr/>
          <p:nvPr/>
        </p:nvSpPr>
        <p:spPr>
          <a:xfrm rot="13303021" flipH="1">
            <a:off x="8805873" y="-269028"/>
            <a:ext cx="916339" cy="819644"/>
          </a:xfrm>
          <a:prstGeom prst="arc">
            <a:avLst/>
          </a:prstGeom>
          <a:ln w="28575">
            <a:solidFill>
              <a:schemeClr val="accent5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Tableau 8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93246" y="842481"/>
              <a:ext cx="556148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14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27163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Config.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Straight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169°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65°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-146°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102,5°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167,5°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Exp.*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 smtClean="0"/>
                            <a:t>169°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96°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-250°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86°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57.5°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Tableau 8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4283992"/>
                  </p:ext>
                </p:extLst>
              </p:nvPr>
            </p:nvGraphicFramePr>
            <p:xfrm>
              <a:off x="1493246" y="842481"/>
              <a:ext cx="5561484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6914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  <a:gridCol w="926914">
                      <a:extLst>
                        <a:ext uri="{9D8B030D-6E8A-4147-A177-3AD203B41FA5}">
                          <a16:colId xmlns:a16="http://schemas.microsoft.com/office/drawing/2014/main" val="127163428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Config.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100000" t="-8197" r="-40065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201316" t="-8197" r="-30328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301316" t="-8197" r="-20328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398693" t="-8197" r="-101961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13"/>
                          <a:stretch>
                            <a:fillRect l="-501974" t="-8197" r="-2632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Straight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169°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65°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-146°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102,5°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167,5°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Exp.*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fr-FR" dirty="0" smtClean="0"/>
                            <a:t>169°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96°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-250°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86°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57.5°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Flèche droite 8"/>
          <p:cNvSpPr/>
          <p:nvPr/>
        </p:nvSpPr>
        <p:spPr>
          <a:xfrm>
            <a:off x="10941038" y="2554467"/>
            <a:ext cx="746137" cy="62805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0750538" y="2185135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User </a:t>
            </a:r>
            <a:r>
              <a:rPr lang="fr-FR" dirty="0" err="1" smtClean="0"/>
              <a:t>side</a:t>
            </a:r>
            <a:endParaRPr lang="fr-FR" dirty="0"/>
          </a:p>
        </p:txBody>
      </p:sp>
      <p:cxnSp>
        <p:nvCxnSpPr>
          <p:cNvPr id="12" name="Connecteur en arc 11"/>
          <p:cNvCxnSpPr/>
          <p:nvPr/>
        </p:nvCxnSpPr>
        <p:spPr>
          <a:xfrm rot="10800000">
            <a:off x="514398" y="4890785"/>
            <a:ext cx="378305" cy="111298"/>
          </a:xfrm>
          <a:prstGeom prst="curvedConnector3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7061207" y="475537"/>
            <a:ext cx="1766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Straight configuration</a:t>
            </a:r>
            <a:endParaRPr lang="fr-FR" sz="1400" dirty="0"/>
          </a:p>
        </p:txBody>
      </p:sp>
      <p:sp>
        <p:nvSpPr>
          <p:cNvPr id="14" name="ZoneTexte 13"/>
          <p:cNvSpPr txBox="1"/>
          <p:nvPr/>
        </p:nvSpPr>
        <p:spPr>
          <a:xfrm>
            <a:off x="1296395" y="2174327"/>
            <a:ext cx="3608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*</a:t>
            </a:r>
            <a:r>
              <a:rPr lang="fr-FR" sz="1400" dirty="0" err="1" smtClean="0"/>
              <a:t>Starting</a:t>
            </a:r>
            <a:r>
              <a:rPr lang="fr-FR" sz="1400" dirty="0" smtClean="0"/>
              <a:t> configuration </a:t>
            </a:r>
            <a:r>
              <a:rPr lang="fr-FR" sz="1400" dirty="0" err="1" smtClean="0"/>
              <a:t>during</a:t>
            </a:r>
            <a:r>
              <a:rPr lang="fr-FR" sz="1400" dirty="0" smtClean="0"/>
              <a:t> the </a:t>
            </a:r>
            <a:r>
              <a:rPr lang="fr-FR" sz="1400" dirty="0" err="1" smtClean="0"/>
              <a:t>experiments</a:t>
            </a:r>
            <a:endParaRPr lang="fr-FR" sz="1400" dirty="0"/>
          </a:p>
        </p:txBody>
      </p:sp>
      <p:grpSp>
        <p:nvGrpSpPr>
          <p:cNvPr id="165" name="Groupe 164"/>
          <p:cNvGrpSpPr/>
          <p:nvPr/>
        </p:nvGrpSpPr>
        <p:grpSpPr>
          <a:xfrm>
            <a:off x="1182107" y="2752239"/>
            <a:ext cx="652356" cy="3530297"/>
            <a:chOff x="2495018" y="2967495"/>
            <a:chExt cx="652356" cy="3530297"/>
          </a:xfrm>
        </p:grpSpPr>
        <p:cxnSp>
          <p:nvCxnSpPr>
            <p:cNvPr id="131" name="Connecteur droit 130"/>
            <p:cNvCxnSpPr/>
            <p:nvPr/>
          </p:nvCxnSpPr>
          <p:spPr>
            <a:xfrm flipH="1" flipV="1">
              <a:off x="2543710" y="4826633"/>
              <a:ext cx="3837" cy="25426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e 16"/>
            <p:cNvGrpSpPr/>
            <p:nvPr/>
          </p:nvGrpSpPr>
          <p:grpSpPr>
            <a:xfrm>
              <a:off x="2641368" y="5876777"/>
              <a:ext cx="313171" cy="621015"/>
              <a:chOff x="1803797" y="4451209"/>
              <a:chExt cx="606021" cy="1201740"/>
            </a:xfrm>
          </p:grpSpPr>
          <p:sp>
            <p:nvSpPr>
              <p:cNvPr id="86" name="Forme libre 85"/>
              <p:cNvSpPr/>
              <p:nvPr/>
            </p:nvSpPr>
            <p:spPr>
              <a:xfrm>
                <a:off x="1803797" y="4566353"/>
                <a:ext cx="606021" cy="1086596"/>
              </a:xfrm>
              <a:custGeom>
                <a:avLst/>
                <a:gdLst>
                  <a:gd name="connsiteX0" fmla="*/ 0 w 606022"/>
                  <a:gd name="connsiteY0" fmla="*/ 0 h 1086596"/>
                  <a:gd name="connsiteX1" fmla="*/ 606021 w 606022"/>
                  <a:gd name="connsiteY1" fmla="*/ 0 h 1086596"/>
                  <a:gd name="connsiteX2" fmla="*/ 606021 w 606022"/>
                  <a:gd name="connsiteY2" fmla="*/ 962220 h 1086596"/>
                  <a:gd name="connsiteX3" fmla="*/ 606022 w 606022"/>
                  <a:gd name="connsiteY3" fmla="*/ 962224 h 1086596"/>
                  <a:gd name="connsiteX4" fmla="*/ 303281 w 606022"/>
                  <a:gd name="connsiteY4" fmla="*/ 1086596 h 1086596"/>
                  <a:gd name="connsiteX5" fmla="*/ 540 w 606022"/>
                  <a:gd name="connsiteY5" fmla="*/ 962224 h 1086596"/>
                  <a:gd name="connsiteX6" fmla="*/ 0 w 606022"/>
                  <a:gd name="connsiteY6" fmla="*/ 962224 h 1086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022" h="1086596">
                    <a:moveTo>
                      <a:pt x="0" y="0"/>
                    </a:moveTo>
                    <a:lnTo>
                      <a:pt x="606021" y="0"/>
                    </a:lnTo>
                    <a:lnTo>
                      <a:pt x="606021" y="962220"/>
                    </a:lnTo>
                    <a:lnTo>
                      <a:pt x="606022" y="962224"/>
                    </a:lnTo>
                    <a:cubicBezTo>
                      <a:pt x="606022" y="1030913"/>
                      <a:pt x="470480" y="1086596"/>
                      <a:pt x="303281" y="1086596"/>
                    </a:cubicBezTo>
                    <a:cubicBezTo>
                      <a:pt x="136082" y="1086596"/>
                      <a:pt x="540" y="1030913"/>
                      <a:pt x="540" y="962224"/>
                    </a:cubicBezTo>
                    <a:lnTo>
                      <a:pt x="0" y="96222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1804337" y="4451209"/>
                <a:ext cx="605479" cy="2487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0" name="Groupe 89"/>
            <p:cNvGrpSpPr/>
            <p:nvPr/>
          </p:nvGrpSpPr>
          <p:grpSpPr>
            <a:xfrm>
              <a:off x="2609306" y="3288781"/>
              <a:ext cx="313170" cy="621016"/>
              <a:chOff x="1741762" y="4564994"/>
              <a:chExt cx="606022" cy="1201742"/>
            </a:xfrm>
          </p:grpSpPr>
          <p:sp>
            <p:nvSpPr>
              <p:cNvPr id="91" name="Forme libre 90"/>
              <p:cNvSpPr/>
              <p:nvPr/>
            </p:nvSpPr>
            <p:spPr>
              <a:xfrm>
                <a:off x="1741762" y="4680140"/>
                <a:ext cx="606022" cy="1086596"/>
              </a:xfrm>
              <a:custGeom>
                <a:avLst/>
                <a:gdLst>
                  <a:gd name="connsiteX0" fmla="*/ 0 w 606022"/>
                  <a:gd name="connsiteY0" fmla="*/ 0 h 1086596"/>
                  <a:gd name="connsiteX1" fmla="*/ 606021 w 606022"/>
                  <a:gd name="connsiteY1" fmla="*/ 0 h 1086596"/>
                  <a:gd name="connsiteX2" fmla="*/ 606021 w 606022"/>
                  <a:gd name="connsiteY2" fmla="*/ 962220 h 1086596"/>
                  <a:gd name="connsiteX3" fmla="*/ 606022 w 606022"/>
                  <a:gd name="connsiteY3" fmla="*/ 962224 h 1086596"/>
                  <a:gd name="connsiteX4" fmla="*/ 303281 w 606022"/>
                  <a:gd name="connsiteY4" fmla="*/ 1086596 h 1086596"/>
                  <a:gd name="connsiteX5" fmla="*/ 540 w 606022"/>
                  <a:gd name="connsiteY5" fmla="*/ 962224 h 1086596"/>
                  <a:gd name="connsiteX6" fmla="*/ 0 w 606022"/>
                  <a:gd name="connsiteY6" fmla="*/ 962224 h 1086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6022" h="1086596">
                    <a:moveTo>
                      <a:pt x="0" y="0"/>
                    </a:moveTo>
                    <a:lnTo>
                      <a:pt x="606021" y="0"/>
                    </a:lnTo>
                    <a:lnTo>
                      <a:pt x="606021" y="962220"/>
                    </a:lnTo>
                    <a:lnTo>
                      <a:pt x="606022" y="962224"/>
                    </a:lnTo>
                    <a:cubicBezTo>
                      <a:pt x="606022" y="1030913"/>
                      <a:pt x="470480" y="1086596"/>
                      <a:pt x="303281" y="1086596"/>
                    </a:cubicBezTo>
                    <a:cubicBezTo>
                      <a:pt x="136082" y="1086596"/>
                      <a:pt x="540" y="1030913"/>
                      <a:pt x="540" y="962224"/>
                    </a:cubicBezTo>
                    <a:lnTo>
                      <a:pt x="0" y="96222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Ellipse 91"/>
              <p:cNvSpPr/>
              <p:nvPr/>
            </p:nvSpPr>
            <p:spPr>
              <a:xfrm>
                <a:off x="1742303" y="4564994"/>
                <a:ext cx="605481" cy="248743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1" name="Groupe 110"/>
            <p:cNvGrpSpPr/>
            <p:nvPr/>
          </p:nvGrpSpPr>
          <p:grpSpPr>
            <a:xfrm>
              <a:off x="2495018" y="5393154"/>
              <a:ext cx="586841" cy="443030"/>
              <a:chOff x="2495018" y="5393154"/>
              <a:chExt cx="586841" cy="443030"/>
            </a:xfrm>
          </p:grpSpPr>
          <p:sp>
            <p:nvSpPr>
              <p:cNvPr id="110" name="Forme libre 109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Ellipse 88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12" name="Groupe 111"/>
            <p:cNvGrpSpPr/>
            <p:nvPr/>
          </p:nvGrpSpPr>
          <p:grpSpPr>
            <a:xfrm>
              <a:off x="2495369" y="4779754"/>
              <a:ext cx="586841" cy="443030"/>
              <a:chOff x="2495018" y="5393154"/>
              <a:chExt cx="586841" cy="443030"/>
            </a:xfrm>
          </p:grpSpPr>
          <p:sp>
            <p:nvSpPr>
              <p:cNvPr id="113" name="Forme libre 112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4" name="Ellipse 113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19" name="Connecteur droit 118"/>
            <p:cNvCxnSpPr/>
            <p:nvPr/>
          </p:nvCxnSpPr>
          <p:spPr>
            <a:xfrm flipV="1">
              <a:off x="2798844" y="5768809"/>
              <a:ext cx="0" cy="189696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necteur droit 121"/>
            <p:cNvCxnSpPr/>
            <p:nvPr/>
          </p:nvCxnSpPr>
          <p:spPr>
            <a:xfrm flipH="1" flipV="1">
              <a:off x="2936629" y="5693577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eur droit 125"/>
            <p:cNvCxnSpPr/>
            <p:nvPr/>
          </p:nvCxnSpPr>
          <p:spPr>
            <a:xfrm flipV="1">
              <a:off x="3136628" y="5438774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Connecteur droit 127"/>
            <p:cNvCxnSpPr/>
            <p:nvPr/>
          </p:nvCxnSpPr>
          <p:spPr>
            <a:xfrm flipH="1" flipV="1">
              <a:off x="2543710" y="5081841"/>
              <a:ext cx="596589" cy="367811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137"/>
            <p:cNvCxnSpPr/>
            <p:nvPr/>
          </p:nvCxnSpPr>
          <p:spPr>
            <a:xfrm flipH="1" flipV="1">
              <a:off x="2550785" y="4214492"/>
              <a:ext cx="3837" cy="25426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eur droit 138"/>
            <p:cNvCxnSpPr/>
            <p:nvPr/>
          </p:nvCxnSpPr>
          <p:spPr>
            <a:xfrm flipH="1" flipV="1">
              <a:off x="2943704" y="5081436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eur droit 139"/>
            <p:cNvCxnSpPr/>
            <p:nvPr/>
          </p:nvCxnSpPr>
          <p:spPr>
            <a:xfrm flipV="1">
              <a:off x="3143703" y="4826633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eur droit 140"/>
            <p:cNvCxnSpPr/>
            <p:nvPr/>
          </p:nvCxnSpPr>
          <p:spPr>
            <a:xfrm flipH="1" flipV="1">
              <a:off x="2550785" y="4469700"/>
              <a:ext cx="596589" cy="367811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Groupe 114"/>
            <p:cNvGrpSpPr/>
            <p:nvPr/>
          </p:nvGrpSpPr>
          <p:grpSpPr>
            <a:xfrm>
              <a:off x="2495960" y="4173462"/>
              <a:ext cx="586841" cy="443030"/>
              <a:chOff x="2495018" y="5393154"/>
              <a:chExt cx="586841" cy="443030"/>
            </a:xfrm>
          </p:grpSpPr>
          <p:sp>
            <p:nvSpPr>
              <p:cNvPr id="116" name="Forme libre 115"/>
              <p:cNvSpPr/>
              <p:nvPr/>
            </p:nvSpPr>
            <p:spPr>
              <a:xfrm rot="7297481">
                <a:off x="2580598" y="5307574"/>
                <a:ext cx="313170" cy="484329"/>
              </a:xfrm>
              <a:custGeom>
                <a:avLst/>
                <a:gdLst>
                  <a:gd name="connsiteX0" fmla="*/ 16175 w 313170"/>
                  <a:gd name="connsiteY0" fmla="*/ 411972 h 484329"/>
                  <a:gd name="connsiteX1" fmla="*/ 450 w 313170"/>
                  <a:gd name="connsiteY1" fmla="*/ 360835 h 484329"/>
                  <a:gd name="connsiteX2" fmla="*/ 2409 w 313170"/>
                  <a:gd name="connsiteY2" fmla="*/ 349102 h 484329"/>
                  <a:gd name="connsiteX3" fmla="*/ 279 w 313170"/>
                  <a:gd name="connsiteY3" fmla="*/ 346086 h 484329"/>
                  <a:gd name="connsiteX4" fmla="*/ 0 w 313170"/>
                  <a:gd name="connsiteY4" fmla="*/ 346086 h 484329"/>
                  <a:gd name="connsiteX5" fmla="*/ 0 w 313170"/>
                  <a:gd name="connsiteY5" fmla="*/ 0 h 484329"/>
                  <a:gd name="connsiteX6" fmla="*/ 313170 w 313170"/>
                  <a:gd name="connsiteY6" fmla="*/ 0 h 484329"/>
                  <a:gd name="connsiteX7" fmla="*/ 313169 w 313170"/>
                  <a:gd name="connsiteY7" fmla="*/ 346084 h 484329"/>
                  <a:gd name="connsiteX8" fmla="*/ 313170 w 313170"/>
                  <a:gd name="connsiteY8" fmla="*/ 346086 h 484329"/>
                  <a:gd name="connsiteX9" fmla="*/ 311170 w 313170"/>
                  <a:gd name="connsiteY9" fmla="*/ 348919 h 484329"/>
                  <a:gd name="connsiteX10" fmla="*/ 303840 w 313170"/>
                  <a:gd name="connsiteY10" fmla="*/ 392826 h 484329"/>
                  <a:gd name="connsiteX11" fmla="*/ 165434 w 313170"/>
                  <a:gd name="connsiteY11" fmla="*/ 483919 h 484329"/>
                  <a:gd name="connsiteX12" fmla="*/ 16175 w 313170"/>
                  <a:gd name="connsiteY12" fmla="*/ 411972 h 48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3170" h="484329">
                    <a:moveTo>
                      <a:pt x="16175" y="411972"/>
                    </a:moveTo>
                    <a:cubicBezTo>
                      <a:pt x="7213" y="396530"/>
                      <a:pt x="1677" y="379264"/>
                      <a:pt x="450" y="360835"/>
                    </a:cubicBezTo>
                    <a:lnTo>
                      <a:pt x="2409" y="349102"/>
                    </a:lnTo>
                    <a:lnTo>
                      <a:pt x="279" y="346086"/>
                    </a:lnTo>
                    <a:lnTo>
                      <a:pt x="0" y="346086"/>
                    </a:lnTo>
                    <a:lnTo>
                      <a:pt x="0" y="0"/>
                    </a:lnTo>
                    <a:lnTo>
                      <a:pt x="313170" y="0"/>
                    </a:lnTo>
                    <a:lnTo>
                      <a:pt x="313169" y="346084"/>
                    </a:lnTo>
                    <a:lnTo>
                      <a:pt x="313170" y="346086"/>
                    </a:lnTo>
                    <a:lnTo>
                      <a:pt x="311170" y="348919"/>
                    </a:lnTo>
                    <a:lnTo>
                      <a:pt x="303840" y="392826"/>
                    </a:lnTo>
                    <a:cubicBezTo>
                      <a:pt x="283331" y="442309"/>
                      <a:pt x="230092" y="479615"/>
                      <a:pt x="165434" y="483919"/>
                    </a:cubicBezTo>
                    <a:cubicBezTo>
                      <a:pt x="100775" y="488222"/>
                      <a:pt x="43061" y="458301"/>
                      <a:pt x="16175" y="411972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7" name="Ellipse 116"/>
              <p:cNvSpPr/>
              <p:nvPr/>
            </p:nvSpPr>
            <p:spPr>
              <a:xfrm rot="7069010">
                <a:off x="2791646" y="5545970"/>
                <a:ext cx="312890" cy="26753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45" name="Connecteur droit 144"/>
            <p:cNvCxnSpPr>
              <a:endCxn id="91" idx="4"/>
            </p:cNvCxnSpPr>
            <p:nvPr/>
          </p:nvCxnSpPr>
          <p:spPr>
            <a:xfrm flipV="1">
              <a:off x="2765892" y="3909797"/>
              <a:ext cx="139" cy="92776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eur droit 145"/>
            <p:cNvCxnSpPr/>
            <p:nvPr/>
          </p:nvCxnSpPr>
          <p:spPr>
            <a:xfrm flipH="1" flipV="1">
              <a:off x="2942589" y="4476342"/>
              <a:ext cx="202380" cy="1247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146"/>
            <p:cNvCxnSpPr/>
            <p:nvPr/>
          </p:nvCxnSpPr>
          <p:spPr>
            <a:xfrm flipV="1">
              <a:off x="3142588" y="4221539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eur droit 147"/>
            <p:cNvCxnSpPr/>
            <p:nvPr/>
          </p:nvCxnSpPr>
          <p:spPr>
            <a:xfrm flipH="1" flipV="1">
              <a:off x="2762054" y="3995546"/>
              <a:ext cx="384206" cy="236872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eur droit 150"/>
            <p:cNvCxnSpPr/>
            <p:nvPr/>
          </p:nvCxnSpPr>
          <p:spPr>
            <a:xfrm flipV="1">
              <a:off x="2762054" y="2967495"/>
              <a:ext cx="0" cy="380789"/>
            </a:xfrm>
            <a:prstGeom prst="line">
              <a:avLst/>
            </a:prstGeom>
            <a:ln w="12700">
              <a:solidFill>
                <a:srgbClr val="41719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Groupe 165"/>
          <p:cNvGrpSpPr/>
          <p:nvPr/>
        </p:nvGrpSpPr>
        <p:grpSpPr>
          <a:xfrm>
            <a:off x="2141805" y="5790868"/>
            <a:ext cx="859188" cy="910433"/>
            <a:chOff x="1494846" y="5893745"/>
            <a:chExt cx="859188" cy="910433"/>
          </a:xfrm>
        </p:grpSpPr>
        <p:cxnSp>
          <p:nvCxnSpPr>
            <p:cNvPr id="153" name="Connecteur droit avec flèche 152"/>
            <p:cNvCxnSpPr/>
            <p:nvPr/>
          </p:nvCxnSpPr>
          <p:spPr>
            <a:xfrm>
              <a:off x="1854303" y="6420848"/>
              <a:ext cx="499731" cy="295393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eur droit avec flèche 154"/>
            <p:cNvCxnSpPr/>
            <p:nvPr/>
          </p:nvCxnSpPr>
          <p:spPr>
            <a:xfrm flipH="1" flipV="1">
              <a:off x="1854303" y="5893745"/>
              <a:ext cx="3888" cy="521878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eur droit avec flèche 161"/>
            <p:cNvCxnSpPr/>
            <p:nvPr/>
          </p:nvCxnSpPr>
          <p:spPr>
            <a:xfrm flipH="1">
              <a:off x="1494846" y="6423065"/>
              <a:ext cx="361833" cy="381113"/>
            </a:xfrm>
            <a:prstGeom prst="straightConnector1">
              <a:avLst/>
            </a:prstGeom>
            <a:ln w="1270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ZoneTexte 166"/>
          <p:cNvSpPr txBox="1"/>
          <p:nvPr/>
        </p:nvSpPr>
        <p:spPr>
          <a:xfrm>
            <a:off x="2468605" y="5495995"/>
            <a:ext cx="266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z</a:t>
            </a:r>
            <a:endParaRPr lang="fr-FR" dirty="0"/>
          </a:p>
        </p:txBody>
      </p:sp>
      <p:sp>
        <p:nvSpPr>
          <p:cNvPr id="168" name="ZoneTexte 167"/>
          <p:cNvSpPr txBox="1"/>
          <p:nvPr/>
        </p:nvSpPr>
        <p:spPr>
          <a:xfrm>
            <a:off x="1766879" y="6510744"/>
            <a:ext cx="2728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x</a:t>
            </a:r>
            <a:endParaRPr lang="fr-FR" dirty="0"/>
          </a:p>
        </p:txBody>
      </p:sp>
      <p:sp>
        <p:nvSpPr>
          <p:cNvPr id="169" name="ZoneTexte 168"/>
          <p:cNvSpPr txBox="1"/>
          <p:nvPr/>
        </p:nvSpPr>
        <p:spPr>
          <a:xfrm>
            <a:off x="2935962" y="6532024"/>
            <a:ext cx="45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y</a:t>
            </a:r>
            <a:endParaRPr lang="fr-FR" dirty="0"/>
          </a:p>
        </p:txBody>
      </p:sp>
      <p:cxnSp>
        <p:nvCxnSpPr>
          <p:cNvPr id="171" name="Connecteur droit avec flèche 170"/>
          <p:cNvCxnSpPr/>
          <p:nvPr/>
        </p:nvCxnSpPr>
        <p:spPr>
          <a:xfrm>
            <a:off x="972772" y="5067481"/>
            <a:ext cx="0" cy="883198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eur droit avec flèche 171"/>
          <p:cNvCxnSpPr/>
          <p:nvPr/>
        </p:nvCxnSpPr>
        <p:spPr>
          <a:xfrm>
            <a:off x="971426" y="4438349"/>
            <a:ext cx="0" cy="47864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/>
          <p:cNvCxnSpPr/>
          <p:nvPr/>
        </p:nvCxnSpPr>
        <p:spPr>
          <a:xfrm>
            <a:off x="971426" y="2844961"/>
            <a:ext cx="0" cy="968234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eur droit avec flèche 174"/>
          <p:cNvCxnSpPr/>
          <p:nvPr/>
        </p:nvCxnSpPr>
        <p:spPr>
          <a:xfrm>
            <a:off x="971426" y="2414866"/>
            <a:ext cx="0" cy="430095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eur droit avec flèche 179"/>
          <p:cNvCxnSpPr/>
          <p:nvPr/>
        </p:nvCxnSpPr>
        <p:spPr>
          <a:xfrm flipV="1">
            <a:off x="1473346" y="4916995"/>
            <a:ext cx="0" cy="106425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81"/>
          <p:cNvCxnSpPr/>
          <p:nvPr/>
        </p:nvCxnSpPr>
        <p:spPr>
          <a:xfrm>
            <a:off x="1031991" y="5092097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eur droit avec flèche 183"/>
          <p:cNvCxnSpPr/>
          <p:nvPr/>
        </p:nvCxnSpPr>
        <p:spPr>
          <a:xfrm>
            <a:off x="1025133" y="4496572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84"/>
          <p:cNvCxnSpPr/>
          <p:nvPr/>
        </p:nvCxnSpPr>
        <p:spPr>
          <a:xfrm>
            <a:off x="1026745" y="3870070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eur droit avec flèche 185"/>
          <p:cNvCxnSpPr/>
          <p:nvPr/>
        </p:nvCxnSpPr>
        <p:spPr>
          <a:xfrm flipV="1">
            <a:off x="1449143" y="2865059"/>
            <a:ext cx="0" cy="2873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avec flèche 188"/>
          <p:cNvCxnSpPr/>
          <p:nvPr/>
        </p:nvCxnSpPr>
        <p:spPr>
          <a:xfrm flipV="1">
            <a:off x="1255700" y="5207455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4" name="Tableau 1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638849"/>
                  </p:ext>
                </p:extLst>
              </p:nvPr>
            </p:nvGraphicFramePr>
            <p:xfrm>
              <a:off x="2863679" y="3269248"/>
              <a:ext cx="4164730" cy="2608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970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783426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495300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124673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</a:tblGrid>
                  <a:tr h="37261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Joint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l-GR" b="0" i="1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oMath>
                            </m:oMathPara>
                          </a14:m>
                          <a:endParaRPr lang="fr-FR" b="0" dirty="0" smtClean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3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60837448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4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0436622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6605535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fr-F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fr-F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fr-FR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93702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4" name="Tableau 19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638849"/>
                  </p:ext>
                </p:extLst>
              </p:nvPr>
            </p:nvGraphicFramePr>
            <p:xfrm>
              <a:off x="2863679" y="3269248"/>
              <a:ext cx="4164730" cy="26082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970">
                      <a:extLst>
                        <a:ext uri="{9D8B030D-6E8A-4147-A177-3AD203B41FA5}">
                          <a16:colId xmlns:a16="http://schemas.microsoft.com/office/drawing/2014/main" val="2777429629"/>
                        </a:ext>
                      </a:extLst>
                    </a:gridCol>
                    <a:gridCol w="783426">
                      <a:extLst>
                        <a:ext uri="{9D8B030D-6E8A-4147-A177-3AD203B41FA5}">
                          <a16:colId xmlns:a16="http://schemas.microsoft.com/office/drawing/2014/main" val="161115270"/>
                        </a:ext>
                      </a:extLst>
                    </a:gridCol>
                    <a:gridCol w="495300">
                      <a:extLst>
                        <a:ext uri="{9D8B030D-6E8A-4147-A177-3AD203B41FA5}">
                          <a16:colId xmlns:a16="http://schemas.microsoft.com/office/drawing/2014/main" val="2217215394"/>
                        </a:ext>
                      </a:extLst>
                    </a:gridCol>
                    <a:gridCol w="876300">
                      <a:extLst>
                        <a:ext uri="{9D8B030D-6E8A-4147-A177-3AD203B41FA5}">
                          <a16:colId xmlns:a16="http://schemas.microsoft.com/office/drawing/2014/main" val="1365723945"/>
                        </a:ext>
                      </a:extLst>
                    </a:gridCol>
                    <a:gridCol w="1246734">
                      <a:extLst>
                        <a:ext uri="{9D8B030D-6E8A-4147-A177-3AD203B41FA5}">
                          <a16:colId xmlns:a16="http://schemas.microsoft.com/office/drawing/2014/main" val="2994292916"/>
                        </a:ext>
                      </a:extLst>
                    </a:gridCol>
                  </a:tblGrid>
                  <a:tr h="372612">
                    <a:tc>
                      <a:txBody>
                        <a:bodyPr/>
                        <a:lstStyle/>
                        <a:p>
                          <a:r>
                            <a:rPr lang="fr-FR" dirty="0" smtClean="0"/>
                            <a:t>Joint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8197" r="-337209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8197" r="-437037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8197" r="-145833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8197" r="-2439" b="-6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2675504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1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106452" r="-337209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106452" r="-437037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106452" r="-145833" b="-5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106452" r="-2439" b="-5161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8526770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2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209836" r="-33720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209836" r="-437037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209836" r="-14583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209836" r="-243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13729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3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309836" r="-33720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309836" r="-43703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309836" r="-14583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309836" r="-2439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0837448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4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409836" r="-33720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409836" r="-43703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409836" r="-145833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409836" r="-2439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0436622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5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501613" r="-337209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501613" r="-437037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501613" r="-145833" b="-1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501613" r="-2439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605535"/>
                      </a:ext>
                    </a:extLst>
                  </a:tr>
                  <a:tr h="3726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/>
                            <a:t>EE</a:t>
                          </a:r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97674" t="-611475" r="-33720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314815" t="-611475" r="-437037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3333" t="-611475" r="-145833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14"/>
                          <a:stretch>
                            <a:fillRect l="-234146" t="-611475" r="-243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37020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95" name="Connecteur droit avec flèche 194"/>
          <p:cNvCxnSpPr/>
          <p:nvPr/>
        </p:nvCxnSpPr>
        <p:spPr>
          <a:xfrm>
            <a:off x="126629" y="6103381"/>
            <a:ext cx="236909" cy="1427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/>
          <p:cNvCxnSpPr/>
          <p:nvPr/>
        </p:nvCxnSpPr>
        <p:spPr>
          <a:xfrm>
            <a:off x="126628" y="6276435"/>
            <a:ext cx="236909" cy="14270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ZoneTexte 198"/>
              <p:cNvSpPr txBox="1"/>
              <p:nvPr/>
            </p:nvSpPr>
            <p:spPr>
              <a:xfrm>
                <a:off x="323697" y="6020844"/>
                <a:ext cx="3653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9" name="ZoneTexte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7" y="6020844"/>
                <a:ext cx="36535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ZoneTexte 200"/>
              <p:cNvSpPr txBox="1"/>
              <p:nvPr/>
            </p:nvSpPr>
            <p:spPr>
              <a:xfrm>
                <a:off x="323697" y="6193898"/>
                <a:ext cx="3776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1" name="ZoneTexte 2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97" y="6193898"/>
                <a:ext cx="377603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Connecteur droit avec flèche 201"/>
          <p:cNvCxnSpPr/>
          <p:nvPr/>
        </p:nvCxnSpPr>
        <p:spPr>
          <a:xfrm flipH="1">
            <a:off x="1806603" y="6140684"/>
            <a:ext cx="385900" cy="37827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avec flèche 205"/>
          <p:cNvCxnSpPr/>
          <p:nvPr/>
        </p:nvCxnSpPr>
        <p:spPr>
          <a:xfrm>
            <a:off x="972772" y="5967931"/>
            <a:ext cx="0" cy="32575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209"/>
          <p:cNvCxnSpPr/>
          <p:nvPr/>
        </p:nvCxnSpPr>
        <p:spPr>
          <a:xfrm flipH="1">
            <a:off x="972772" y="6310708"/>
            <a:ext cx="1616888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eur droit 210"/>
          <p:cNvCxnSpPr/>
          <p:nvPr/>
        </p:nvCxnSpPr>
        <p:spPr>
          <a:xfrm flipH="1" flipV="1">
            <a:off x="1459319" y="630326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ZoneTexte 214"/>
              <p:cNvSpPr txBox="1"/>
              <p:nvPr/>
            </p:nvSpPr>
            <p:spPr>
              <a:xfrm>
                <a:off x="1709504" y="5910066"/>
                <a:ext cx="7432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sz="14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15" name="ZoneTexte 2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04" y="5910066"/>
                <a:ext cx="743280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Connecteur droit avec flèche 215"/>
          <p:cNvCxnSpPr/>
          <p:nvPr/>
        </p:nvCxnSpPr>
        <p:spPr>
          <a:xfrm flipV="1">
            <a:off x="1235822" y="3130146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avec flèche 217"/>
          <p:cNvCxnSpPr/>
          <p:nvPr/>
        </p:nvCxnSpPr>
        <p:spPr>
          <a:xfrm flipV="1">
            <a:off x="1264072" y="4362989"/>
            <a:ext cx="0" cy="28730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cteur droit avec flèche 218"/>
          <p:cNvCxnSpPr/>
          <p:nvPr/>
        </p:nvCxnSpPr>
        <p:spPr>
          <a:xfrm flipV="1">
            <a:off x="1268900" y="4932973"/>
            <a:ext cx="0" cy="304392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ZoneTexte 219"/>
              <p:cNvSpPr txBox="1"/>
              <p:nvPr/>
            </p:nvSpPr>
            <p:spPr>
              <a:xfrm>
                <a:off x="608265" y="5944815"/>
                <a:ext cx="4206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0" name="ZoneTexte 2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5" y="5944815"/>
                <a:ext cx="420628" cy="33855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1" name="Connecteur droit 220"/>
          <p:cNvCxnSpPr/>
          <p:nvPr/>
        </p:nvCxnSpPr>
        <p:spPr>
          <a:xfrm flipH="1" flipV="1">
            <a:off x="911076" y="5032426"/>
            <a:ext cx="950956" cy="609254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/>
          <p:cNvCxnSpPr/>
          <p:nvPr/>
        </p:nvCxnSpPr>
        <p:spPr>
          <a:xfrm flipH="1" flipV="1">
            <a:off x="1015513" y="4925050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eur droit avec flèche 222"/>
          <p:cNvCxnSpPr/>
          <p:nvPr/>
        </p:nvCxnSpPr>
        <p:spPr>
          <a:xfrm flipH="1">
            <a:off x="902782" y="4936036"/>
            <a:ext cx="140519" cy="137741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ZoneTexte 225"/>
              <p:cNvSpPr txBox="1"/>
              <p:nvPr/>
            </p:nvSpPr>
            <p:spPr>
              <a:xfrm>
                <a:off x="158967" y="4656449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6" name="ZoneTexte 2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67" y="4656449"/>
                <a:ext cx="444865" cy="33855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ZoneTexte 226"/>
              <p:cNvSpPr txBox="1"/>
              <p:nvPr/>
            </p:nvSpPr>
            <p:spPr>
              <a:xfrm>
                <a:off x="627596" y="5290902"/>
                <a:ext cx="4014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27" name="ZoneTexte 2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96" y="5290902"/>
                <a:ext cx="40145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Connecteur droit avec flèche 228"/>
          <p:cNvCxnSpPr/>
          <p:nvPr/>
        </p:nvCxnSpPr>
        <p:spPr>
          <a:xfrm flipV="1">
            <a:off x="1259634" y="5974547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Rectangle 230"/>
              <p:cNvSpPr/>
              <p:nvPr/>
            </p:nvSpPr>
            <p:spPr>
              <a:xfrm>
                <a:off x="1469947" y="5010265"/>
                <a:ext cx="41569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1" name="Rectangle 2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947" y="5010265"/>
                <a:ext cx="415690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Rectangle 231"/>
              <p:cNvSpPr/>
              <p:nvPr/>
            </p:nvSpPr>
            <p:spPr>
              <a:xfrm>
                <a:off x="865945" y="5150091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2" name="Rectangle 2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45" y="5150091"/>
                <a:ext cx="419859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Rectangle 232"/>
              <p:cNvSpPr/>
              <p:nvPr/>
            </p:nvSpPr>
            <p:spPr>
              <a:xfrm>
                <a:off x="1178505" y="4430084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3" name="Rectangle 2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505" y="4430084"/>
                <a:ext cx="419859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Rectangle 233"/>
              <p:cNvSpPr/>
              <p:nvPr/>
            </p:nvSpPr>
            <p:spPr>
              <a:xfrm>
                <a:off x="1188981" y="3840789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4" name="Rectangle 2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981" y="3840789"/>
                <a:ext cx="41985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Rectangle 234"/>
              <p:cNvSpPr/>
              <p:nvPr/>
            </p:nvSpPr>
            <p:spPr>
              <a:xfrm>
                <a:off x="1485042" y="2891173"/>
                <a:ext cx="419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𝒪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5" name="Rectangle 2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042" y="2891173"/>
                <a:ext cx="41985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7" name="Connecteur droit 236"/>
          <p:cNvCxnSpPr/>
          <p:nvPr/>
        </p:nvCxnSpPr>
        <p:spPr>
          <a:xfrm flipH="1" flipV="1">
            <a:off x="885411" y="439142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necteur droit 237"/>
          <p:cNvCxnSpPr/>
          <p:nvPr/>
        </p:nvCxnSpPr>
        <p:spPr>
          <a:xfrm flipH="1" flipV="1">
            <a:off x="886951" y="3773662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avec flèche 240"/>
          <p:cNvCxnSpPr/>
          <p:nvPr/>
        </p:nvCxnSpPr>
        <p:spPr>
          <a:xfrm>
            <a:off x="971426" y="3828739"/>
            <a:ext cx="0" cy="608224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ZoneTexte 241"/>
              <p:cNvSpPr txBox="1"/>
              <p:nvPr/>
            </p:nvSpPr>
            <p:spPr>
              <a:xfrm>
                <a:off x="576870" y="4454640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2" name="ZoneTexte 2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70" y="4454640"/>
                <a:ext cx="444865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3" name="ZoneTexte 242"/>
              <p:cNvSpPr txBox="1"/>
              <p:nvPr/>
            </p:nvSpPr>
            <p:spPr>
              <a:xfrm>
                <a:off x="608265" y="3947818"/>
                <a:ext cx="4448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3" name="ZoneTexte 2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65" y="3947818"/>
                <a:ext cx="44486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4" name="Connecteur droit 243"/>
          <p:cNvCxnSpPr/>
          <p:nvPr/>
        </p:nvCxnSpPr>
        <p:spPr>
          <a:xfrm flipH="1" flipV="1">
            <a:off x="906187" y="2811280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245"/>
          <p:cNvCxnSpPr/>
          <p:nvPr/>
        </p:nvCxnSpPr>
        <p:spPr>
          <a:xfrm flipH="1" flipV="1">
            <a:off x="933485" y="2419983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ZoneTexte 247"/>
              <p:cNvSpPr txBox="1"/>
              <p:nvPr/>
            </p:nvSpPr>
            <p:spPr>
              <a:xfrm>
                <a:off x="578789" y="3168041"/>
                <a:ext cx="4014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8" name="ZoneTexte 2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9" y="3168041"/>
                <a:ext cx="401457" cy="3385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ZoneTexte 248"/>
              <p:cNvSpPr txBox="1"/>
              <p:nvPr/>
            </p:nvSpPr>
            <p:spPr>
              <a:xfrm>
                <a:off x="558709" y="2463623"/>
                <a:ext cx="38972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fr-FR" sz="1600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249" name="ZoneTexte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09" y="2463623"/>
                <a:ext cx="389722" cy="338554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0" name="Ellipse 249"/>
          <p:cNvSpPr/>
          <p:nvPr/>
        </p:nvSpPr>
        <p:spPr>
          <a:xfrm>
            <a:off x="1399138" y="2681969"/>
            <a:ext cx="107944" cy="1079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1" name="ZoneTexte 250"/>
          <p:cNvSpPr txBox="1"/>
          <p:nvPr/>
        </p:nvSpPr>
        <p:spPr>
          <a:xfrm>
            <a:off x="2927451" y="2957384"/>
            <a:ext cx="38851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/>
              <a:t>Denavit</a:t>
            </a:r>
            <a:r>
              <a:rPr lang="fr-FR" sz="1400" dirty="0" smtClean="0"/>
              <a:t> </a:t>
            </a:r>
            <a:r>
              <a:rPr lang="fr-FR" sz="1400" dirty="0" err="1" smtClean="0"/>
              <a:t>Hartenberg</a:t>
            </a:r>
            <a:r>
              <a:rPr lang="fr-FR" sz="1400" dirty="0" smtClean="0"/>
              <a:t> </a:t>
            </a:r>
            <a:r>
              <a:rPr lang="fr-FR" sz="1400" dirty="0" err="1" smtClean="0"/>
              <a:t>parameters</a:t>
            </a:r>
            <a:r>
              <a:rPr lang="fr-FR" sz="1400" dirty="0" smtClean="0"/>
              <a:t>, in Khalil - Kl. </a:t>
            </a:r>
            <a:r>
              <a:rPr lang="fr-FR" sz="1400" dirty="0" err="1" smtClean="0"/>
              <a:t>conv</a:t>
            </a:r>
            <a:r>
              <a:rPr lang="fr-FR" sz="1400" dirty="0" smtClean="0"/>
              <a:t>.</a:t>
            </a:r>
            <a:endParaRPr lang="fr-FR" sz="1400" dirty="0"/>
          </a:p>
        </p:txBody>
      </p:sp>
      <p:cxnSp>
        <p:nvCxnSpPr>
          <p:cNvPr id="252" name="Connecteur droit avec flèche 251"/>
          <p:cNvCxnSpPr/>
          <p:nvPr/>
        </p:nvCxnSpPr>
        <p:spPr>
          <a:xfrm flipV="1">
            <a:off x="1039870" y="4006283"/>
            <a:ext cx="216704" cy="22825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Connecteur droit 252"/>
          <p:cNvCxnSpPr/>
          <p:nvPr/>
        </p:nvCxnSpPr>
        <p:spPr>
          <a:xfrm flipH="1">
            <a:off x="933485" y="5976172"/>
            <a:ext cx="1559457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necteur droit avec flèche 265"/>
          <p:cNvCxnSpPr/>
          <p:nvPr/>
        </p:nvCxnSpPr>
        <p:spPr>
          <a:xfrm flipH="1">
            <a:off x="9321262" y="5602052"/>
            <a:ext cx="224285" cy="0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Rectangle 269"/>
              <p:cNvSpPr/>
              <p:nvPr/>
            </p:nvSpPr>
            <p:spPr>
              <a:xfrm>
                <a:off x="9309596" y="5282842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0" name="Rectangle 2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596" y="5282842"/>
                <a:ext cx="411716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Connecteur droit avec flèche 270"/>
          <p:cNvCxnSpPr/>
          <p:nvPr/>
        </p:nvCxnSpPr>
        <p:spPr>
          <a:xfrm>
            <a:off x="10420907" y="5590619"/>
            <a:ext cx="0" cy="1199315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Rectangle 273"/>
              <p:cNvSpPr/>
              <p:nvPr/>
            </p:nvSpPr>
            <p:spPr>
              <a:xfrm>
                <a:off x="10373957" y="5731135"/>
                <a:ext cx="74796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4" name="Rectangle 2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957" y="5731135"/>
                <a:ext cx="747961" cy="30777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5" name="Connecteur droit avec flèche 274"/>
          <p:cNvCxnSpPr/>
          <p:nvPr/>
        </p:nvCxnSpPr>
        <p:spPr>
          <a:xfrm>
            <a:off x="10423626" y="3506595"/>
            <a:ext cx="0" cy="2074457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necteur droit 276"/>
          <p:cNvCxnSpPr/>
          <p:nvPr/>
        </p:nvCxnSpPr>
        <p:spPr>
          <a:xfrm flipH="1">
            <a:off x="9334925" y="5602052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eur droit 279"/>
          <p:cNvCxnSpPr/>
          <p:nvPr/>
        </p:nvCxnSpPr>
        <p:spPr>
          <a:xfrm flipH="1">
            <a:off x="9334925" y="3491874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droit 280"/>
          <p:cNvCxnSpPr/>
          <p:nvPr/>
        </p:nvCxnSpPr>
        <p:spPr>
          <a:xfrm flipH="1">
            <a:off x="9357363" y="1649570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eur droit 281"/>
          <p:cNvCxnSpPr/>
          <p:nvPr/>
        </p:nvCxnSpPr>
        <p:spPr>
          <a:xfrm flipH="1">
            <a:off x="8792689" y="497386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eur droit avec flèche 282"/>
          <p:cNvCxnSpPr/>
          <p:nvPr/>
        </p:nvCxnSpPr>
        <p:spPr>
          <a:xfrm>
            <a:off x="10430432" y="1662896"/>
            <a:ext cx="0" cy="182897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Connecteur droit avec flèche 284"/>
          <p:cNvCxnSpPr/>
          <p:nvPr/>
        </p:nvCxnSpPr>
        <p:spPr>
          <a:xfrm>
            <a:off x="10430432" y="504025"/>
            <a:ext cx="0" cy="1145545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Rectangle 286"/>
              <p:cNvSpPr/>
              <p:nvPr/>
            </p:nvSpPr>
            <p:spPr>
              <a:xfrm>
                <a:off x="10438626" y="4460660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7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626" y="4460660"/>
                <a:ext cx="411716" cy="30777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Rectangle 287"/>
              <p:cNvSpPr/>
              <p:nvPr/>
            </p:nvSpPr>
            <p:spPr>
              <a:xfrm>
                <a:off x="10446085" y="2402898"/>
                <a:ext cx="41171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8" name="Rectangle 2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6085" y="2402898"/>
                <a:ext cx="411716" cy="30777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Rectangle 288"/>
              <p:cNvSpPr/>
              <p:nvPr/>
            </p:nvSpPr>
            <p:spPr>
              <a:xfrm>
                <a:off x="10443781" y="939009"/>
                <a:ext cx="372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89" name="Rectangle 2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3781" y="939009"/>
                <a:ext cx="372731" cy="30777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Rectangle 289"/>
              <p:cNvSpPr/>
              <p:nvPr/>
            </p:nvSpPr>
            <p:spPr>
              <a:xfrm>
                <a:off x="10453930" y="81719"/>
                <a:ext cx="372731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0" name="Rectangle 2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930" y="81719"/>
                <a:ext cx="372731" cy="30777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1" name="Connecteur droit avec flèche 290"/>
          <p:cNvCxnSpPr/>
          <p:nvPr/>
        </p:nvCxnSpPr>
        <p:spPr>
          <a:xfrm flipV="1">
            <a:off x="10430432" y="29845"/>
            <a:ext cx="0" cy="462138"/>
          </a:xfrm>
          <a:prstGeom prst="straightConnector1">
            <a:avLst/>
          </a:prstGeom>
          <a:ln>
            <a:solidFill>
              <a:schemeClr val="bg2">
                <a:lumMod val="25000"/>
              </a:schemeClr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Connecteur droit 293"/>
          <p:cNvCxnSpPr/>
          <p:nvPr/>
        </p:nvCxnSpPr>
        <p:spPr>
          <a:xfrm flipH="1">
            <a:off x="9309596" y="24714"/>
            <a:ext cx="1246909" cy="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Connecteur droit 294"/>
          <p:cNvCxnSpPr/>
          <p:nvPr/>
        </p:nvCxnSpPr>
        <p:spPr>
          <a:xfrm flipV="1">
            <a:off x="9334310" y="5041604"/>
            <a:ext cx="0" cy="988750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0" name="ZoneTexte 299"/>
              <p:cNvSpPr txBox="1"/>
              <p:nvPr/>
            </p:nvSpPr>
            <p:spPr>
              <a:xfrm>
                <a:off x="4090029" y="6061053"/>
                <a:ext cx="157043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00" name="ZoneTexte 2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029" y="6061053"/>
                <a:ext cx="1570430" cy="307777"/>
              </a:xfrm>
              <a:prstGeom prst="rect">
                <a:avLst/>
              </a:prstGeom>
              <a:blipFill>
                <a:blip r:embed="rId3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0" name="Connecteur droit 309"/>
          <p:cNvCxnSpPr/>
          <p:nvPr/>
        </p:nvCxnSpPr>
        <p:spPr>
          <a:xfrm flipH="1" flipV="1">
            <a:off x="2103881" y="6058521"/>
            <a:ext cx="740322" cy="474306"/>
          </a:xfrm>
          <a:prstGeom prst="line">
            <a:avLst/>
          </a:prstGeom>
          <a:ln>
            <a:solidFill>
              <a:srgbClr val="3B3838">
                <a:alpha val="23922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eur en arc 327"/>
          <p:cNvCxnSpPr>
            <a:stCxn id="13" idx="2"/>
          </p:cNvCxnSpPr>
          <p:nvPr/>
        </p:nvCxnSpPr>
        <p:spPr>
          <a:xfrm rot="16200000" flipH="1">
            <a:off x="8289848" y="437927"/>
            <a:ext cx="572415" cy="1263187"/>
          </a:xfrm>
          <a:prstGeom prst="curvedConnector2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ZoneTexte 330"/>
          <p:cNvSpPr txBox="1"/>
          <p:nvPr/>
        </p:nvSpPr>
        <p:spPr>
          <a:xfrm>
            <a:off x="799302" y="284229"/>
            <a:ext cx="434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Denavit</a:t>
            </a:r>
            <a:r>
              <a:rPr lang="fr-FR" dirty="0" smtClean="0"/>
              <a:t> </a:t>
            </a:r>
            <a:r>
              <a:rPr lang="fr-FR" dirty="0" err="1" smtClean="0"/>
              <a:t>Hartenberg</a:t>
            </a:r>
            <a:r>
              <a:rPr lang="fr-FR" dirty="0" smtClean="0"/>
              <a:t> and </a:t>
            </a:r>
            <a:r>
              <a:rPr lang="fr-FR" dirty="0" err="1" smtClean="0"/>
              <a:t>youBot</a:t>
            </a:r>
            <a:r>
              <a:rPr lang="fr-FR" dirty="0" smtClean="0"/>
              <a:t> conventions</a:t>
            </a:r>
            <a:endParaRPr lang="fr-FR" dirty="0"/>
          </a:p>
        </p:txBody>
      </p:sp>
      <p:sp>
        <p:nvSpPr>
          <p:cNvPr id="332" name="Rectangle à coins arrondis 331"/>
          <p:cNvSpPr/>
          <p:nvPr/>
        </p:nvSpPr>
        <p:spPr>
          <a:xfrm>
            <a:off x="1497843" y="1205658"/>
            <a:ext cx="5530565" cy="346542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4" name="Connecteur en arc 333"/>
          <p:cNvCxnSpPr>
            <a:stCxn id="332" idx="3"/>
          </p:cNvCxnSpPr>
          <p:nvPr/>
        </p:nvCxnSpPr>
        <p:spPr>
          <a:xfrm>
            <a:off x="7028408" y="1378929"/>
            <a:ext cx="374395" cy="482523"/>
          </a:xfrm>
          <a:prstGeom prst="curvedConnector2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Rectangle 334"/>
              <p:cNvSpPr/>
              <p:nvPr/>
            </p:nvSpPr>
            <p:spPr>
              <a:xfrm>
                <a:off x="7112998" y="1828467"/>
                <a:ext cx="76771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35" name="Rectangle 3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998" y="1828467"/>
                <a:ext cx="767710" cy="307777"/>
              </a:xfrm>
              <a:prstGeom prst="rect">
                <a:avLst/>
              </a:prstGeom>
              <a:blipFill>
                <a:blip r:embed="rId3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ZoneTexte 159"/>
          <p:cNvSpPr txBox="1"/>
          <p:nvPr/>
        </p:nvSpPr>
        <p:spPr>
          <a:xfrm>
            <a:off x="3332036" y="6452747"/>
            <a:ext cx="30330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/>
              <a:t>* Dans la convention ROS, négatif aussi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84385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685800" y="411480"/>
            <a:ext cx="4137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smtClean="0"/>
              <a:t>Caractéristiques </a:t>
            </a:r>
            <a:r>
              <a:rPr lang="fr-FR" sz="3200" dirty="0" err="1" smtClean="0"/>
              <a:t>YouBot</a:t>
            </a:r>
            <a:endParaRPr lang="fr-FR" sz="3200" dirty="0"/>
          </a:p>
        </p:txBody>
      </p:sp>
      <p:sp>
        <p:nvSpPr>
          <p:cNvPr id="3" name="ZoneTexte 2"/>
          <p:cNvSpPr txBox="1"/>
          <p:nvPr/>
        </p:nvSpPr>
        <p:spPr>
          <a:xfrm>
            <a:off x="768096" y="1883664"/>
            <a:ext cx="385547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 smtClean="0"/>
              <a:t>Cinématique</a:t>
            </a:r>
          </a:p>
          <a:p>
            <a:r>
              <a:rPr lang="fr-FR" dirty="0" smtClean="0"/>
              <a:t>Répétabilité : 0,1mm</a:t>
            </a:r>
          </a:p>
          <a:p>
            <a:r>
              <a:rPr lang="fr-FR" dirty="0" smtClean="0"/>
              <a:t>Précision encodeur moteur : 4000/tour</a:t>
            </a:r>
          </a:p>
          <a:p>
            <a:r>
              <a:rPr lang="fr-FR" dirty="0"/>
              <a:t>	</a:t>
            </a:r>
            <a:r>
              <a:rPr lang="fr-FR" dirty="0" smtClean="0"/>
              <a:t>joint2 : 0,00058°</a:t>
            </a:r>
          </a:p>
          <a:p>
            <a:r>
              <a:rPr lang="fr-FR" dirty="0"/>
              <a:t>	</a:t>
            </a:r>
            <a:r>
              <a:rPr lang="fr-FR" dirty="0" smtClean="0"/>
              <a:t>joint3 : 0,0009°</a:t>
            </a:r>
          </a:p>
          <a:p>
            <a:r>
              <a:rPr lang="fr-FR" dirty="0"/>
              <a:t>	</a:t>
            </a:r>
            <a:r>
              <a:rPr lang="fr-FR" dirty="0" smtClean="0"/>
              <a:t>joint4 : 0,0013°</a:t>
            </a:r>
            <a:endParaRPr lang="fr-FR" dirty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u="sng" dirty="0" smtClean="0"/>
              <a:t>Communication</a:t>
            </a:r>
          </a:p>
          <a:p>
            <a:r>
              <a:rPr lang="fr-FR" dirty="0" smtClean="0"/>
              <a:t>Type : </a:t>
            </a:r>
            <a:r>
              <a:rPr lang="fr-FR" dirty="0" err="1" smtClean="0"/>
              <a:t>EtherCat</a:t>
            </a:r>
            <a:endParaRPr lang="fr-FR" dirty="0" smtClean="0"/>
          </a:p>
          <a:p>
            <a:r>
              <a:rPr lang="fr-FR" dirty="0" smtClean="0"/>
              <a:t>Délais : (</a:t>
            </a:r>
            <a:r>
              <a:rPr lang="fr-FR" dirty="0" err="1" smtClean="0"/>
              <a:t>jitter</a:t>
            </a:r>
            <a:r>
              <a:rPr lang="fr-FR" dirty="0" smtClean="0"/>
              <a:t>) 25 </a:t>
            </a:r>
            <a:r>
              <a:rPr lang="fr-FR" dirty="0" err="1" smtClean="0"/>
              <a:t>um</a:t>
            </a:r>
            <a:endParaRPr lang="fr-FR" dirty="0" smtClean="0"/>
          </a:p>
          <a:p>
            <a:r>
              <a:rPr lang="fr-FR" dirty="0" smtClean="0"/>
              <a:t>Durée cycle &lt; 1ms</a:t>
            </a:r>
          </a:p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926670"/>
                  </p:ext>
                </p:extLst>
              </p:nvPr>
            </p:nvGraphicFramePr>
            <p:xfrm>
              <a:off x="7642223" y="920448"/>
              <a:ext cx="298767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752">
                      <a:extLst>
                        <a:ext uri="{9D8B030D-6E8A-4147-A177-3AD203B41FA5}">
                          <a16:colId xmlns:a16="http://schemas.microsoft.com/office/drawing/2014/main" val="873511537"/>
                        </a:ext>
                      </a:extLst>
                    </a:gridCol>
                    <a:gridCol w="1685926">
                      <a:extLst>
                        <a:ext uri="{9D8B030D-6E8A-4147-A177-3AD203B41FA5}">
                          <a16:colId xmlns:a16="http://schemas.microsoft.com/office/drawing/2014/main" val="2744567911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fr-FR" sz="1600" dirty="0" smtClean="0"/>
                            <a:t>Table de conversion DH -&gt;</a:t>
                          </a:r>
                          <a:r>
                            <a:rPr lang="fr-FR" sz="1600" baseline="0" dirty="0" smtClean="0"/>
                            <a:t> KUKA</a:t>
                          </a:r>
                          <a:endParaRPr lang="fr-FR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820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−169°</m:t>
                              </m:r>
                            </m:oMath>
                          </a14:m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10389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−65°</m:t>
                              </m:r>
                            </m:oMath>
                          </a14:m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9716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+146°</m:t>
                              </m:r>
                            </m:oMath>
                          </a14:m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8278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−102,5°</m:t>
                              </m:r>
                            </m:oMath>
                          </a14:m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613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−167,5°</m:t>
                              </m:r>
                            </m:oMath>
                          </a14:m>
                          <a:r>
                            <a:rPr lang="fr-FR" dirty="0" smtClean="0"/>
                            <a:t> </a:t>
                          </a:r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64137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au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2926670"/>
                  </p:ext>
                </p:extLst>
              </p:nvPr>
            </p:nvGraphicFramePr>
            <p:xfrm>
              <a:off x="7642223" y="920448"/>
              <a:ext cx="298767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1752">
                      <a:extLst>
                        <a:ext uri="{9D8B030D-6E8A-4147-A177-3AD203B41FA5}">
                          <a16:colId xmlns:a16="http://schemas.microsoft.com/office/drawing/2014/main" val="873511537"/>
                        </a:ext>
                      </a:extLst>
                    </a:gridCol>
                    <a:gridCol w="1685926">
                      <a:extLst>
                        <a:ext uri="{9D8B030D-6E8A-4147-A177-3AD203B41FA5}">
                          <a16:colId xmlns:a16="http://schemas.microsoft.com/office/drawing/2014/main" val="2744567911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fr-FR" sz="1600" dirty="0" smtClean="0"/>
                            <a:t>Table de conversion DH -&gt;</a:t>
                          </a:r>
                          <a:r>
                            <a:rPr lang="fr-FR" sz="1600" baseline="0" dirty="0" smtClean="0"/>
                            <a:t> KUKA</a:t>
                          </a:r>
                          <a:endParaRPr lang="fr-FR" sz="16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958204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67" t="-103279" r="-131308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7617" t="-103279" r="-1444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10389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67" t="-203279" r="-131308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7617" t="-203279" r="-1444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9716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67" t="-303279" r="-131308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7617" t="-303279" r="-1444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82788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67" t="-403279" r="-131308" b="-1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7617" t="-403279" r="-1444" b="-1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613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67" t="-503279" r="-131308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77617" t="-503279" r="-1444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641376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5811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3595</TotalTime>
  <Words>897</Words>
  <Application>Microsoft Office PowerPoint</Application>
  <PresentationFormat>Grand écran</PresentationFormat>
  <Paragraphs>225</Paragraphs>
  <Slides>5</Slides>
  <Notes>2</Notes>
  <HiddenSlides>2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Supelec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Auto</dc:creator>
  <cp:lastModifiedBy>Auto</cp:lastModifiedBy>
  <cp:revision>59</cp:revision>
  <dcterms:created xsi:type="dcterms:W3CDTF">2019-12-04T12:57:08Z</dcterms:created>
  <dcterms:modified xsi:type="dcterms:W3CDTF">2020-12-08T19:57:28Z</dcterms:modified>
</cp:coreProperties>
</file>