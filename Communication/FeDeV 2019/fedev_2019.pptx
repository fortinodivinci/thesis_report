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Default Extension="mp4" ContentType="video/mp4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81" r:id="rId5"/>
    <p:sldId id="257" r:id="rId6"/>
    <p:sldId id="306" r:id="rId7"/>
    <p:sldId id="313" r:id="rId8"/>
    <p:sldId id="298" r:id="rId9"/>
    <p:sldId id="305" r:id="rId10"/>
    <p:sldId id="301" r:id="rId11"/>
    <p:sldId id="312" r:id="rId12"/>
    <p:sldId id="311" r:id="rId13"/>
    <p:sldId id="264" r:id="rId14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ommaire" id="{33EBCFC0-8855-44BE-B4B1-0783531F739C}">
          <p14:sldIdLst>
            <p14:sldId id="281"/>
          </p14:sldIdLst>
        </p14:section>
        <p14:section name="Introduction et contexte" id="{DBA27A2D-1081-4C0C-BE14-C74AB9BD1B9F}">
          <p14:sldIdLst>
            <p14:sldId id="257"/>
            <p14:sldId id="306"/>
          </p14:sldIdLst>
        </p14:section>
        <p14:section name="Impédance mécanique" id="{0020F0AD-628B-4F59-9135-45FF7C872F6F}">
          <p14:sldIdLst>
            <p14:sldId id="313"/>
            <p14:sldId id="298"/>
            <p14:sldId id="305"/>
          </p14:sldIdLst>
        </p14:section>
        <p14:section name="Experience" id="{0CCFC460-DE0E-49FF-BC6F-D679DC88C1C9}">
          <p14:sldIdLst>
            <p14:sldId id="301"/>
            <p14:sldId id="312"/>
            <p14:sldId id="311"/>
          </p14:sldIdLst>
        </p14:section>
        <p14:section name="Conclusion" id="{8F771AE5-5397-4531-943C-3B5C93A19186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pos="408" userDrawn="1">
          <p15:clr>
            <a:srgbClr val="A4A3A4"/>
          </p15:clr>
        </p15:guide>
        <p15:guide id="4" orient="horz" pos="432" userDrawn="1">
          <p15:clr>
            <a:srgbClr val="A4A3A4"/>
          </p15:clr>
        </p15:guide>
        <p15:guide id="5" pos="727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6"/>
    <a:srgbClr val="E7992F"/>
    <a:srgbClr val="0B2B41"/>
    <a:srgbClr val="AB6E32"/>
    <a:srgbClr val="E9A030"/>
    <a:srgbClr val="F5794C"/>
    <a:srgbClr val="EEA81C"/>
    <a:srgbClr val="E28C89"/>
    <a:srgbClr val="0F3955"/>
    <a:srgbClr val="0D30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E8B1032C-EA38-4F05-BA0D-38AFFFC7BED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31" autoAdjust="0"/>
    <p:restoredTop sz="96265" autoAdjust="0"/>
  </p:normalViewPr>
  <p:slideViewPr>
    <p:cSldViewPr snapToGrid="0">
      <p:cViewPr>
        <p:scale>
          <a:sx n="107" d="100"/>
          <a:sy n="107" d="100"/>
        </p:scale>
        <p:origin x="256" y="200"/>
      </p:cViewPr>
      <p:guideLst>
        <p:guide orient="horz" pos="2160"/>
        <p:guide pos="3864"/>
        <p:guide pos="408"/>
        <p:guide orient="horz" pos="432"/>
        <p:guide pos="727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03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BAC49572-5098-4FC4-AF0C-4155D5E78B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8AA88ED-9106-452F-A16C-BA63DCB68EB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9142A3-90E2-478A-BA2C-6CC385EA1380}" type="datetimeFigureOut">
              <a:rPr lang="fr-FR" smtClean="0"/>
              <a:t>18/11/2019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CA1C77C-B810-49D7-A7A2-0F7E9D8635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4752286-8EA3-4402-A03D-C0595845B2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02C78-D536-4665-BE56-C8F556A0504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25785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4F2451-6A58-4377-953A-113910610DCC}" type="datetimeFigureOut">
              <a:rPr lang="fr-FR" noProof="0" smtClean="0"/>
              <a:t>18/11/2019</a:t>
            </a:fld>
            <a:endParaRPr lang="fr-FR" noProof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noProof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noProof="0" dirty="0"/>
              <a:t>Modifiez les styles du texte du masque</a:t>
            </a:r>
          </a:p>
          <a:p>
            <a:pPr lvl="1"/>
            <a:r>
              <a:rPr lang="fr-FR" noProof="0" dirty="0"/>
              <a:t>Deuxième niveau</a:t>
            </a:r>
          </a:p>
          <a:p>
            <a:pPr lvl="2"/>
            <a:r>
              <a:rPr lang="fr-FR" noProof="0" dirty="0"/>
              <a:t>Troisième niveau</a:t>
            </a:r>
          </a:p>
          <a:p>
            <a:pPr lvl="3"/>
            <a:r>
              <a:rPr lang="fr-FR" noProof="0" dirty="0"/>
              <a:t>Quatrième niveau</a:t>
            </a:r>
          </a:p>
          <a:p>
            <a:pPr lvl="4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1E5BA3-7562-41F3-85A3-5244B451D190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1523381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61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053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12397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0686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dirty="0"/>
              <a:t>1 – A </a:t>
            </a:r>
            <a:r>
              <a:rPr lang="fr-FR" sz="1200" dirty="0" err="1"/>
              <a:t>method</a:t>
            </a:r>
            <a:r>
              <a:rPr lang="fr-FR" sz="1200" dirty="0"/>
              <a:t> for </a:t>
            </a:r>
            <a:r>
              <a:rPr lang="fr-FR" sz="1200" dirty="0" err="1"/>
              <a:t>measuring</a:t>
            </a:r>
            <a:r>
              <a:rPr lang="fr-FR" sz="1200" dirty="0"/>
              <a:t> </a:t>
            </a:r>
            <a:r>
              <a:rPr lang="fr-FR" sz="1200" dirty="0" err="1"/>
              <a:t>endpoint</a:t>
            </a:r>
            <a:r>
              <a:rPr lang="fr-FR" sz="1200" dirty="0"/>
              <a:t> </a:t>
            </a:r>
            <a:r>
              <a:rPr lang="fr-FR" sz="1200" dirty="0" err="1"/>
              <a:t>stiffness</a:t>
            </a:r>
            <a:r>
              <a:rPr lang="fr-FR" sz="1200" dirty="0"/>
              <a:t> </a:t>
            </a:r>
            <a:r>
              <a:rPr lang="fr-FR" sz="1200" dirty="0" err="1"/>
              <a:t>durint</a:t>
            </a:r>
            <a:r>
              <a:rPr lang="fr-FR" sz="1200" dirty="0"/>
              <a:t> multi-joint arm </a:t>
            </a:r>
            <a:r>
              <a:rPr lang="fr-FR" sz="1200" dirty="0" err="1"/>
              <a:t>movements</a:t>
            </a:r>
            <a:r>
              <a:rPr lang="fr-FR" sz="1200" dirty="0"/>
              <a:t>, E. </a:t>
            </a:r>
            <a:r>
              <a:rPr lang="fr-FR" sz="1200" dirty="0" err="1"/>
              <a:t>Burdet</a:t>
            </a:r>
            <a:r>
              <a:rPr lang="fr-FR" sz="1200" dirty="0"/>
              <a:t> &amp; al 2000</a:t>
            </a:r>
          </a:p>
          <a:p>
            <a:r>
              <a:rPr lang="fr-FR" sz="1200" dirty="0"/>
              <a:t>2 – Hand </a:t>
            </a:r>
            <a:r>
              <a:rPr lang="fr-FR" sz="1200" dirty="0" err="1"/>
              <a:t>impedance</a:t>
            </a:r>
            <a:r>
              <a:rPr lang="fr-FR" sz="1200" dirty="0"/>
              <a:t> </a:t>
            </a:r>
            <a:r>
              <a:rPr lang="fr-FR" sz="1200" dirty="0" err="1"/>
              <a:t>measurements</a:t>
            </a:r>
            <a:r>
              <a:rPr lang="fr-FR" sz="1200" dirty="0"/>
              <a:t> </a:t>
            </a:r>
            <a:r>
              <a:rPr lang="fr-FR" sz="1200" dirty="0" err="1"/>
              <a:t>during</a:t>
            </a:r>
            <a:r>
              <a:rPr lang="fr-FR" sz="1200" dirty="0"/>
              <a:t> interactive </a:t>
            </a:r>
            <a:r>
              <a:rPr lang="fr-FR" sz="1200" dirty="0" err="1"/>
              <a:t>manual</a:t>
            </a:r>
            <a:r>
              <a:rPr lang="fr-FR" sz="1200" dirty="0"/>
              <a:t> </a:t>
            </a:r>
            <a:r>
              <a:rPr lang="fr-FR" sz="1200" dirty="0" err="1"/>
              <a:t>welding</a:t>
            </a:r>
            <a:r>
              <a:rPr lang="fr-FR" sz="1200" dirty="0"/>
              <a:t> </a:t>
            </a:r>
            <a:r>
              <a:rPr lang="fr-FR" sz="1200" dirty="0" err="1"/>
              <a:t>with</a:t>
            </a:r>
            <a:r>
              <a:rPr lang="fr-FR" sz="1200" dirty="0"/>
              <a:t> a robot, M.S. </a:t>
            </a:r>
            <a:r>
              <a:rPr lang="fr-FR" sz="1200" dirty="0" err="1"/>
              <a:t>Erden</a:t>
            </a:r>
            <a:r>
              <a:rPr lang="fr-FR" sz="1200" dirty="0"/>
              <a:t> &amp; A. Billard 2015</a:t>
            </a:r>
          </a:p>
          <a:p>
            <a:r>
              <a:rPr lang="fr-FR" sz="1200" dirty="0"/>
              <a:t>3 – </a:t>
            </a:r>
            <a:r>
              <a:rPr lang="fr-FR" sz="1200" dirty="0" err="1"/>
              <a:t>Unbiased</a:t>
            </a:r>
            <a:r>
              <a:rPr lang="fr-FR" sz="1200" dirty="0"/>
              <a:t> estimation of </a:t>
            </a:r>
            <a:r>
              <a:rPr lang="fr-FR" sz="1200" dirty="0" err="1"/>
              <a:t>Human</a:t>
            </a:r>
            <a:r>
              <a:rPr lang="fr-FR" sz="1200" dirty="0"/>
              <a:t> joint </a:t>
            </a:r>
            <a:r>
              <a:rPr lang="fr-FR" sz="1200" dirty="0" err="1"/>
              <a:t>intrinsic</a:t>
            </a:r>
            <a:r>
              <a:rPr lang="fr-FR" sz="1200" dirty="0"/>
              <a:t> </a:t>
            </a:r>
            <a:r>
              <a:rPr lang="fr-FR" sz="1200" dirty="0" err="1"/>
              <a:t>mechanical</a:t>
            </a:r>
            <a:r>
              <a:rPr lang="fr-FR" sz="1200" dirty="0"/>
              <a:t> </a:t>
            </a:r>
            <a:r>
              <a:rPr lang="fr-FR" sz="1200" dirty="0" err="1"/>
              <a:t>properties</a:t>
            </a:r>
            <a:r>
              <a:rPr lang="fr-FR" sz="1200" dirty="0"/>
              <a:t> </a:t>
            </a:r>
            <a:r>
              <a:rPr lang="fr-FR" sz="1200" dirty="0" err="1"/>
              <a:t>during</a:t>
            </a:r>
            <a:r>
              <a:rPr lang="fr-FR" sz="1200" dirty="0"/>
              <a:t> </a:t>
            </a:r>
            <a:r>
              <a:rPr lang="fr-FR" sz="1200" dirty="0" err="1"/>
              <a:t>movement</a:t>
            </a:r>
            <a:r>
              <a:rPr lang="fr-FR" sz="1200" dirty="0"/>
              <a:t>, D.L </a:t>
            </a:r>
            <a:r>
              <a:rPr lang="fr-FR" sz="1200" dirty="0" err="1"/>
              <a:t>Guarin</a:t>
            </a:r>
            <a:r>
              <a:rPr lang="fr-FR" sz="1200" dirty="0"/>
              <a:t> &amp; R.E. Kearney 2018</a:t>
            </a:r>
          </a:p>
          <a:p>
            <a:r>
              <a:rPr lang="fr-FR" sz="1200" dirty="0"/>
              <a:t>4 – </a:t>
            </a:r>
            <a:r>
              <a:rPr lang="fr-FR" sz="1200" dirty="0" err="1"/>
              <a:t>Elbow</a:t>
            </a:r>
            <a:r>
              <a:rPr lang="fr-FR" sz="1200" dirty="0"/>
              <a:t> </a:t>
            </a:r>
            <a:r>
              <a:rPr lang="fr-FR" sz="1200" dirty="0" err="1"/>
              <a:t>impedance</a:t>
            </a:r>
            <a:r>
              <a:rPr lang="fr-FR" sz="1200" dirty="0"/>
              <a:t> </a:t>
            </a:r>
            <a:r>
              <a:rPr lang="fr-FR" sz="1200" dirty="0" err="1"/>
              <a:t>during</a:t>
            </a:r>
            <a:r>
              <a:rPr lang="fr-FR" sz="1200" dirty="0"/>
              <a:t> goal-</a:t>
            </a:r>
            <a:r>
              <a:rPr lang="fr-FR" sz="1200" dirty="0" err="1"/>
              <a:t>directed</a:t>
            </a:r>
            <a:r>
              <a:rPr lang="fr-FR" sz="1200" dirty="0"/>
              <a:t> </a:t>
            </a:r>
            <a:r>
              <a:rPr lang="fr-FR" sz="1200" dirty="0" err="1"/>
              <a:t>movements</a:t>
            </a:r>
            <a:r>
              <a:rPr lang="fr-FR" sz="1200" dirty="0"/>
              <a:t>, F. </a:t>
            </a:r>
            <a:r>
              <a:rPr lang="fr-FR" sz="1200" dirty="0" err="1"/>
              <a:t>Popescu</a:t>
            </a:r>
            <a:r>
              <a:rPr lang="fr-FR" sz="1200" dirty="0"/>
              <a:t> &amp; al 2003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371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dirty="0"/>
              <a:t>1 – Hand </a:t>
            </a:r>
            <a:r>
              <a:rPr lang="fr-FR" sz="1200" dirty="0" err="1"/>
              <a:t>impedance</a:t>
            </a:r>
            <a:r>
              <a:rPr lang="fr-FR" sz="1200" dirty="0"/>
              <a:t> </a:t>
            </a:r>
            <a:r>
              <a:rPr lang="fr-FR" sz="1200" dirty="0" err="1"/>
              <a:t>measurements</a:t>
            </a:r>
            <a:r>
              <a:rPr lang="fr-FR" sz="1200" dirty="0"/>
              <a:t> </a:t>
            </a:r>
            <a:r>
              <a:rPr lang="fr-FR" sz="1200" dirty="0" err="1"/>
              <a:t>during</a:t>
            </a:r>
            <a:r>
              <a:rPr lang="fr-FR" sz="1200" dirty="0"/>
              <a:t> interactive </a:t>
            </a:r>
            <a:r>
              <a:rPr lang="fr-FR" sz="1200" dirty="0" err="1"/>
              <a:t>manual</a:t>
            </a:r>
            <a:r>
              <a:rPr lang="fr-FR" sz="1200" dirty="0"/>
              <a:t> </a:t>
            </a:r>
            <a:r>
              <a:rPr lang="fr-FR" sz="1200" dirty="0" err="1"/>
              <a:t>welding</a:t>
            </a:r>
            <a:r>
              <a:rPr lang="fr-FR" sz="1200" dirty="0"/>
              <a:t> </a:t>
            </a:r>
            <a:r>
              <a:rPr lang="fr-FR" sz="1200" dirty="0" err="1"/>
              <a:t>with</a:t>
            </a:r>
            <a:r>
              <a:rPr lang="fr-FR" sz="1200" dirty="0"/>
              <a:t> a robot, M.S. </a:t>
            </a:r>
            <a:r>
              <a:rPr lang="fr-FR" sz="1200" dirty="0" err="1"/>
              <a:t>Erden</a:t>
            </a:r>
            <a:r>
              <a:rPr lang="fr-FR" sz="1200" dirty="0"/>
              <a:t> &amp; A. Billard 2015</a:t>
            </a:r>
          </a:p>
          <a:p>
            <a:r>
              <a:rPr lang="fr-FR" sz="1200" dirty="0"/>
              <a:t>2 – The </a:t>
            </a:r>
            <a:r>
              <a:rPr lang="fr-FR" sz="1200" dirty="0" err="1"/>
              <a:t>nervous</a:t>
            </a:r>
            <a:r>
              <a:rPr lang="fr-FR" sz="1200" dirty="0"/>
              <a:t> system </a:t>
            </a:r>
            <a:r>
              <a:rPr lang="fr-FR" sz="1200" dirty="0" err="1"/>
              <a:t>stabilizes</a:t>
            </a:r>
            <a:r>
              <a:rPr lang="fr-FR" sz="1200" dirty="0"/>
              <a:t> </a:t>
            </a:r>
            <a:r>
              <a:rPr lang="fr-FR" sz="1200" dirty="0" err="1"/>
              <a:t>unstable</a:t>
            </a:r>
            <a:r>
              <a:rPr lang="fr-FR" sz="1200" dirty="0"/>
              <a:t> </a:t>
            </a:r>
            <a:r>
              <a:rPr lang="fr-FR" sz="1200" dirty="0" err="1"/>
              <a:t>dynamics</a:t>
            </a:r>
            <a:r>
              <a:rPr lang="fr-FR" sz="1200" dirty="0"/>
              <a:t> by </a:t>
            </a:r>
            <a:r>
              <a:rPr lang="fr-FR" sz="1200" dirty="0" err="1"/>
              <a:t>learning</a:t>
            </a:r>
            <a:r>
              <a:rPr lang="fr-FR" sz="1200" dirty="0"/>
              <a:t> optimal </a:t>
            </a:r>
            <a:r>
              <a:rPr lang="fr-FR" sz="1200" dirty="0" err="1"/>
              <a:t>impedance</a:t>
            </a:r>
            <a:r>
              <a:rPr lang="fr-FR" sz="1200" dirty="0"/>
              <a:t> E. </a:t>
            </a:r>
            <a:r>
              <a:rPr lang="fr-FR" sz="1200" dirty="0" err="1"/>
              <a:t>Burdet</a:t>
            </a:r>
            <a:r>
              <a:rPr lang="fr-FR" sz="1200" dirty="0"/>
              <a:t> &amp; al. 2001</a:t>
            </a:r>
          </a:p>
          <a:p>
            <a:r>
              <a:rPr lang="fr-FR" sz="1200" dirty="0"/>
              <a:t>3 – Modulation of </a:t>
            </a:r>
            <a:r>
              <a:rPr lang="fr-FR" sz="1200" dirty="0" err="1"/>
              <a:t>elbow</a:t>
            </a:r>
            <a:r>
              <a:rPr lang="fr-FR" sz="1200" dirty="0"/>
              <a:t> joint </a:t>
            </a:r>
            <a:r>
              <a:rPr lang="fr-FR" sz="1200" dirty="0" err="1"/>
              <a:t>stiffness</a:t>
            </a:r>
            <a:r>
              <a:rPr lang="fr-FR" sz="1200" dirty="0"/>
              <a:t> in a vertical plane </a:t>
            </a:r>
            <a:r>
              <a:rPr lang="fr-FR" sz="1200" dirty="0" err="1"/>
              <a:t>during</a:t>
            </a:r>
            <a:r>
              <a:rPr lang="fr-FR" sz="1200" dirty="0"/>
              <a:t> </a:t>
            </a:r>
            <a:r>
              <a:rPr lang="fr-FR" sz="1200" dirty="0" err="1"/>
              <a:t>cyclic</a:t>
            </a:r>
            <a:r>
              <a:rPr lang="fr-FR" sz="1200" dirty="0"/>
              <a:t> </a:t>
            </a:r>
            <a:r>
              <a:rPr lang="fr-FR" sz="1200" dirty="0" err="1"/>
              <a:t>movement</a:t>
            </a:r>
            <a:r>
              <a:rPr lang="fr-FR" sz="1200" dirty="0"/>
              <a:t> at </a:t>
            </a:r>
            <a:r>
              <a:rPr lang="fr-FR" sz="1200" dirty="0" err="1"/>
              <a:t>lower</a:t>
            </a:r>
            <a:r>
              <a:rPr lang="fr-FR" sz="1200" dirty="0"/>
              <a:t> or </a:t>
            </a:r>
            <a:r>
              <a:rPr lang="fr-FR" sz="1200" dirty="0" err="1"/>
              <a:t>higher</a:t>
            </a:r>
            <a:r>
              <a:rPr lang="fr-FR" sz="1200" dirty="0"/>
              <a:t> </a:t>
            </a:r>
            <a:r>
              <a:rPr lang="fr-FR" sz="1200" dirty="0" err="1"/>
              <a:t>frequencies</a:t>
            </a:r>
            <a:r>
              <a:rPr lang="fr-FR" sz="1200" dirty="0"/>
              <a:t> </a:t>
            </a:r>
            <a:r>
              <a:rPr lang="fr-FR" sz="1200" dirty="0" err="1"/>
              <a:t>than</a:t>
            </a:r>
            <a:r>
              <a:rPr lang="fr-FR" sz="1200" dirty="0"/>
              <a:t> </a:t>
            </a:r>
            <a:r>
              <a:rPr lang="fr-FR" sz="1200" dirty="0" err="1"/>
              <a:t>natural</a:t>
            </a:r>
            <a:r>
              <a:rPr lang="fr-FR" sz="1200" dirty="0"/>
              <a:t> </a:t>
            </a:r>
            <a:r>
              <a:rPr lang="fr-FR" sz="1200" dirty="0" err="1"/>
              <a:t>frequency</a:t>
            </a:r>
            <a:r>
              <a:rPr lang="fr-FR" sz="1200" dirty="0"/>
              <a:t>, M.O Abe 2003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0223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77467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8857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67748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3099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B305EBB3-0F16-4B63-82ED-191AB224B8E2}"/>
              </a:ext>
            </a:extLst>
          </p:cNvPr>
          <p:cNvSpPr/>
          <p:nvPr userDrawn="1"/>
        </p:nvSpPr>
        <p:spPr>
          <a:xfrm>
            <a:off x="6676569" y="0"/>
            <a:ext cx="3522381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1A440F4A-C2AF-406D-B420-CCF52F447AC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6676568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FDB39AB-B644-434A-9D55-AF3455D468E5}"/>
              </a:ext>
            </a:extLst>
          </p:cNvPr>
          <p:cNvGrpSpPr/>
          <p:nvPr userDrawn="1"/>
        </p:nvGrpSpPr>
        <p:grpSpPr>
          <a:xfrm>
            <a:off x="9140346" y="5054600"/>
            <a:ext cx="676275" cy="114300"/>
            <a:chOff x="9330846" y="5054600"/>
            <a:chExt cx="676275" cy="114300"/>
          </a:xfrm>
        </p:grpSpPr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BF14E129-1970-4994-89E5-F7A67128AFE3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8" name="Ovale 7">
              <a:extLst>
                <a:ext uri="{FF2B5EF4-FFF2-40B4-BE49-F238E27FC236}">
                  <a16:creationId xmlns:a16="http://schemas.microsoft.com/office/drawing/2014/main" id="{593336FA-97B2-4528-88E8-5FF97F86E216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8A73C166-FCDF-40AE-8B0D-69C7E2C8573E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1" name="Ovale 10">
              <a:extLst>
                <a:ext uri="{FF2B5EF4-FFF2-40B4-BE49-F238E27FC236}">
                  <a16:creationId xmlns:a16="http://schemas.microsoft.com/office/drawing/2014/main" id="{EF418119-E3DD-44B0-A4AF-F8A98EC5863B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</p:spTree>
    <p:extLst>
      <p:ext uri="{BB962C8B-B14F-4D97-AF65-F5344CB8AC3E}">
        <p14:creationId xmlns:p14="http://schemas.microsoft.com/office/powerpoint/2010/main" val="124204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B305EBB3-0F16-4B63-82ED-191AB224B8E2}"/>
              </a:ext>
            </a:extLst>
          </p:cNvPr>
          <p:cNvSpPr/>
          <p:nvPr userDrawn="1"/>
        </p:nvSpPr>
        <p:spPr>
          <a:xfrm>
            <a:off x="5512953" y="0"/>
            <a:ext cx="3522381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1A440F4A-C2AF-406D-B420-CCF52F447AC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5504688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1270854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’image 11">
            <a:extLst>
              <a:ext uri="{FF2B5EF4-FFF2-40B4-BE49-F238E27FC236}">
                <a16:creationId xmlns:a16="http://schemas.microsoft.com/office/drawing/2014/main" id="{47CEAAF6-CCA9-40F8-8A3D-FAAD92220D1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2" y="0"/>
            <a:ext cx="12192001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16020" y="2404234"/>
            <a:ext cx="5330038" cy="1746504"/>
          </a:xfrm>
        </p:spPr>
        <p:txBody>
          <a:bodyPr vert="horz" lIns="0" tIns="45720" rIns="0" bIns="45720" rtlCol="0" anchor="b" anchorCtr="1">
            <a:noAutofit/>
          </a:bodyPr>
          <a:lstStyle>
            <a:lvl1pPr>
              <a:defRPr lang="en-GB" dirty="0">
                <a:solidFill>
                  <a:schemeClr val="bg1"/>
                </a:solidFill>
              </a:defRPr>
            </a:lvl1pPr>
          </a:lstStyle>
          <a:p>
            <a:pPr marL="0" lvl="0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3180" y="4553291"/>
            <a:ext cx="5049510" cy="521208"/>
          </a:xfrm>
        </p:spPr>
        <p:txBody>
          <a:bodyPr vert="horz" lIns="0" tIns="0" rIns="0" bIns="0" rtlCol="0" anchor="t" anchorCtr="1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2000" dirty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3477175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’image 11">
            <a:extLst>
              <a:ext uri="{FF2B5EF4-FFF2-40B4-BE49-F238E27FC236}">
                <a16:creationId xmlns:a16="http://schemas.microsoft.com/office/drawing/2014/main" id="{AAF32A0B-D38A-4E4A-BD5E-94B67129650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2" y="0"/>
            <a:ext cx="12192001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DCD3B46-48AB-439D-A981-D3596F977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0288" y="2313432"/>
            <a:ext cx="6592824" cy="2852737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000" dirty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28D712-0D13-4ECD-9BEB-B8EE651FF63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590288" y="5193792"/>
            <a:ext cx="6592824" cy="97840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>
                <a:solidFill>
                  <a:schemeClr val="bg1"/>
                </a:solidFill>
              </a:defRPr>
            </a:lvl1pPr>
          </a:lstStyle>
          <a:p>
            <a:pPr marL="228600" lvl="0" indent="-228600" rtl="0"/>
            <a:r>
              <a:rPr lang="fr-FR" noProof="0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411308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 Content_2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36125" y="0"/>
            <a:ext cx="5355875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C7F0E85E-786D-44FC-A9C8-8853277D7C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86558" y="2717803"/>
            <a:ext cx="28346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2717803"/>
            <a:ext cx="28346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68915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06451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7" name="Espace réservé du contenu 15">
            <a:extLst>
              <a:ext uri="{FF2B5EF4-FFF2-40B4-BE49-F238E27FC236}">
                <a16:creationId xmlns:a16="http://schemas.microsoft.com/office/drawing/2014/main" id="{6DF8CB66-232E-4CE3-96FC-CE37C74994E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645309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8" name="Espace réservé du numéro de diapositive 7">
            <a:extLst>
              <a:ext uri="{FF2B5EF4-FFF2-40B4-BE49-F238E27FC236}">
                <a16:creationId xmlns:a16="http://schemas.microsoft.com/office/drawing/2014/main" id="{8728750D-82C7-4A8D-A7C7-5549346679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720493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nne Content_3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C7F0E85E-786D-44FC-A9C8-8853277D7C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88842" y="2717803"/>
            <a:ext cx="23774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2717803"/>
            <a:ext cx="23774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 dirty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2062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bg1">
                    <a:lumMod val="9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  <a:endParaRPr lang="fr-FR" noProof="0" dirty="0"/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00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7" name="Espace réservé du contenu 15">
            <a:extLst>
              <a:ext uri="{FF2B5EF4-FFF2-40B4-BE49-F238E27FC236}">
                <a16:creationId xmlns:a16="http://schemas.microsoft.com/office/drawing/2014/main" id="{6DF8CB66-232E-4CE3-96FC-CE37C74994E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3242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8" name="Espace réservé du texte 12">
            <a:extLst>
              <a:ext uri="{FF2B5EF4-FFF2-40B4-BE49-F238E27FC236}">
                <a16:creationId xmlns:a16="http://schemas.microsoft.com/office/drawing/2014/main" id="{DEF523FD-B1FC-40A7-93AA-389CB38E17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985" y="2717803"/>
            <a:ext cx="23774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contenu 15">
            <a:extLst>
              <a:ext uri="{FF2B5EF4-FFF2-40B4-BE49-F238E27FC236}">
                <a16:creationId xmlns:a16="http://schemas.microsoft.com/office/drawing/2014/main" id="{B60C8CC8-C869-4395-B389-D76DF4A56AA1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44385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1" name="Espace réservé du numéro de diapositive 7">
            <a:extLst>
              <a:ext uri="{FF2B5EF4-FFF2-40B4-BE49-F238E27FC236}">
                <a16:creationId xmlns:a16="http://schemas.microsoft.com/office/drawing/2014/main" id="{E10AF5F6-7B7D-4CE6-A1D0-2F46804D3C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05480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Content_2 column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9750" y="1847927"/>
            <a:ext cx="7315200" cy="146161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2062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bg1">
                    <a:lumMod val="9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7700" y="2304413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C3BB8EAB-4266-4938-A8CB-6D18C93801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09750" y="4048520"/>
            <a:ext cx="7315200" cy="146161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12" name="Espace réservé du contenu 15">
            <a:extLst>
              <a:ext uri="{FF2B5EF4-FFF2-40B4-BE49-F238E27FC236}">
                <a16:creationId xmlns:a16="http://schemas.microsoft.com/office/drawing/2014/main" id="{716D363C-A0A5-4FB1-8CC2-850C0CD9F4E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7700" y="4505006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5" name="Espace réservé du numéro de diapositive 7">
            <a:extLst>
              <a:ext uri="{FF2B5EF4-FFF2-40B4-BE49-F238E27FC236}">
                <a16:creationId xmlns:a16="http://schemas.microsoft.com/office/drawing/2014/main" id="{AAF4A39B-C3C3-4691-BB94-371047ADD5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47190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 Content_1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62100" y="1733627"/>
            <a:ext cx="2438400" cy="424807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2062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bg1">
                    <a:lumMod val="9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  <a:endParaRPr lang="fr-FR" noProof="0" dirty="0"/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7700" y="1733627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100F546D-5491-4A19-9725-5C920C5738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215973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62100" y="1733627"/>
            <a:ext cx="8534400" cy="424807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7700" y="1733627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00AC1958-0DCB-4970-ADE3-E64DAAFC501D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12" name="Rectangle 11">
              <a:extLst>
                <a:ext uri="{FF2B5EF4-FFF2-40B4-BE49-F238E27FC236}">
                  <a16:creationId xmlns:a16="http://schemas.microsoft.com/office/drawing/2014/main" id="{9E71A8D8-5A28-4968-9E80-110E9CB88F92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4" name="Ovale 13">
              <a:extLst>
                <a:ext uri="{FF2B5EF4-FFF2-40B4-BE49-F238E27FC236}">
                  <a16:creationId xmlns:a16="http://schemas.microsoft.com/office/drawing/2014/main" id="{7239C02C-1FAD-4E73-AB32-5A30A946A447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15" name="Espace réservé du numéro de diapositive 5">
            <a:extLst>
              <a:ext uri="{FF2B5EF4-FFF2-40B4-BE49-F238E27FC236}">
                <a16:creationId xmlns:a16="http://schemas.microsoft.com/office/drawing/2014/main" id="{FF40D550-A563-4E50-AEE9-6D9D19499F9F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657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09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e Images_Importa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’image 16">
            <a:extLst>
              <a:ext uri="{FF2B5EF4-FFF2-40B4-BE49-F238E27FC236}">
                <a16:creationId xmlns:a16="http://schemas.microsoft.com/office/drawing/2014/main" id="{D935D313-376E-4CA0-9732-D0CACCC07FA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464300" y="0"/>
            <a:ext cx="5727700" cy="6858000"/>
          </a:xfrm>
          <a:custGeom>
            <a:avLst/>
            <a:gdLst>
              <a:gd name="connsiteX0" fmla="*/ 1708150 w 5727700"/>
              <a:gd name="connsiteY0" fmla="*/ 0 h 6858000"/>
              <a:gd name="connsiteX1" fmla="*/ 5727700 w 5727700"/>
              <a:gd name="connsiteY1" fmla="*/ 0 h 6858000"/>
              <a:gd name="connsiteX2" fmla="*/ 5727700 w 5727700"/>
              <a:gd name="connsiteY2" fmla="*/ 6858000 h 6858000"/>
              <a:gd name="connsiteX3" fmla="*/ 0 w 5727700"/>
              <a:gd name="connsiteY3" fmla="*/ 6858000 h 6858000"/>
              <a:gd name="connsiteX4" fmla="*/ 0 w 5727700"/>
              <a:gd name="connsiteY4" fmla="*/ 68326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27700" h="6858000">
                <a:moveTo>
                  <a:pt x="1708150" y="0"/>
                </a:moveTo>
                <a:lnTo>
                  <a:pt x="5727700" y="0"/>
                </a:lnTo>
                <a:lnTo>
                  <a:pt x="5727700" y="6858000"/>
                </a:lnTo>
                <a:lnTo>
                  <a:pt x="0" y="6858000"/>
                </a:lnTo>
                <a:lnTo>
                  <a:pt x="0" y="6832600"/>
                </a:lnTo>
                <a:close/>
              </a:path>
            </a:pathLst>
          </a:custGeom>
        </p:spPr>
        <p:txBody>
          <a:bodyPr vert="horz" wrap="square" lIns="91440" tIns="45720" rIns="91440" bIns="45720" rtlCol="0" anchor="ctr" anchorCtr="1">
            <a:noAutofit/>
          </a:bodyPr>
          <a:lstStyle>
            <a:lvl1pPr marL="0" indent="0">
              <a:buNone/>
              <a:defRPr lang="en-GB" sz="1800"/>
            </a:lvl1pPr>
          </a:lstStyle>
          <a:p>
            <a:pPr marL="228600" lvl="0" indent="-228600" algn="ctr" rtl="0"/>
            <a:r>
              <a:rPr lang="fr-FR" noProof="0"/>
              <a:t>Insérer une image</a:t>
            </a:r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83A2DEF1-03FF-475D-994A-6FC6FB1414F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8087304" cy="6858000"/>
          </a:xfrm>
          <a:custGeom>
            <a:avLst/>
            <a:gdLst>
              <a:gd name="connsiteX0" fmla="*/ 0 w 8087304"/>
              <a:gd name="connsiteY0" fmla="*/ 0 h 6858000"/>
              <a:gd name="connsiteX1" fmla="*/ 8087304 w 8087304"/>
              <a:gd name="connsiteY1" fmla="*/ 0 h 6858000"/>
              <a:gd name="connsiteX2" fmla="*/ 8087304 w 8087304"/>
              <a:gd name="connsiteY2" fmla="*/ 7620 h 6858000"/>
              <a:gd name="connsiteX3" fmla="*/ 6368365 w 8087304"/>
              <a:gd name="connsiteY3" fmla="*/ 6858000 h 6858000"/>
              <a:gd name="connsiteX4" fmla="*/ 0 w 808730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87304" h="6858000">
                <a:moveTo>
                  <a:pt x="0" y="0"/>
                </a:moveTo>
                <a:lnTo>
                  <a:pt x="8087304" y="0"/>
                </a:lnTo>
                <a:lnTo>
                  <a:pt x="8087304" y="7620"/>
                </a:lnTo>
                <a:lnTo>
                  <a:pt x="6368365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rtlCol="0" anchor="ctr" anchorCtr="1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/>
            </a:lvl1pPr>
          </a:lstStyle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fr-FR" noProof="0"/>
              <a:t>Insérer une image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5586" y="5047107"/>
            <a:ext cx="5005614" cy="1005840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60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586" y="4081468"/>
            <a:ext cx="5005614" cy="822960"/>
          </a:xfrm>
        </p:spPr>
        <p:txBody>
          <a:bodyPr vert="horz" wrap="square" lIns="0" tIns="45720" rIns="91440" bIns="45720" rtlCol="0" anchor="t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GB" sz="2400" dirty="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marL="0"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sp>
        <p:nvSpPr>
          <p:cNvPr id="20" name="Espace réservé du numéro de diapositive 7">
            <a:extLst>
              <a:ext uri="{FF2B5EF4-FFF2-40B4-BE49-F238E27FC236}">
                <a16:creationId xmlns:a16="http://schemas.microsoft.com/office/drawing/2014/main" id="{1CEA3362-50AD-4D98-92C4-DA1D8C857A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7914178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5F3686C7-DF83-47D9-A485-35F4F1D36A69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90B36CF-9391-49E9-B599-8B724B6EF267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6" name="Ovale 5">
              <a:extLst>
                <a:ext uri="{FF2B5EF4-FFF2-40B4-BE49-F238E27FC236}">
                  <a16:creationId xmlns:a16="http://schemas.microsoft.com/office/drawing/2014/main" id="{468CE156-5D60-42B0-A4F9-33FA85537807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5" name="Espace réservé du numéro de diapositive 7">
            <a:extLst>
              <a:ext uri="{FF2B5EF4-FFF2-40B4-BE49-F238E27FC236}">
                <a16:creationId xmlns:a16="http://schemas.microsoft.com/office/drawing/2014/main" id="{9E4521A1-4C9D-4795-B551-D151E8856A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403706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éc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A75C086E-F523-4C77-938F-0DB6203DBC4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1080" y="2139696"/>
            <a:ext cx="5578995" cy="879928"/>
          </a:xfrm>
        </p:spPr>
        <p:txBody>
          <a:bodyPr vert="horz" lIns="91440" tIns="45720" rIns="91440" bIns="45720" rtlCol="0" anchor="ctr" anchorCtr="0">
            <a:noAutofit/>
          </a:bodyPr>
          <a:lstStyle>
            <a:lvl1pPr algn="l">
              <a:defRPr lang="en-GB" b="0" dirty="0">
                <a:solidFill>
                  <a:schemeClr val="bg1"/>
                </a:solidFill>
              </a:defRPr>
            </a:lvl1pPr>
          </a:lstStyle>
          <a:p>
            <a:pPr marL="0" lvl="0" algn="ctr" rtl="0"/>
            <a:r>
              <a:rPr lang="fr-FR" noProof="0" dirty="0"/>
              <a:t>TITRE</a:t>
            </a:r>
          </a:p>
        </p:txBody>
      </p:sp>
      <p:sp>
        <p:nvSpPr>
          <p:cNvPr id="17" name="Espace réservé du texte 4">
            <a:extLst>
              <a:ext uri="{FF2B5EF4-FFF2-40B4-BE49-F238E27FC236}">
                <a16:creationId xmlns:a16="http://schemas.microsoft.com/office/drawing/2014/main" id="{B293AB9F-7C1D-4A06-9F42-4FD67BF273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59075" y="3653097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Nom</a:t>
            </a:r>
          </a:p>
        </p:txBody>
      </p: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224AF9FB-5C6E-4050-AE8D-3B218C0F1D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59075" y="4392151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Téléphone</a:t>
            </a:r>
          </a:p>
        </p:txBody>
      </p:sp>
      <p:sp>
        <p:nvSpPr>
          <p:cNvPr id="19" name="Espace réservé du texte 4">
            <a:extLst>
              <a:ext uri="{FF2B5EF4-FFF2-40B4-BE49-F238E27FC236}">
                <a16:creationId xmlns:a16="http://schemas.microsoft.com/office/drawing/2014/main" id="{68A48B85-2E0B-42B6-AB4A-1302D3C828F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59075" y="5131205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Adresse électronique</a:t>
            </a:r>
          </a:p>
        </p:txBody>
      </p:sp>
      <p:sp>
        <p:nvSpPr>
          <p:cNvPr id="20" name="Espace réservé du texte 4">
            <a:extLst>
              <a:ext uri="{FF2B5EF4-FFF2-40B4-BE49-F238E27FC236}">
                <a16:creationId xmlns:a16="http://schemas.microsoft.com/office/drawing/2014/main" id="{9244D33F-3A47-4DE3-8198-7AC5316E31E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59075" y="5870258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Site web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220C8B-2E18-4D91-A806-6C7C3940B00F}"/>
              </a:ext>
            </a:extLst>
          </p:cNvPr>
          <p:cNvSpPr>
            <a:spLocks noGrp="1" noChangeAspect="1"/>
          </p:cNvSpPr>
          <p:nvPr>
            <p:ph sz="quarter" idx="19" hasCustomPrompt="1"/>
          </p:nvPr>
        </p:nvSpPr>
        <p:spPr>
          <a:xfrm>
            <a:off x="691080" y="4295744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28" name="Espace réservé du contenu 2">
            <a:extLst>
              <a:ext uri="{FF2B5EF4-FFF2-40B4-BE49-F238E27FC236}">
                <a16:creationId xmlns:a16="http://schemas.microsoft.com/office/drawing/2014/main" id="{3D1C5933-D103-4989-B652-C7B692341BC3}"/>
              </a:ext>
            </a:extLst>
          </p:cNvPr>
          <p:cNvSpPr>
            <a:spLocks noGrp="1" noChangeAspect="1"/>
          </p:cNvSpPr>
          <p:nvPr>
            <p:ph sz="quarter" idx="20" hasCustomPrompt="1"/>
          </p:nvPr>
        </p:nvSpPr>
        <p:spPr>
          <a:xfrm>
            <a:off x="691080" y="5034798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29" name="Espace réservé du contenu 2">
            <a:extLst>
              <a:ext uri="{FF2B5EF4-FFF2-40B4-BE49-F238E27FC236}">
                <a16:creationId xmlns:a16="http://schemas.microsoft.com/office/drawing/2014/main" id="{A80EBF65-A9A1-4724-B962-DB9B79A924AA}"/>
              </a:ext>
            </a:extLst>
          </p:cNvPr>
          <p:cNvSpPr>
            <a:spLocks noGrp="1" noChangeAspect="1"/>
          </p:cNvSpPr>
          <p:nvPr>
            <p:ph sz="quarter" idx="21" hasCustomPrompt="1"/>
          </p:nvPr>
        </p:nvSpPr>
        <p:spPr>
          <a:xfrm>
            <a:off x="691080" y="5773851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30" name="Espace réservé du contenu 2">
            <a:extLst>
              <a:ext uri="{FF2B5EF4-FFF2-40B4-BE49-F238E27FC236}">
                <a16:creationId xmlns:a16="http://schemas.microsoft.com/office/drawing/2014/main" id="{06251342-E6E3-4C57-A0A9-C7BB3DCAE115}"/>
              </a:ext>
            </a:extLst>
          </p:cNvPr>
          <p:cNvSpPr>
            <a:spLocks noGrp="1" noChangeAspect="1"/>
          </p:cNvSpPr>
          <p:nvPr>
            <p:ph sz="quarter" idx="22" hasCustomPrompt="1"/>
          </p:nvPr>
        </p:nvSpPr>
        <p:spPr>
          <a:xfrm>
            <a:off x="691080" y="3556690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</p:spTree>
    <p:extLst>
      <p:ext uri="{BB962C8B-B14F-4D97-AF65-F5344CB8AC3E}">
        <p14:creationId xmlns:p14="http://schemas.microsoft.com/office/powerpoint/2010/main" val="4169354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FDB39AB-B644-434A-9D55-AF3455D468E5}"/>
              </a:ext>
            </a:extLst>
          </p:cNvPr>
          <p:cNvGrpSpPr/>
          <p:nvPr userDrawn="1"/>
        </p:nvGrpSpPr>
        <p:grpSpPr>
          <a:xfrm>
            <a:off x="9140346" y="5054600"/>
            <a:ext cx="676275" cy="114300"/>
            <a:chOff x="9330846" y="5054600"/>
            <a:chExt cx="676275" cy="114300"/>
          </a:xfrm>
        </p:grpSpPr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BF14E129-1970-4994-89E5-F7A67128AFE3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8" name="Ovale 7">
              <a:extLst>
                <a:ext uri="{FF2B5EF4-FFF2-40B4-BE49-F238E27FC236}">
                  <a16:creationId xmlns:a16="http://schemas.microsoft.com/office/drawing/2014/main" id="{593336FA-97B2-4528-88E8-5FF97F86E216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8A73C166-FCDF-40AE-8B0D-69C7E2C8573E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1" name="Ovale 10">
              <a:extLst>
                <a:ext uri="{FF2B5EF4-FFF2-40B4-BE49-F238E27FC236}">
                  <a16:creationId xmlns:a16="http://schemas.microsoft.com/office/drawing/2014/main" id="{EF418119-E3DD-44B0-A4AF-F8A98EC5863B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5BE10AC4-CBFC-4ECF-92D5-9CE1874F58D7}"/>
              </a:ext>
            </a:extLst>
          </p:cNvPr>
          <p:cNvSpPr/>
          <p:nvPr userDrawn="1"/>
        </p:nvSpPr>
        <p:spPr>
          <a:xfrm>
            <a:off x="0" y="0"/>
            <a:ext cx="8568965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667344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B305EBB3-0F16-4B63-82ED-191AB224B8E2}"/>
              </a:ext>
            </a:extLst>
          </p:cNvPr>
          <p:cNvSpPr/>
          <p:nvPr userDrawn="1"/>
        </p:nvSpPr>
        <p:spPr>
          <a:xfrm>
            <a:off x="4334810" y="0"/>
            <a:ext cx="3522381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FDB39AB-B644-434A-9D55-AF3455D468E5}"/>
              </a:ext>
            </a:extLst>
          </p:cNvPr>
          <p:cNvGrpSpPr/>
          <p:nvPr userDrawn="1"/>
        </p:nvGrpSpPr>
        <p:grpSpPr>
          <a:xfrm>
            <a:off x="9140346" y="5054600"/>
            <a:ext cx="676275" cy="114300"/>
            <a:chOff x="9330846" y="5054600"/>
            <a:chExt cx="676275" cy="114300"/>
          </a:xfrm>
        </p:grpSpPr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BF14E129-1970-4994-89E5-F7A67128AFE3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8" name="Ovale 7">
              <a:extLst>
                <a:ext uri="{FF2B5EF4-FFF2-40B4-BE49-F238E27FC236}">
                  <a16:creationId xmlns:a16="http://schemas.microsoft.com/office/drawing/2014/main" id="{593336FA-97B2-4528-88E8-5FF97F86E216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8A73C166-FCDF-40AE-8B0D-69C7E2C8573E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1" name="Ovale 10">
              <a:extLst>
                <a:ext uri="{FF2B5EF4-FFF2-40B4-BE49-F238E27FC236}">
                  <a16:creationId xmlns:a16="http://schemas.microsoft.com/office/drawing/2014/main" id="{EF418119-E3DD-44B0-A4AF-F8A98EC5863B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</p:spTree>
    <p:extLst>
      <p:ext uri="{BB962C8B-B14F-4D97-AF65-F5344CB8AC3E}">
        <p14:creationId xmlns:p14="http://schemas.microsoft.com/office/powerpoint/2010/main" val="38734915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C7BBA6D3-FEB9-412B-8FBB-095FC3A60AB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3186" y="1825625"/>
            <a:ext cx="10815864" cy="4351338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010023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64A4F74B-B2CD-407C-865A-037EDFAC9DB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33186" y="1825625"/>
            <a:ext cx="5386614" cy="435133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10" name="Espace réservé du contenu 3">
            <a:extLst>
              <a:ext uri="{FF2B5EF4-FFF2-40B4-BE49-F238E27FC236}">
                <a16:creationId xmlns:a16="http://schemas.microsoft.com/office/drawing/2014/main" id="{A2548E2E-973A-4D52-ACB9-BF564F4073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276850" cy="435133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510698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texte 2">
            <a:extLst>
              <a:ext uri="{FF2B5EF4-FFF2-40B4-BE49-F238E27FC236}">
                <a16:creationId xmlns:a16="http://schemas.microsoft.com/office/drawing/2014/main" id="{10CD1AD0-C8B7-4785-A47D-D822CF4F24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33186" y="1681163"/>
            <a:ext cx="5332147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texte 4">
            <a:extLst>
              <a:ext uri="{FF2B5EF4-FFF2-40B4-BE49-F238E27FC236}">
                <a16:creationId xmlns:a16="http://schemas.microsoft.com/office/drawing/2014/main" id="{90A1BBCF-EEF1-4C9A-BA10-9657A79560D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276850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u contenu 3">
            <a:extLst>
              <a:ext uri="{FF2B5EF4-FFF2-40B4-BE49-F238E27FC236}">
                <a16:creationId xmlns:a16="http://schemas.microsoft.com/office/drawing/2014/main" id="{79F8415A-57A2-4D5C-97B0-E78499CC7C6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186" y="2505075"/>
            <a:ext cx="5332147" cy="368458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12" name="Espace réservé du contenu 5">
            <a:extLst>
              <a:ext uri="{FF2B5EF4-FFF2-40B4-BE49-F238E27FC236}">
                <a16:creationId xmlns:a16="http://schemas.microsoft.com/office/drawing/2014/main" id="{37A31490-A10D-455A-B515-E26064D0E10A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276850" cy="368458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9490708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texte 3">
            <a:extLst>
              <a:ext uri="{FF2B5EF4-FFF2-40B4-BE49-F238E27FC236}">
                <a16:creationId xmlns:a16="http://schemas.microsoft.com/office/drawing/2014/main" id="{9F5DF135-B773-4FF0-A198-687768159124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4D4BA48E-457A-42FA-BC00-3AE386B38A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265862" cy="4873625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43DF8AE6-3466-400C-B6F1-335DF4DED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97698646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A3EA16B2-FFAE-4A6E-977D-191BC1DB5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10" name="Espace réservé du texte 3">
            <a:extLst>
              <a:ext uri="{FF2B5EF4-FFF2-40B4-BE49-F238E27FC236}">
                <a16:creationId xmlns:a16="http://schemas.microsoft.com/office/drawing/2014/main" id="{436B2E80-B2B9-4309-8C9B-11D0B83C433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’image 2">
            <a:extLst>
              <a:ext uri="{FF2B5EF4-FFF2-40B4-BE49-F238E27FC236}">
                <a16:creationId xmlns:a16="http://schemas.microsoft.com/office/drawing/2014/main" id="{03DB89DF-F372-4E54-9DFD-D53E42A2B8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</p:spTree>
    <p:extLst>
      <p:ext uri="{BB962C8B-B14F-4D97-AF65-F5344CB8AC3E}">
        <p14:creationId xmlns:p14="http://schemas.microsoft.com/office/powerpoint/2010/main" val="4294346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90F2147C-DDBF-4431-95AC-650CCE32FC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tx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  <p:sp>
        <p:nvSpPr>
          <p:cNvPr id="2" name="Espace réservé au titre 1">
            <a:extLst>
              <a:ext uri="{FF2B5EF4-FFF2-40B4-BE49-F238E27FC236}">
                <a16:creationId xmlns:a16="http://schemas.microsoft.com/office/drawing/2014/main" id="{224C3681-351A-40D9-8C08-632E98237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07CEF16-92A3-4A77-B95D-A9DB52319F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096770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70" r:id="rId10"/>
    <p:sldLayoutId id="2147483669" r:id="rId11"/>
    <p:sldLayoutId id="2147483655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.jp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1.png"/><Relationship Id="rId5" Type="http://schemas.openxmlformats.org/officeDocument/2006/relationships/image" Target="../media/image6.jp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jp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2.jp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10" Type="http://schemas.openxmlformats.org/officeDocument/2006/relationships/image" Target="../media/image170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24.png"/><Relationship Id="rId5" Type="http://schemas.openxmlformats.org/officeDocument/2006/relationships/image" Target="../media/image22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20.png"/><Relationship Id="rId9" Type="http://schemas.openxmlformats.org/officeDocument/2006/relationships/image" Target="../media/image2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5.jpe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4" Type="http://schemas.openxmlformats.org/officeDocument/2006/relationships/image" Target="../media/image26.png"/><Relationship Id="rId9" Type="http://schemas.openxmlformats.org/officeDocument/2006/relationships/image" Target="../media/image3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ous-titre 11">
            <a:extLst>
              <a:ext uri="{FF2B5EF4-FFF2-40B4-BE49-F238E27FC236}">
                <a16:creationId xmlns:a16="http://schemas.microsoft.com/office/drawing/2014/main" id="{B28A8D9C-5123-4D2B-9272-016EF90E0E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9079" y="4527030"/>
            <a:ext cx="4178808" cy="2069360"/>
          </a:xfrm>
        </p:spPr>
        <p:txBody>
          <a:bodyPr rtlCol="0"/>
          <a:lstStyle/>
          <a:p>
            <a:pPr rtl="0"/>
            <a:r>
              <a:rPr lang="fr-FR" dirty="0"/>
              <a:t>Vincent FORTINEAU </a:t>
            </a:r>
          </a:p>
          <a:p>
            <a:pPr algn="l" rtl="0"/>
            <a:endParaRPr lang="fr-FR" dirty="0"/>
          </a:p>
          <a:p>
            <a:pPr rtl="0">
              <a:spcAft>
                <a:spcPts val="1200"/>
              </a:spcAft>
            </a:pPr>
            <a:r>
              <a:rPr lang="fr-FR" u="sng" dirty="0"/>
              <a:t>Encadrement</a:t>
            </a:r>
          </a:p>
          <a:p>
            <a:pPr algn="l" rtl="0">
              <a:spcBef>
                <a:spcPts val="0"/>
              </a:spcBef>
            </a:pPr>
            <a:r>
              <a:rPr lang="fr-FR" dirty="0"/>
              <a:t>Maria MAKAROV (L2S)</a:t>
            </a:r>
          </a:p>
          <a:p>
            <a:pPr algn="l" rtl="0">
              <a:spcBef>
                <a:spcPts val="0"/>
              </a:spcBef>
            </a:pPr>
            <a:r>
              <a:rPr lang="fr-FR" dirty="0"/>
              <a:t>Pedro RODRIGUEZ-AYERBE (L2S)</a:t>
            </a:r>
          </a:p>
          <a:p>
            <a:pPr algn="l">
              <a:spcBef>
                <a:spcPts val="0"/>
              </a:spcBef>
            </a:pPr>
            <a:r>
              <a:rPr lang="fr-FR" dirty="0"/>
              <a:t>Isabelle SIEGLER (CIAMS) </a:t>
            </a:r>
          </a:p>
        </p:txBody>
      </p:sp>
      <p:grpSp>
        <p:nvGrpSpPr>
          <p:cNvPr id="4" name="Groupe 3" descr="élément décoratif">
            <a:extLst>
              <a:ext uri="{FF2B5EF4-FFF2-40B4-BE49-F238E27FC236}">
                <a16:creationId xmlns:a16="http://schemas.microsoft.com/office/drawing/2014/main" id="{EB664AAE-5AE9-41D7-8346-002B9F445323}"/>
              </a:ext>
            </a:extLst>
          </p:cNvPr>
          <p:cNvGrpSpPr/>
          <p:nvPr/>
        </p:nvGrpSpPr>
        <p:grpSpPr>
          <a:xfrm>
            <a:off x="-3740" y="0"/>
            <a:ext cx="6208649" cy="6858000"/>
            <a:chOff x="-3740" y="0"/>
            <a:chExt cx="6208649" cy="6858000"/>
          </a:xfrm>
        </p:grpSpPr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927C3783-B800-4093-BB0D-D5AEF08C3B59}"/>
                </a:ext>
              </a:extLst>
            </p:cNvPr>
            <p:cNvSpPr/>
            <p:nvPr/>
          </p:nvSpPr>
          <p:spPr>
            <a:xfrm>
              <a:off x="-3740" y="0"/>
              <a:ext cx="6208649" cy="6858000"/>
            </a:xfrm>
            <a:custGeom>
              <a:avLst/>
              <a:gdLst>
                <a:gd name="connsiteX0" fmla="*/ 0 w 6208649"/>
                <a:gd name="connsiteY0" fmla="*/ 0 h 6858000"/>
                <a:gd name="connsiteX1" fmla="*/ 6208649 w 6208649"/>
                <a:gd name="connsiteY1" fmla="*/ 0 h 6858000"/>
                <a:gd name="connsiteX2" fmla="*/ 2737815 w 6208649"/>
                <a:gd name="connsiteY2" fmla="*/ 6858000 h 6858000"/>
                <a:gd name="connsiteX3" fmla="*/ 0 w 6208649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08649" h="6858000">
                  <a:moveTo>
                    <a:pt x="0" y="0"/>
                  </a:moveTo>
                  <a:lnTo>
                    <a:pt x="6208649" y="0"/>
                  </a:lnTo>
                  <a:lnTo>
                    <a:pt x="2737815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lumMod val="95000"/>
                <a:alpha val="5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6E978-A841-4A4F-B153-CC369D9391D3}"/>
                </a:ext>
              </a:extLst>
            </p:cNvPr>
            <p:cNvSpPr/>
            <p:nvPr/>
          </p:nvSpPr>
          <p:spPr>
            <a:xfrm>
              <a:off x="1451429" y="0"/>
              <a:ext cx="3222172" cy="6858000"/>
            </a:xfrm>
            <a:prstGeom prst="rect">
              <a:avLst/>
            </a:prstGeom>
            <a:solidFill>
              <a:schemeClr val="accent1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pic>
        <p:nvPicPr>
          <p:cNvPr id="7" name="Espace réservé pour une image  6"/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5" r="26092"/>
          <a:stretch/>
        </p:blipFill>
        <p:spPr>
          <a:xfrm>
            <a:off x="-1" y="0"/>
            <a:ext cx="6676568" cy="6858000"/>
          </a:xfrm>
        </p:spPr>
      </p:pic>
      <p:grpSp>
        <p:nvGrpSpPr>
          <p:cNvPr id="13" name="Groupe 12" descr="élément décoratif">
            <a:extLst>
              <a:ext uri="{FF2B5EF4-FFF2-40B4-BE49-F238E27FC236}">
                <a16:creationId xmlns:a16="http://schemas.microsoft.com/office/drawing/2014/main" id="{EB664AAE-5AE9-41D7-8346-002B9F445323}"/>
              </a:ext>
            </a:extLst>
          </p:cNvPr>
          <p:cNvGrpSpPr/>
          <p:nvPr/>
        </p:nvGrpSpPr>
        <p:grpSpPr>
          <a:xfrm>
            <a:off x="-5888" y="10731"/>
            <a:ext cx="6208649" cy="6858000"/>
            <a:chOff x="-3740" y="0"/>
            <a:chExt cx="6208649" cy="6858000"/>
          </a:xfrm>
        </p:grpSpPr>
        <p:sp>
          <p:nvSpPr>
            <p:cNvPr id="15" name="Forme libre : Forme 10">
              <a:extLst>
                <a:ext uri="{FF2B5EF4-FFF2-40B4-BE49-F238E27FC236}">
                  <a16:creationId xmlns:a16="http://schemas.microsoft.com/office/drawing/2014/main" id="{927C3783-B800-4093-BB0D-D5AEF08C3B59}"/>
                </a:ext>
              </a:extLst>
            </p:cNvPr>
            <p:cNvSpPr/>
            <p:nvPr/>
          </p:nvSpPr>
          <p:spPr>
            <a:xfrm>
              <a:off x="-3740" y="0"/>
              <a:ext cx="6208649" cy="6858000"/>
            </a:xfrm>
            <a:custGeom>
              <a:avLst/>
              <a:gdLst>
                <a:gd name="connsiteX0" fmla="*/ 0 w 6208649"/>
                <a:gd name="connsiteY0" fmla="*/ 0 h 6858000"/>
                <a:gd name="connsiteX1" fmla="*/ 6208649 w 6208649"/>
                <a:gd name="connsiteY1" fmla="*/ 0 h 6858000"/>
                <a:gd name="connsiteX2" fmla="*/ 2737815 w 6208649"/>
                <a:gd name="connsiteY2" fmla="*/ 6858000 h 6858000"/>
                <a:gd name="connsiteX3" fmla="*/ 0 w 6208649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08649" h="6858000">
                  <a:moveTo>
                    <a:pt x="0" y="0"/>
                  </a:moveTo>
                  <a:lnTo>
                    <a:pt x="6208649" y="0"/>
                  </a:lnTo>
                  <a:lnTo>
                    <a:pt x="2737815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lumMod val="95000"/>
                <a:alpha val="5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576E978-A841-4A4F-B153-CC369D9391D3}"/>
                </a:ext>
              </a:extLst>
            </p:cNvPr>
            <p:cNvSpPr/>
            <p:nvPr/>
          </p:nvSpPr>
          <p:spPr>
            <a:xfrm>
              <a:off x="1451429" y="0"/>
              <a:ext cx="3222172" cy="6858000"/>
            </a:xfrm>
            <a:prstGeom prst="rect">
              <a:avLst/>
            </a:prstGeom>
            <a:solidFill>
              <a:schemeClr val="accent1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8" name="ZoneTexte 7"/>
          <p:cNvSpPr txBox="1"/>
          <p:nvPr/>
        </p:nvSpPr>
        <p:spPr>
          <a:xfrm>
            <a:off x="89953" y="6596390"/>
            <a:ext cx="12795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/>
              <a:t>Pollen </a:t>
            </a:r>
            <a:r>
              <a:rPr lang="fr-FR" sz="1100" i="1" dirty="0" err="1"/>
              <a:t>Robotics</a:t>
            </a:r>
            <a:r>
              <a:rPr lang="fr-FR" sz="1100" i="1" dirty="0"/>
              <a:t> SAS</a:t>
            </a:r>
          </a:p>
        </p:txBody>
      </p:sp>
      <p:sp>
        <p:nvSpPr>
          <p:cNvPr id="3" name="Rectangle avec coins arrondis en diagonale 2"/>
          <p:cNvSpPr/>
          <p:nvPr/>
        </p:nvSpPr>
        <p:spPr>
          <a:xfrm>
            <a:off x="6676568" y="3268890"/>
            <a:ext cx="5523584" cy="592978"/>
          </a:xfrm>
          <a:prstGeom prst="round2DiagRect">
            <a:avLst/>
          </a:prstGeom>
          <a:gradFill>
            <a:gsLst>
              <a:gs pos="0">
                <a:schemeClr val="tx2">
                  <a:lumMod val="60000"/>
                  <a:lumOff val="40000"/>
                </a:schemeClr>
              </a:gs>
              <a:gs pos="61000">
                <a:schemeClr val="tx2">
                  <a:lumMod val="60000"/>
                  <a:lumOff val="40000"/>
                </a:schemeClr>
              </a:gs>
              <a:gs pos="100000">
                <a:schemeClr val="accent1">
                  <a:lumMod val="30000"/>
                  <a:lumOff val="7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200" b="1" dirty="0"/>
              <a:t>   JOURNEE </a:t>
            </a:r>
            <a:r>
              <a:rPr lang="fr-FR" sz="3200" b="1" dirty="0" err="1"/>
              <a:t>FeDeV</a:t>
            </a:r>
            <a:r>
              <a:rPr lang="fr-FR" sz="3200" b="1" dirty="0"/>
              <a:t> 2019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238643"/>
            <a:ext cx="6697854" cy="11458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588" y="5541264"/>
            <a:ext cx="1107787" cy="651639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1846" y="5401904"/>
            <a:ext cx="1794080" cy="930358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0" b="100000" l="0" r="100000">
                        <a14:foregroundMark x1="18750" y1="25022" x2="18750" y2="25022"/>
                        <a14:foregroundMark x1="25521" y1="39181" x2="25521" y2="39181"/>
                        <a14:foregroundMark x1="27604" y1="41140" x2="27604" y2="41140"/>
                        <a14:foregroundMark x1="19531" y1="31612" x2="19531" y2="31612"/>
                        <a14:foregroundMark x1="24323" y1="17453" x2="24323" y2="17453"/>
                        <a14:foregroundMark x1="31094" y1="43811" x2="31094" y2="43811"/>
                        <a14:foregroundMark x1="69688" y1="39893" x2="69688" y2="39893"/>
                        <a14:foregroundMark x1="73906" y1="46483" x2="73906" y2="46483"/>
                        <a14:foregroundMark x1="52500" y1="47106" x2="52500" y2="47106"/>
                        <a14:foregroundMark x1="61979" y1="62956" x2="61979" y2="62956"/>
                        <a14:foregroundMark x1="56198" y1="77115" x2="56198" y2="77115"/>
                        <a14:foregroundMark x1="48646" y1="69546" x2="48646" y2="69546"/>
                        <a14:foregroundMark x1="43802" y1="74176" x2="43802" y2="74176"/>
                        <a14:foregroundMark x1="39219" y1="65539" x2="39219" y2="65539"/>
                        <a14:foregroundMark x1="43073" y1="63313" x2="43073" y2="63313"/>
                        <a14:foregroundMark x1="48073" y1="65272" x2="48073" y2="65272"/>
                        <a14:foregroundMark x1="43646" y1="81122" x2="43646" y2="81122"/>
                        <a14:foregroundMark x1="50781" y1="80766" x2="50781" y2="80766"/>
                        <a14:foregroundMark x1="54219" y1="81745" x2="54219" y2="81745"/>
                        <a14:foregroundMark x1="55990" y1="70525" x2="55990" y2="70525"/>
                        <a14:foregroundMark x1="64479" y1="65539" x2="64479" y2="65539"/>
                        <a14:foregroundMark x1="66406" y1="73464" x2="66406" y2="73464"/>
                        <a14:foregroundMark x1="67917" y1="36866" x2="67917" y2="36866"/>
                        <a14:foregroundMark x1="63490" y1="36242" x2="63490" y2="36242"/>
                        <a14:foregroundMark x1="61979" y1="39537" x2="61979" y2="39537"/>
                        <a14:foregroundMark x1="74115" y1="40160" x2="74115" y2="40160"/>
                        <a14:foregroundMark x1="65990" y1="46750" x2="65990" y2="46750"/>
                        <a14:foregroundMark x1="56198" y1="47462" x2="56198" y2="47462"/>
                        <a14:foregroundMark x1="45938" y1="45503" x2="45938" y2="45503"/>
                        <a14:foregroundMark x1="46146" y1="37845" x2="46146" y2="37845"/>
                        <a14:foregroundMark x1="41302" y1="36242" x2="41302" y2="36242"/>
                        <a14:foregroundMark x1="79531" y1="39181" x2="79531" y2="39181"/>
                        <a14:foregroundMark x1="85469" y1="50401" x2="85469" y2="50401"/>
                        <a14:foregroundMark x1="81823" y1="55387" x2="81823" y2="55387"/>
                        <a14:foregroundMark x1="82813" y1="45503" x2="82813" y2="45503"/>
                        <a14:foregroundMark x1="49635" y1="48085" x2="49635" y2="48085"/>
                        <a14:foregroundMark x1="52500" y1="36866" x2="52500" y2="36866"/>
                        <a14:foregroundMark x1="38438" y1="42832" x2="38438" y2="42832"/>
                        <a14:foregroundMark x1="53750" y1="21995" x2="53750" y2="21995"/>
                        <a14:foregroundMark x1="56510" y1="22707" x2="56510" y2="22707"/>
                        <a14:foregroundMark x1="51198" y1="23687" x2="51198" y2="23687"/>
                        <a14:foregroundMark x1="50990" y1="20659" x2="50990" y2="20659"/>
                        <a14:foregroundMark x1="48542" y1="23954" x2="48542" y2="23954"/>
                        <a14:foregroundMark x1="45938" y1="21193" x2="45938" y2="21193"/>
                        <a14:foregroundMark x1="44219" y1="23152" x2="44219" y2="23152"/>
                        <a14:foregroundMark x1="48698" y1="19679" x2="48698" y2="19679"/>
                        <a14:foregroundMark x1="42031" y1="19145" x2="42031" y2="19145"/>
                        <a14:foregroundMark x1="42292" y1="25200" x2="42292" y2="25200"/>
                        <a14:foregroundMark x1="39844" y1="27605" x2="39844" y2="27605"/>
                        <a14:foregroundMark x1="38177" y1="21638" x2="38177" y2="21638"/>
                        <a14:foregroundMark x1="61042" y1="18433" x2="61042" y2="18433"/>
                        <a14:foregroundMark x1="59427" y1="21906" x2="59427" y2="21906"/>
                        <a14:foregroundMark x1="68333" y1="21104" x2="68333" y2="21104"/>
                        <a14:foregroundMark x1="64323" y1="21193" x2="64323" y2="21193"/>
                        <a14:foregroundMark x1="71458" y1="17988" x2="71458" y2="17988"/>
                        <a14:foregroundMark x1="73021" y1="23687" x2="73021" y2="23687"/>
                        <a14:foregroundMark x1="75938" y1="20481" x2="75938" y2="20481"/>
                        <a14:foregroundMark x1="79063" y1="20392" x2="79063" y2="20392"/>
                        <a14:foregroundMark x1="82865" y1="20926" x2="82865" y2="20926"/>
                        <a14:foregroundMark x1="84844" y1="17720" x2="84844" y2="17720"/>
                        <a14:foregroundMark x1="85260" y1="15227" x2="85260" y2="15227"/>
                        <a14:foregroundMark x1="82656" y1="27070" x2="82656" y2="27070"/>
                        <a14:foregroundMark x1="32865" y1="54497" x2="32865" y2="5449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152" y="5334033"/>
            <a:ext cx="1706678" cy="998229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3208" y="5472912"/>
            <a:ext cx="1808404" cy="61127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913341"/>
            <a:ext cx="12200151" cy="1517904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8BAA8DA-C40B-4AB9-9407-30FB703351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880" y="840189"/>
            <a:ext cx="8601383" cy="1690060"/>
          </a:xfrm>
        </p:spPr>
        <p:txBody>
          <a:bodyPr rtlCol="0"/>
          <a:lstStyle/>
          <a:p>
            <a:pPr rtl="0"/>
            <a:r>
              <a:rPr lang="fr-FR" dirty="0"/>
              <a:t>C</a:t>
            </a:r>
            <a:r>
              <a:rPr lang="fr-FR" sz="3600" dirty="0"/>
              <a:t>OMMANDE BIO-INSPIREE DE ROBOT POUR DES TACHES RYTHMIQUES EN INTERACTION AVEC L’ENVIRONNEMENT</a:t>
            </a:r>
          </a:p>
        </p:txBody>
      </p:sp>
    </p:spTree>
    <p:extLst>
      <p:ext uri="{BB962C8B-B14F-4D97-AF65-F5344CB8AC3E}">
        <p14:creationId xmlns:p14="http://schemas.microsoft.com/office/powerpoint/2010/main" val="1725568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-37946" t="-96" r="37946" b="96"/>
          <a:stretch/>
        </p:blipFill>
        <p:spPr>
          <a:xfrm>
            <a:off x="6713621" y="3820"/>
            <a:ext cx="5478379" cy="6847626"/>
          </a:xfrm>
        </p:spPr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2</a:t>
            </a:fld>
            <a:endParaRPr lang="fr-FR" sz="1200">
              <a:solidFill>
                <a:schemeClr val="bg1"/>
              </a:solidFill>
            </a:endParaRPr>
          </a:p>
        </p:txBody>
      </p:sp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81823" y="1114116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 anchor="ctr"/>
          <a:lstStyle/>
          <a:p>
            <a:pPr rtl="0"/>
            <a:r>
              <a:rPr lang="fr-FR" sz="3200" b="1" dirty="0">
                <a:solidFill>
                  <a:schemeClr val="accent2"/>
                </a:solidFill>
              </a:rPr>
              <a:t>Mouvements rythmiques bio-inspirés 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6"/>
          <a:srcRect l="2381" t="16095" r="11548" b="12095"/>
          <a:stretch/>
        </p:blipFill>
        <p:spPr>
          <a:xfrm>
            <a:off x="696369" y="1493480"/>
            <a:ext cx="4561644" cy="2378617"/>
          </a:xfrm>
          <a:prstGeom prst="rect">
            <a:avLst/>
          </a:prstGeom>
        </p:spPr>
      </p:pic>
      <p:sp>
        <p:nvSpPr>
          <p:cNvPr id="8" name="Ellipse 7"/>
          <p:cNvSpPr/>
          <p:nvPr/>
        </p:nvSpPr>
        <p:spPr>
          <a:xfrm>
            <a:off x="1841185" y="240030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orme libre 12"/>
          <p:cNvSpPr/>
          <p:nvPr/>
        </p:nvSpPr>
        <p:spPr>
          <a:xfrm>
            <a:off x="1917700" y="2196141"/>
            <a:ext cx="622300" cy="883609"/>
          </a:xfrm>
          <a:custGeom>
            <a:avLst/>
            <a:gdLst>
              <a:gd name="connsiteX0" fmla="*/ 0 w 622300"/>
              <a:gd name="connsiteY0" fmla="*/ 197809 h 883609"/>
              <a:gd name="connsiteX1" fmla="*/ 203200 w 622300"/>
              <a:gd name="connsiteY1" fmla="*/ 959 h 883609"/>
              <a:gd name="connsiteX2" fmla="*/ 368300 w 622300"/>
              <a:gd name="connsiteY2" fmla="*/ 140659 h 883609"/>
              <a:gd name="connsiteX3" fmla="*/ 520700 w 622300"/>
              <a:gd name="connsiteY3" fmla="*/ 521659 h 883609"/>
              <a:gd name="connsiteX4" fmla="*/ 622300 w 622300"/>
              <a:gd name="connsiteY4" fmla="*/ 883609 h 883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2300" h="883609">
                <a:moveTo>
                  <a:pt x="0" y="197809"/>
                </a:moveTo>
                <a:cubicBezTo>
                  <a:pt x="70908" y="104146"/>
                  <a:pt x="141817" y="10484"/>
                  <a:pt x="203200" y="959"/>
                </a:cubicBezTo>
                <a:cubicBezTo>
                  <a:pt x="264583" y="-8566"/>
                  <a:pt x="315383" y="53876"/>
                  <a:pt x="368300" y="140659"/>
                </a:cubicBezTo>
                <a:cubicBezTo>
                  <a:pt x="421217" y="227442"/>
                  <a:pt x="478367" y="397834"/>
                  <a:pt x="520700" y="521659"/>
                </a:cubicBezTo>
                <a:cubicBezTo>
                  <a:pt x="563033" y="645484"/>
                  <a:pt x="592666" y="764546"/>
                  <a:pt x="622300" y="883609"/>
                </a:cubicBezTo>
              </a:path>
            </a:pathLst>
          </a:cu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Forme libre 18"/>
          <p:cNvSpPr/>
          <p:nvPr/>
        </p:nvSpPr>
        <p:spPr>
          <a:xfrm>
            <a:off x="2540794" y="2350904"/>
            <a:ext cx="750094" cy="744721"/>
          </a:xfrm>
          <a:custGeom>
            <a:avLst/>
            <a:gdLst>
              <a:gd name="connsiteX0" fmla="*/ 0 w 750094"/>
              <a:gd name="connsiteY0" fmla="*/ 718527 h 744721"/>
              <a:gd name="connsiteX1" fmla="*/ 78581 w 750094"/>
              <a:gd name="connsiteY1" fmla="*/ 454209 h 744721"/>
              <a:gd name="connsiteX2" fmla="*/ 150019 w 750094"/>
              <a:gd name="connsiteY2" fmla="*/ 256565 h 744721"/>
              <a:gd name="connsiteX3" fmla="*/ 223837 w 750094"/>
              <a:gd name="connsiteY3" fmla="*/ 108927 h 744721"/>
              <a:gd name="connsiteX4" fmla="*/ 304800 w 750094"/>
              <a:gd name="connsiteY4" fmla="*/ 23202 h 744721"/>
              <a:gd name="connsiteX5" fmla="*/ 373856 w 750094"/>
              <a:gd name="connsiteY5" fmla="*/ 1771 h 744721"/>
              <a:gd name="connsiteX6" fmla="*/ 469106 w 750094"/>
              <a:gd name="connsiteY6" fmla="*/ 58921 h 744721"/>
              <a:gd name="connsiteX7" fmla="*/ 557212 w 750094"/>
              <a:gd name="connsiteY7" fmla="*/ 182746 h 744721"/>
              <a:gd name="connsiteX8" fmla="*/ 645319 w 750094"/>
              <a:gd name="connsiteY8" fmla="*/ 406584 h 744721"/>
              <a:gd name="connsiteX9" fmla="*/ 719137 w 750094"/>
              <a:gd name="connsiteY9" fmla="*/ 630421 h 744721"/>
              <a:gd name="connsiteX10" fmla="*/ 750094 w 750094"/>
              <a:gd name="connsiteY10" fmla="*/ 744721 h 7447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50094" h="744721">
                <a:moveTo>
                  <a:pt x="0" y="718527"/>
                </a:moveTo>
                <a:cubicBezTo>
                  <a:pt x="26789" y="624865"/>
                  <a:pt x="53578" y="531203"/>
                  <a:pt x="78581" y="454209"/>
                </a:cubicBezTo>
                <a:cubicBezTo>
                  <a:pt x="103584" y="377215"/>
                  <a:pt x="125810" y="314112"/>
                  <a:pt x="150019" y="256565"/>
                </a:cubicBezTo>
                <a:cubicBezTo>
                  <a:pt x="174228" y="199018"/>
                  <a:pt x="198040" y="147821"/>
                  <a:pt x="223837" y="108927"/>
                </a:cubicBezTo>
                <a:cubicBezTo>
                  <a:pt x="249634" y="70033"/>
                  <a:pt x="279797" y="41061"/>
                  <a:pt x="304800" y="23202"/>
                </a:cubicBezTo>
                <a:cubicBezTo>
                  <a:pt x="329803" y="5343"/>
                  <a:pt x="346472" y="-4182"/>
                  <a:pt x="373856" y="1771"/>
                </a:cubicBezTo>
                <a:cubicBezTo>
                  <a:pt x="401240" y="7724"/>
                  <a:pt x="438547" y="28758"/>
                  <a:pt x="469106" y="58921"/>
                </a:cubicBezTo>
                <a:cubicBezTo>
                  <a:pt x="499665" y="89083"/>
                  <a:pt x="527843" y="124802"/>
                  <a:pt x="557212" y="182746"/>
                </a:cubicBezTo>
                <a:cubicBezTo>
                  <a:pt x="586581" y="240690"/>
                  <a:pt x="618332" y="331971"/>
                  <a:pt x="645319" y="406584"/>
                </a:cubicBezTo>
                <a:cubicBezTo>
                  <a:pt x="672307" y="481196"/>
                  <a:pt x="701675" y="574065"/>
                  <a:pt x="719137" y="630421"/>
                </a:cubicBezTo>
                <a:cubicBezTo>
                  <a:pt x="736599" y="686777"/>
                  <a:pt x="743346" y="715749"/>
                  <a:pt x="750094" y="744721"/>
                </a:cubicBezTo>
              </a:path>
            </a:pathLst>
          </a:cu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Forme libre 25"/>
          <p:cNvSpPr/>
          <p:nvPr/>
        </p:nvSpPr>
        <p:spPr>
          <a:xfrm>
            <a:off x="3293269" y="2421708"/>
            <a:ext cx="709612" cy="669155"/>
          </a:xfrm>
          <a:custGeom>
            <a:avLst/>
            <a:gdLst>
              <a:gd name="connsiteX0" fmla="*/ 0 w 709612"/>
              <a:gd name="connsiteY0" fmla="*/ 669155 h 669155"/>
              <a:gd name="connsiteX1" fmla="*/ 142875 w 709612"/>
              <a:gd name="connsiteY1" fmla="*/ 235767 h 669155"/>
              <a:gd name="connsiteX2" fmla="*/ 350044 w 709612"/>
              <a:gd name="connsiteY2" fmla="*/ 23 h 669155"/>
              <a:gd name="connsiteX3" fmla="*/ 573881 w 709612"/>
              <a:gd name="connsiteY3" fmla="*/ 247673 h 669155"/>
              <a:gd name="connsiteX4" fmla="*/ 709612 w 709612"/>
              <a:gd name="connsiteY4" fmla="*/ 662011 h 669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9612" h="669155">
                <a:moveTo>
                  <a:pt x="0" y="669155"/>
                </a:moveTo>
                <a:cubicBezTo>
                  <a:pt x="42267" y="508222"/>
                  <a:pt x="84534" y="347289"/>
                  <a:pt x="142875" y="235767"/>
                </a:cubicBezTo>
                <a:cubicBezTo>
                  <a:pt x="201216" y="124245"/>
                  <a:pt x="278210" y="-1961"/>
                  <a:pt x="350044" y="23"/>
                </a:cubicBezTo>
                <a:cubicBezTo>
                  <a:pt x="421878" y="2007"/>
                  <a:pt x="513953" y="137342"/>
                  <a:pt x="573881" y="247673"/>
                </a:cubicBezTo>
                <a:cubicBezTo>
                  <a:pt x="633809" y="358004"/>
                  <a:pt x="671710" y="510007"/>
                  <a:pt x="709612" y="662011"/>
                </a:cubicBezTo>
              </a:path>
            </a:pathLst>
          </a:cu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Forme libre 26"/>
          <p:cNvSpPr/>
          <p:nvPr/>
        </p:nvSpPr>
        <p:spPr>
          <a:xfrm>
            <a:off x="4002881" y="2278854"/>
            <a:ext cx="657225" cy="788196"/>
          </a:xfrm>
          <a:custGeom>
            <a:avLst/>
            <a:gdLst>
              <a:gd name="connsiteX0" fmla="*/ 0 w 657225"/>
              <a:gd name="connsiteY0" fmla="*/ 788196 h 788196"/>
              <a:gd name="connsiteX1" fmla="*/ 128588 w 657225"/>
              <a:gd name="connsiteY1" fmla="*/ 342902 h 788196"/>
              <a:gd name="connsiteX2" fmla="*/ 381000 w 657225"/>
              <a:gd name="connsiteY2" fmla="*/ 2 h 788196"/>
              <a:gd name="connsiteX3" fmla="*/ 657225 w 657225"/>
              <a:gd name="connsiteY3" fmla="*/ 347665 h 788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7225" h="788196">
                <a:moveTo>
                  <a:pt x="0" y="788196"/>
                </a:moveTo>
                <a:cubicBezTo>
                  <a:pt x="32544" y="631232"/>
                  <a:pt x="65088" y="474268"/>
                  <a:pt x="128588" y="342902"/>
                </a:cubicBezTo>
                <a:cubicBezTo>
                  <a:pt x="192088" y="211536"/>
                  <a:pt x="292894" y="-792"/>
                  <a:pt x="381000" y="2"/>
                </a:cubicBezTo>
                <a:cubicBezTo>
                  <a:pt x="469106" y="796"/>
                  <a:pt x="563165" y="174230"/>
                  <a:pt x="657225" y="347665"/>
                </a:cubicBezTo>
              </a:path>
            </a:pathLst>
          </a:cu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à coins arrondis 27"/>
          <p:cNvSpPr/>
          <p:nvPr/>
        </p:nvSpPr>
        <p:spPr>
          <a:xfrm>
            <a:off x="5546087" y="1847626"/>
            <a:ext cx="4994374" cy="2327849"/>
          </a:xfrm>
          <a:prstGeom prst="roundRect">
            <a:avLst>
              <a:gd name="adj" fmla="val 8908"/>
            </a:avLst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rIns="3600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chemeClr val="tx1"/>
                </a:solidFill>
              </a:rPr>
              <a:t>Thèse, AVRIN (2017)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« </a:t>
            </a:r>
            <a:r>
              <a:rPr lang="fr-FR" sz="2200" i="1" dirty="0">
                <a:solidFill>
                  <a:schemeClr val="tx1"/>
                </a:solidFill>
              </a:rPr>
              <a:t>Central Pattern </a:t>
            </a:r>
            <a:r>
              <a:rPr lang="fr-FR" sz="2200" i="1" dirty="0" err="1">
                <a:solidFill>
                  <a:schemeClr val="tx1"/>
                </a:solidFill>
              </a:rPr>
              <a:t>Generator</a:t>
            </a:r>
            <a:r>
              <a:rPr lang="fr-FR" sz="2200" dirty="0">
                <a:solidFill>
                  <a:schemeClr val="tx1"/>
                </a:solidFill>
              </a:rPr>
              <a:t> » (CPG)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Tâche de jonglerie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Contrôle visuel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chemeClr val="tx1"/>
                </a:solidFill>
              </a:rPr>
              <a:t>Expériences, SIEGLER (2013)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Environnement virtuel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32" name="Rectangle à coins arrondis 31"/>
          <p:cNvSpPr/>
          <p:nvPr/>
        </p:nvSpPr>
        <p:spPr>
          <a:xfrm>
            <a:off x="5557375" y="4445872"/>
            <a:ext cx="4994375" cy="1853443"/>
          </a:xfrm>
          <a:prstGeom prst="roundRect">
            <a:avLst>
              <a:gd name="adj" fmla="val 9702"/>
            </a:avLst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rIns="3600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chemeClr val="tx1"/>
                </a:solidFill>
              </a:rPr>
              <a:t>Oscillateur neuronal de </a:t>
            </a:r>
            <a:r>
              <a:rPr lang="fr-FR" sz="2200" dirty="0" err="1">
                <a:solidFill>
                  <a:schemeClr val="tx1"/>
                </a:solidFill>
              </a:rPr>
              <a:t>Matsuoka</a:t>
            </a:r>
            <a:r>
              <a:rPr lang="fr-FR" sz="2200" dirty="0">
                <a:solidFill>
                  <a:schemeClr val="tx1"/>
                </a:solidFill>
              </a:rPr>
              <a:t> (CPG)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Génération de signaux rythmiques non linéaires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Asservissement par position et vitesse de la balle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48" name="Forme libre 47"/>
          <p:cNvSpPr/>
          <p:nvPr/>
        </p:nvSpPr>
        <p:spPr>
          <a:xfrm>
            <a:off x="0" y="0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tx2">
                  <a:alpha val="55000"/>
                </a:schemeClr>
              </a:gs>
              <a:gs pos="0">
                <a:schemeClr val="tx2"/>
              </a:gs>
              <a:gs pos="100000">
                <a:schemeClr val="tx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CONTEXTE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pic>
        <p:nvPicPr>
          <p:cNvPr id="29" name="Image 28"/>
          <p:cNvPicPr>
            <a:picLocks noChangeAspect="1"/>
          </p:cNvPicPr>
          <p:nvPr/>
        </p:nvPicPr>
        <p:blipFill rotWithShape="1">
          <a:blip r:embed="rId7"/>
          <a:srcRect l="4013" t="15279" r="3107" b="14916"/>
          <a:stretch/>
        </p:blipFill>
        <p:spPr>
          <a:xfrm>
            <a:off x="374849" y="3995278"/>
            <a:ext cx="5081984" cy="2387143"/>
          </a:xfrm>
          <a:prstGeom prst="rect">
            <a:avLst/>
          </a:prstGeom>
        </p:spPr>
      </p:pic>
      <p:grpSp>
        <p:nvGrpSpPr>
          <p:cNvPr id="34" name="Groupe 33"/>
          <p:cNvGrpSpPr/>
          <p:nvPr/>
        </p:nvGrpSpPr>
        <p:grpSpPr>
          <a:xfrm>
            <a:off x="6839258" y="105657"/>
            <a:ext cx="4332779" cy="342900"/>
            <a:chOff x="830754" y="3538318"/>
            <a:chExt cx="4332779" cy="342900"/>
          </a:xfrm>
        </p:grpSpPr>
        <p:grpSp>
          <p:nvGrpSpPr>
            <p:cNvPr id="36" name="Groupe 35"/>
            <p:cNvGrpSpPr/>
            <p:nvPr/>
          </p:nvGrpSpPr>
          <p:grpSpPr>
            <a:xfrm>
              <a:off x="871537" y="3574830"/>
              <a:ext cx="4291996" cy="266796"/>
              <a:chOff x="755650" y="1900714"/>
              <a:chExt cx="4291996" cy="266796"/>
            </a:xfrm>
          </p:grpSpPr>
          <p:grpSp>
            <p:nvGrpSpPr>
              <p:cNvPr id="50" name="Groupe 49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53" name="Ellipse 52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4" name="Ellipse 53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5" name="Ellipse 54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6" name="Ellipse 55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7" name="Ellipse 56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8" name="Ellipse 57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9" name="Ellipse 58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0" name="Ellipse 59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51" name="Ellipse 50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49" name="Ellipse 48"/>
            <p:cNvSpPr/>
            <p:nvPr/>
          </p:nvSpPr>
          <p:spPr>
            <a:xfrm>
              <a:off x="830754" y="3538318"/>
              <a:ext cx="342900" cy="3429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07125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/>
          <a:srcRect l="-37946" t="-96" r="37946" b="96"/>
          <a:stretch/>
        </p:blipFill>
        <p:spPr>
          <a:xfrm>
            <a:off x="6713621" y="3820"/>
            <a:ext cx="5478379" cy="6847626"/>
          </a:xfrm>
        </p:spPr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3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5" y="557439"/>
            <a:ext cx="8065971" cy="830997"/>
          </a:xfrm>
        </p:spPr>
        <p:txBody>
          <a:bodyPr rtlCol="0" anchor="ctr"/>
          <a:lstStyle/>
          <a:p>
            <a:r>
              <a:rPr lang="fr-FR" sz="3200" b="1" dirty="0">
                <a:solidFill>
                  <a:schemeClr val="accent2"/>
                </a:solidFill>
              </a:rPr>
              <a:t>Interactions physiques avec l’environnement</a:t>
            </a:r>
          </a:p>
        </p:txBody>
      </p:sp>
      <p:pic>
        <p:nvPicPr>
          <p:cNvPr id="8" name="Déformation de la balle de tennis et de la raquette (Slowmotion)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6"/>
          <a:srcRect r="21877"/>
          <a:stretch>
            <a:fillRect/>
          </a:stretch>
        </p:blipFill>
        <p:spPr>
          <a:xfrm>
            <a:off x="633185" y="2053907"/>
            <a:ext cx="3537480" cy="3150270"/>
          </a:xfrm>
          <a:prstGeom prst="roundRect">
            <a:avLst>
              <a:gd name="adj" fmla="val 5439"/>
            </a:avLst>
          </a:prstGeom>
          <a:ln>
            <a:noFill/>
          </a:ln>
          <a:effectLst>
            <a:innerShdw blurRad="114300" dist="50800">
              <a:srgbClr val="000000">
                <a:alpha val="0"/>
              </a:srgbClr>
            </a:innerShdw>
          </a:effectLst>
        </p:spPr>
      </p:pic>
      <p:sp>
        <p:nvSpPr>
          <p:cNvPr id="50" name="Forme libre 49"/>
          <p:cNvSpPr/>
          <p:nvPr/>
        </p:nvSpPr>
        <p:spPr>
          <a:xfrm>
            <a:off x="0" y="0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tx2">
                  <a:alpha val="55000"/>
                </a:schemeClr>
              </a:gs>
              <a:gs pos="0">
                <a:schemeClr val="tx2"/>
              </a:gs>
              <a:gs pos="100000">
                <a:schemeClr val="tx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CONTEXTE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4941921" y="2329709"/>
            <a:ext cx="5817618" cy="23698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fr-FR" sz="2200" dirty="0"/>
              <a:t>Balle pesante (masse négligée précédemment)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sz="2000" dirty="0"/>
          </a:p>
          <a:p>
            <a: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fr-FR" sz="2200" dirty="0"/>
              <a:t>Réaction du bras / raquette</a:t>
            </a:r>
          </a:p>
          <a:p>
            <a: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lang="fr-FR" sz="2200" dirty="0"/>
          </a:p>
          <a:p>
            <a: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fr-FR" sz="2200" dirty="0"/>
              <a:t>Commande bio-inspirée pour robot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sz="2000" dirty="0"/>
          </a:p>
        </p:txBody>
      </p:sp>
      <p:sp>
        <p:nvSpPr>
          <p:cNvPr id="51" name="Rectangle à coins arrondis 50"/>
          <p:cNvSpPr/>
          <p:nvPr/>
        </p:nvSpPr>
        <p:spPr>
          <a:xfrm>
            <a:off x="5532171" y="4881868"/>
            <a:ext cx="4209450" cy="126270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>
                <a:solidFill>
                  <a:schemeClr val="tx1"/>
                </a:solidFill>
              </a:rPr>
              <a:t>Comment se comporte le membre supérieur lors d’une interaction physique avec un environnement ? 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</p:txBody>
      </p:sp>
      <p:grpSp>
        <p:nvGrpSpPr>
          <p:cNvPr id="53" name="Groupe 52"/>
          <p:cNvGrpSpPr/>
          <p:nvPr/>
        </p:nvGrpSpPr>
        <p:grpSpPr>
          <a:xfrm>
            <a:off x="6978562" y="3996646"/>
            <a:ext cx="1138589" cy="948843"/>
            <a:chOff x="7347566" y="1482385"/>
            <a:chExt cx="1138589" cy="948843"/>
          </a:xfrm>
        </p:grpSpPr>
        <p:sp>
          <p:nvSpPr>
            <p:cNvPr id="54" name="Rectangle 53"/>
            <p:cNvSpPr/>
            <p:nvPr/>
          </p:nvSpPr>
          <p:spPr>
            <a:xfrm>
              <a:off x="7745933" y="1482385"/>
              <a:ext cx="498855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5400" b="1" cap="none" spc="0" dirty="0">
                  <a:ln w="12700">
                    <a:solidFill>
                      <a:schemeClr val="tx2">
                        <a:lumMod val="75000"/>
                      </a:schemeClr>
                    </a:solidFill>
                    <a:prstDash val="solid"/>
                  </a:ln>
                  <a:pattFill prst="dkUpDiag">
                    <a:fgClr>
                      <a:schemeClr val="tx2"/>
                    </a:fgClr>
                    <a:bgClr>
                      <a:schemeClr val="tx2">
                        <a:lumMod val="20000"/>
                        <a:lumOff val="80000"/>
                      </a:schemeClr>
                    </a:bgClr>
                  </a:pattFill>
                  <a:effectLst>
                    <a:outerShdw dist="38100" dir="2640000" algn="bl" rotWithShape="0">
                      <a:schemeClr val="tx2">
                        <a:lumMod val="75000"/>
                      </a:schemeClr>
                    </a:outerShdw>
                  </a:effectLst>
                </a:rPr>
                <a:t>?</a:t>
              </a:r>
            </a:p>
          </p:txBody>
        </p:sp>
        <p:sp>
          <p:nvSpPr>
            <p:cNvPr id="55" name="Rectangle 54"/>
            <p:cNvSpPr/>
            <p:nvPr/>
          </p:nvSpPr>
          <p:spPr>
            <a:xfrm rot="1650776">
              <a:off x="8069053" y="1723342"/>
              <a:ext cx="417102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4000" b="1" cap="none" spc="0" dirty="0">
                  <a:ln w="12700">
                    <a:solidFill>
                      <a:schemeClr val="tx2">
                        <a:lumMod val="75000"/>
                      </a:schemeClr>
                    </a:solidFill>
                    <a:prstDash val="solid"/>
                  </a:ln>
                  <a:pattFill prst="dkUpDiag">
                    <a:fgClr>
                      <a:schemeClr val="tx2"/>
                    </a:fgClr>
                    <a:bgClr>
                      <a:schemeClr val="tx2">
                        <a:lumMod val="20000"/>
                        <a:lumOff val="80000"/>
                      </a:schemeClr>
                    </a:bgClr>
                  </a:pattFill>
                  <a:effectLst>
                    <a:outerShdw dist="38100" dir="2640000" algn="bl" rotWithShape="0">
                      <a:schemeClr val="tx2">
                        <a:lumMod val="75000"/>
                      </a:schemeClr>
                    </a:outerShdw>
                  </a:effectLst>
                </a:rPr>
                <a:t>?</a:t>
              </a:r>
            </a:p>
          </p:txBody>
        </p:sp>
        <p:sp>
          <p:nvSpPr>
            <p:cNvPr id="56" name="Rectangle 55"/>
            <p:cNvSpPr/>
            <p:nvPr/>
          </p:nvSpPr>
          <p:spPr>
            <a:xfrm rot="18701260">
              <a:off x="7492958" y="1620471"/>
              <a:ext cx="417102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4000" b="1" cap="none" spc="0" dirty="0">
                  <a:ln w="12700">
                    <a:solidFill>
                      <a:schemeClr val="tx2">
                        <a:lumMod val="75000"/>
                      </a:schemeClr>
                    </a:solidFill>
                    <a:prstDash val="solid"/>
                  </a:ln>
                  <a:pattFill prst="dkUpDiag">
                    <a:fgClr>
                      <a:schemeClr val="tx2"/>
                    </a:fgClr>
                    <a:bgClr>
                      <a:schemeClr val="tx2">
                        <a:lumMod val="20000"/>
                        <a:lumOff val="80000"/>
                      </a:schemeClr>
                    </a:bgClr>
                  </a:pattFill>
                  <a:effectLst>
                    <a:outerShdw dist="38100" dir="2640000" algn="bl" rotWithShape="0">
                      <a:schemeClr val="tx2">
                        <a:lumMod val="75000"/>
                      </a:schemeClr>
                    </a:outerShdw>
                  </a:effectLst>
                </a:rPr>
                <a:t>?</a:t>
              </a:r>
            </a:p>
          </p:txBody>
        </p:sp>
      </p:grpSp>
      <p:grpSp>
        <p:nvGrpSpPr>
          <p:cNvPr id="31" name="Groupe 30"/>
          <p:cNvGrpSpPr/>
          <p:nvPr/>
        </p:nvGrpSpPr>
        <p:grpSpPr>
          <a:xfrm>
            <a:off x="6877466" y="107950"/>
            <a:ext cx="4291996" cy="342900"/>
            <a:chOff x="908050" y="4203997"/>
            <a:chExt cx="4291996" cy="342900"/>
          </a:xfrm>
        </p:grpSpPr>
        <p:grpSp>
          <p:nvGrpSpPr>
            <p:cNvPr id="32" name="Groupe 31"/>
            <p:cNvGrpSpPr/>
            <p:nvPr/>
          </p:nvGrpSpPr>
          <p:grpSpPr>
            <a:xfrm>
              <a:off x="908050" y="4241063"/>
              <a:ext cx="4291996" cy="266796"/>
              <a:chOff x="755650" y="1900714"/>
              <a:chExt cx="4291996" cy="266796"/>
            </a:xfrm>
          </p:grpSpPr>
          <p:grpSp>
            <p:nvGrpSpPr>
              <p:cNvPr id="35" name="Groupe 34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52" name="Ellipse 51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7" name="Ellipse 56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8" name="Ellipse 57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9" name="Ellipse 58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0" name="Ellipse 59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1" name="Ellipse 60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2" name="Ellipse 61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3" name="Ellipse 62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36" name="Ellipse 35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33" name="Ellipse 32"/>
            <p:cNvSpPr/>
            <p:nvPr/>
          </p:nvSpPr>
          <p:spPr>
            <a:xfrm>
              <a:off x="1376362" y="4203997"/>
              <a:ext cx="342900" cy="3429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057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36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54114" t="178" r="17353" b="-178"/>
          <a:stretch/>
        </p:blipFill>
        <p:spPr>
          <a:xfrm>
            <a:off x="9055100" y="0"/>
            <a:ext cx="3136900" cy="6871215"/>
          </a:xfrm>
        </p:spPr>
      </p:pic>
      <p:grpSp>
        <p:nvGrpSpPr>
          <p:cNvPr id="43" name="Groupe 42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54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55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56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4</a:t>
            </a:fld>
            <a:endParaRPr lang="fr-FR" sz="120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Espace réservé du texte 22">
                <a:extLst>
                  <a:ext uri="{FF2B5EF4-FFF2-40B4-BE49-F238E27FC236}">
                    <a16:creationId xmlns:a16="http://schemas.microsoft.com/office/drawing/2014/main" id="{B88939B0-5B9A-4423-AFD1-CF6B22268795}"/>
                  </a:ext>
                </a:extLst>
              </p:cNvPr>
              <p:cNvSpPr>
                <a:spLocks noGrp="1"/>
              </p:cNvSpPr>
              <p:nvPr>
                <p:ph type="body" sz="quarter" idx="11"/>
              </p:nvPr>
            </p:nvSpPr>
            <p:spPr>
              <a:xfrm>
                <a:off x="1211965" y="3247643"/>
                <a:ext cx="4196517" cy="1538713"/>
              </a:xfrm>
            </p:spPr>
            <p:txBody>
              <a:bodyPr rtlCol="0"/>
              <a:lstStyle/>
              <a:p>
                <a:pPr algn="just" rtl="0">
                  <a:spcAft>
                    <a:spcPts val="600"/>
                  </a:spcAft>
                </a:pPr>
                <a:r>
                  <a:rPr lang="fr-FR" sz="2200" dirty="0"/>
                  <a:t>Eléments caractéristiques :</a:t>
                </a:r>
              </a:p>
              <a:p>
                <a:pPr marL="971550" lvl="1" indent="-285750">
                  <a:spcAft>
                    <a:spcPts val="600"/>
                  </a:spcAft>
                </a:pPr>
                <a:r>
                  <a:rPr lang="fr-FR" sz="2200" b="1" dirty="0"/>
                  <a:t>Raideur</a:t>
                </a:r>
                <a:r>
                  <a:rPr lang="fr-FR" sz="22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fr-FR" sz="22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2200" dirty="0"/>
                  <a:t>)</a:t>
                </a:r>
              </a:p>
              <a:p>
                <a:pPr marL="971550" lvl="1" indent="-285750">
                  <a:spcBef>
                    <a:spcPts val="0"/>
                  </a:spcBef>
                  <a:spcAft>
                    <a:spcPts val="600"/>
                  </a:spcAft>
                </a:pPr>
                <a:r>
                  <a:rPr lang="fr-FR" sz="2200" b="1" dirty="0"/>
                  <a:t>Amortissement</a:t>
                </a:r>
                <a:r>
                  <a:rPr lang="fr-FR" sz="22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22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2200" dirty="0"/>
                  <a:t>)</a:t>
                </a:r>
              </a:p>
              <a:p>
                <a:pPr marL="971550" lvl="1" indent="-285750">
                  <a:spcBef>
                    <a:spcPts val="0"/>
                  </a:spcBef>
                  <a:spcAft>
                    <a:spcPts val="600"/>
                  </a:spcAft>
                </a:pPr>
                <a:r>
                  <a:rPr lang="fr-FR" sz="2200" b="1" dirty="0"/>
                  <a:t>Inertie</a:t>
                </a:r>
                <a:r>
                  <a:rPr lang="fr-FR" sz="2200" dirty="0"/>
                  <a:t> (</a:t>
                </a:r>
                <a14:m>
                  <m:oMath xmlns:m="http://schemas.openxmlformats.org/officeDocument/2006/math">
                    <m:r>
                      <a:rPr lang="fr-FR" sz="220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fr-FR" sz="2200" dirty="0"/>
                  <a:t> ou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2200" dirty="0"/>
                  <a:t>)</a:t>
                </a:r>
              </a:p>
            </p:txBody>
          </p:sp>
        </mc:Choice>
        <mc:Fallback xmlns="">
          <p:sp>
            <p:nvSpPr>
              <p:cNvPr id="23" name="Espace réservé du texte 22">
                <a:extLst>
                  <a:ext uri="{FF2B5EF4-FFF2-40B4-BE49-F238E27FC236}">
                    <a16:creationId xmlns:a16="http://schemas.microsoft.com/office/drawing/2014/main" id="{B88939B0-5B9A-4423-AFD1-CF6B222687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1"/>
              </p:nvPr>
            </p:nvSpPr>
            <p:spPr>
              <a:xfrm>
                <a:off x="1211965" y="3247643"/>
                <a:ext cx="4196517" cy="1538713"/>
              </a:xfrm>
              <a:blipFill>
                <a:blip r:embed="rId4"/>
                <a:stretch>
                  <a:fillRect l="-4070" t="-5159" b="-115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54402" y="1667264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 anchor="ctr"/>
          <a:lstStyle/>
          <a:p>
            <a:pPr rtl="0"/>
            <a:r>
              <a:rPr lang="fr-FR" sz="3200" b="1" dirty="0">
                <a:solidFill>
                  <a:schemeClr val="accent3">
                    <a:lumMod val="75000"/>
                  </a:schemeClr>
                </a:solidFill>
              </a:rPr>
              <a:t>Définitions de l’impédance</a:t>
            </a:r>
          </a:p>
        </p:txBody>
      </p:sp>
      <p:grpSp>
        <p:nvGrpSpPr>
          <p:cNvPr id="30" name="Groupe 29"/>
          <p:cNvGrpSpPr/>
          <p:nvPr/>
        </p:nvGrpSpPr>
        <p:grpSpPr>
          <a:xfrm>
            <a:off x="6483025" y="1126068"/>
            <a:ext cx="4074765" cy="777936"/>
            <a:chOff x="3295978" y="1616384"/>
            <a:chExt cx="3723716" cy="777936"/>
          </a:xfrm>
        </p:grpSpPr>
        <p:sp>
          <p:nvSpPr>
            <p:cNvPr id="5" name="Rectangle à coins arrondis 4"/>
            <p:cNvSpPr/>
            <p:nvPr/>
          </p:nvSpPr>
          <p:spPr>
            <a:xfrm>
              <a:off x="4694485" y="1657717"/>
              <a:ext cx="1381125" cy="736603"/>
            </a:xfrm>
            <a:prstGeom prst="roundRect">
              <a:avLst/>
            </a:prstGeom>
            <a:solidFill>
              <a:srgbClr val="EEA81C"/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200" b="1" dirty="0"/>
                <a:t>Impédance</a:t>
              </a:r>
            </a:p>
            <a:p>
              <a:pPr algn="ctr"/>
              <a:r>
                <a:rPr lang="fr-FR" dirty="0"/>
                <a:t>(système)</a:t>
              </a:r>
            </a:p>
          </p:txBody>
        </p:sp>
        <p:cxnSp>
          <p:nvCxnSpPr>
            <p:cNvPr id="8" name="Connecteur droit avec flèche 7"/>
            <p:cNvCxnSpPr>
              <a:cxnSpLocks/>
              <a:stCxn id="5" idx="3"/>
            </p:cNvCxnSpPr>
            <p:nvPr/>
          </p:nvCxnSpPr>
          <p:spPr>
            <a:xfrm>
              <a:off x="6075610" y="2026019"/>
              <a:ext cx="944084" cy="0"/>
            </a:xfrm>
            <a:prstGeom prst="straightConnector1">
              <a:avLst/>
            </a:prstGeom>
            <a:ln w="19050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droit avec flèche 24"/>
            <p:cNvCxnSpPr>
              <a:endCxn id="5" idx="1"/>
            </p:cNvCxnSpPr>
            <p:nvPr/>
          </p:nvCxnSpPr>
          <p:spPr>
            <a:xfrm>
              <a:off x="3761035" y="2026018"/>
              <a:ext cx="933450" cy="1"/>
            </a:xfrm>
            <a:prstGeom prst="straightConnector1">
              <a:avLst/>
            </a:prstGeom>
            <a:ln w="19050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ZoneTexte 25"/>
            <p:cNvSpPr txBox="1"/>
            <p:nvPr/>
          </p:nvSpPr>
          <p:spPr>
            <a:xfrm>
              <a:off x="3295978" y="1618141"/>
              <a:ext cx="1293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b="1" dirty="0"/>
                <a:t>mouvement</a:t>
              </a:r>
              <a:endParaRPr lang="fr-FR" sz="2800" b="1" dirty="0"/>
            </a:p>
          </p:txBody>
        </p:sp>
        <p:sp>
          <p:nvSpPr>
            <p:cNvPr id="31" name="ZoneTexte 30"/>
            <p:cNvSpPr txBox="1"/>
            <p:nvPr/>
          </p:nvSpPr>
          <p:spPr>
            <a:xfrm>
              <a:off x="6311158" y="1616384"/>
              <a:ext cx="64004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b="1" dirty="0"/>
                <a:t>force</a:t>
              </a:r>
              <a:endParaRPr lang="fr-FR" sz="2800" b="1" dirty="0"/>
            </a:p>
          </p:txBody>
        </p:sp>
      </p:grpSp>
      <p:sp>
        <p:nvSpPr>
          <p:cNvPr id="33" name="ZoneTexte 32"/>
          <p:cNvSpPr txBox="1"/>
          <p:nvPr/>
        </p:nvSpPr>
        <p:spPr>
          <a:xfrm>
            <a:off x="7158192" y="2008696"/>
            <a:ext cx="3025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Systèmes physiques, </a:t>
            </a:r>
            <a:r>
              <a:rPr lang="fr-FR" sz="1600" dirty="0" err="1"/>
              <a:t>Hogan</a:t>
            </a:r>
            <a:r>
              <a:rPr lang="fr-FR" sz="1600" dirty="0"/>
              <a:t> (1985)</a:t>
            </a:r>
          </a:p>
        </p:txBody>
      </p:sp>
      <p:sp>
        <p:nvSpPr>
          <p:cNvPr id="41" name="ZoneTexte 40"/>
          <p:cNvSpPr txBox="1"/>
          <p:nvPr/>
        </p:nvSpPr>
        <p:spPr>
          <a:xfrm>
            <a:off x="904762" y="5793950"/>
            <a:ext cx="45362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Equation de l’impédance, modèle KBI linéarisé pour </a:t>
            </a:r>
          </a:p>
          <a:p>
            <a:r>
              <a:rPr lang="fr-FR" sz="1600" dirty="0"/>
              <a:t>de petits déplacements autour d’un point d’équilibre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7524751" y="5554168"/>
            <a:ext cx="2257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Tsuji</a:t>
            </a:r>
            <a:r>
              <a:rPr lang="fr-FR"/>
              <a:t> (</a:t>
            </a:r>
            <a:r>
              <a:rPr lang="fr-FR" dirty="0"/>
              <a:t>1997) </a:t>
            </a:r>
          </a:p>
        </p:txBody>
      </p:sp>
      <p:sp>
        <p:nvSpPr>
          <p:cNvPr id="27" name="Forme libre 26"/>
          <p:cNvSpPr/>
          <p:nvPr/>
        </p:nvSpPr>
        <p:spPr>
          <a:xfrm>
            <a:off x="0" y="-14416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accent3">
                  <a:alpha val="55000"/>
                </a:schemeClr>
              </a:gs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IMPEDANCE MECANIQUE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grpSp>
        <p:nvGrpSpPr>
          <p:cNvPr id="3" name="Groupe 2"/>
          <p:cNvGrpSpPr/>
          <p:nvPr/>
        </p:nvGrpSpPr>
        <p:grpSpPr>
          <a:xfrm>
            <a:off x="6044100" y="2421452"/>
            <a:ext cx="4140049" cy="3119215"/>
            <a:chOff x="6262374" y="2585905"/>
            <a:chExt cx="3921775" cy="2954762"/>
          </a:xfrm>
        </p:grpSpPr>
        <p:pic>
          <p:nvPicPr>
            <p:cNvPr id="40" name="Image 39"/>
            <p:cNvPicPr>
              <a:picLocks noChangeAspect="1"/>
            </p:cNvPicPr>
            <p:nvPr/>
          </p:nvPicPr>
          <p:blipFill rotWithShape="1">
            <a:blip r:embed="rId7"/>
            <a:srcRect l="23850" t="23760" r="43301" b="36641"/>
            <a:stretch/>
          </p:blipFill>
          <p:spPr>
            <a:xfrm>
              <a:off x="6262374" y="2585905"/>
              <a:ext cx="3921775" cy="2954762"/>
            </a:xfrm>
            <a:prstGeom prst="rect">
              <a:avLst/>
            </a:prstGeom>
          </p:spPr>
        </p:pic>
        <p:sp>
          <p:nvSpPr>
            <p:cNvPr id="2" name="Rectangle 1"/>
            <p:cNvSpPr/>
            <p:nvPr/>
          </p:nvSpPr>
          <p:spPr>
            <a:xfrm rot="625546">
              <a:off x="8167878" y="2975529"/>
              <a:ext cx="102575" cy="1522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ZoneTexte 37"/>
              <p:cNvSpPr txBox="1"/>
              <p:nvPr/>
            </p:nvSpPr>
            <p:spPr>
              <a:xfrm>
                <a:off x="122440" y="5293695"/>
                <a:ext cx="62159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acc>
                        <m:accPr>
                          <m:chr m:val="̈"/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acc>
                        <m:accPr>
                          <m:chr m:val="̇"/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800" dirty="0"/>
              </a:p>
            </p:txBody>
          </p:sp>
        </mc:Choice>
        <mc:Fallback>
          <p:sp>
            <p:nvSpPr>
              <p:cNvPr id="38" name="ZoneTexte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440" y="5293695"/>
                <a:ext cx="6215932" cy="523220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à coins arrondis 52"/>
          <p:cNvSpPr/>
          <p:nvPr/>
        </p:nvSpPr>
        <p:spPr>
          <a:xfrm>
            <a:off x="468673" y="2353292"/>
            <a:ext cx="4418932" cy="625070"/>
          </a:xfrm>
          <a:prstGeom prst="roundRect">
            <a:avLst/>
          </a:prstGeom>
          <a:solidFill>
            <a:srgbClr val="FFD966"/>
          </a:solidFill>
          <a:ln>
            <a:solidFill>
              <a:srgbClr val="E7992F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200" dirty="0">
                <a:solidFill>
                  <a:schemeClr val="tx1"/>
                </a:solidFill>
              </a:rPr>
              <a:t>Capacité à résister à un mouvement</a:t>
            </a:r>
            <a:endParaRPr lang="fr-FR" dirty="0">
              <a:solidFill>
                <a:schemeClr val="tx1"/>
              </a:solidFill>
            </a:endParaRPr>
          </a:p>
        </p:txBody>
      </p:sp>
      <p:grpSp>
        <p:nvGrpSpPr>
          <p:cNvPr id="57" name="Groupe 56"/>
          <p:cNvGrpSpPr/>
          <p:nvPr/>
        </p:nvGrpSpPr>
        <p:grpSpPr>
          <a:xfrm>
            <a:off x="6873173" y="103703"/>
            <a:ext cx="4291996" cy="342900"/>
            <a:chOff x="871537" y="4715801"/>
            <a:chExt cx="4291996" cy="342900"/>
          </a:xfrm>
        </p:grpSpPr>
        <p:grpSp>
          <p:nvGrpSpPr>
            <p:cNvPr id="58" name="Groupe 57"/>
            <p:cNvGrpSpPr/>
            <p:nvPr/>
          </p:nvGrpSpPr>
          <p:grpSpPr>
            <a:xfrm>
              <a:off x="871537" y="4761839"/>
              <a:ext cx="4291996" cy="266796"/>
              <a:chOff x="755650" y="1900714"/>
              <a:chExt cx="4291996" cy="266796"/>
            </a:xfrm>
          </p:grpSpPr>
          <p:grpSp>
            <p:nvGrpSpPr>
              <p:cNvPr id="60" name="Groupe 59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63" name="Ellipse 62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4" name="Ellipse 63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5" name="Ellipse 64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6" name="Ellipse 65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7" name="Ellipse 66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8" name="Ellipse 67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9" name="Ellipse 68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0" name="Ellipse 69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61" name="Ellipse 60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59" name="Ellipse 58"/>
            <p:cNvSpPr/>
            <p:nvPr/>
          </p:nvSpPr>
          <p:spPr>
            <a:xfrm>
              <a:off x="1840873" y="4715801"/>
              <a:ext cx="342900" cy="3429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1411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4114" t="178" r="17353" b="-178"/>
          <a:stretch/>
        </p:blipFill>
        <p:spPr>
          <a:xfrm>
            <a:off x="9055100" y="0"/>
            <a:ext cx="3136900" cy="6871215"/>
          </a:xfrm>
          <a:prstGeom prst="rect">
            <a:avLst/>
          </a:prstGeom>
        </p:spPr>
      </p:pic>
      <p:grpSp>
        <p:nvGrpSpPr>
          <p:cNvPr id="48" name="Groupe 47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57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5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6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5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7596414" cy="830997"/>
          </a:xfrm>
        </p:spPr>
        <p:txBody>
          <a:bodyPr rtlCol="0" anchor="ctr"/>
          <a:lstStyle/>
          <a:p>
            <a:pPr rtl="0"/>
            <a:r>
              <a:rPr lang="fr-FR" sz="3200" b="1" dirty="0">
                <a:solidFill>
                  <a:schemeClr val="accent3">
                    <a:lumMod val="75000"/>
                  </a:schemeClr>
                </a:solidFill>
              </a:rPr>
              <a:t>Méthodes d’estimation de l’impédance</a:t>
            </a:r>
          </a:p>
        </p:txBody>
      </p:sp>
      <p:pic>
        <p:nvPicPr>
          <p:cNvPr id="19" name="Espace réservé du contenu 94" descr="Microscope">
            <a:extLst>
              <a:ext uri="{FF2B5EF4-FFF2-40B4-BE49-F238E27FC236}">
                <a16:creationId xmlns:a16="http://schemas.microsoft.com/office/drawing/2014/main" id="{DF89E35F-3521-954B-82F3-91E58CE32282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0263" y="5674983"/>
            <a:ext cx="651900" cy="651900"/>
          </a:xfrm>
        </p:spPr>
      </p:pic>
      <p:sp>
        <p:nvSpPr>
          <p:cNvPr id="18" name="Forme libre 17"/>
          <p:cNvSpPr/>
          <p:nvPr/>
        </p:nvSpPr>
        <p:spPr>
          <a:xfrm>
            <a:off x="0" y="-14416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accent3">
                  <a:alpha val="55000"/>
                </a:schemeClr>
              </a:gs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IMPEDANCE MECANIQUE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pic>
        <p:nvPicPr>
          <p:cNvPr id="38" name="Image 37"/>
          <p:cNvPicPr>
            <a:picLocks noChangeAspect="1"/>
          </p:cNvPicPr>
          <p:nvPr/>
        </p:nvPicPr>
        <p:blipFill rotWithShape="1">
          <a:blip r:embed="rId6"/>
          <a:srcRect l="8957" t="18770" r="28017" b="10258"/>
          <a:stretch/>
        </p:blipFill>
        <p:spPr>
          <a:xfrm rot="21021453">
            <a:off x="986065" y="2354409"/>
            <a:ext cx="3757939" cy="2644757"/>
          </a:xfrm>
          <a:prstGeom prst="rect">
            <a:avLst/>
          </a:prstGeom>
        </p:spPr>
      </p:pic>
      <p:sp>
        <p:nvSpPr>
          <p:cNvPr id="6" name="Forme libre 5"/>
          <p:cNvSpPr/>
          <p:nvPr/>
        </p:nvSpPr>
        <p:spPr>
          <a:xfrm rot="1116068">
            <a:off x="362547" y="4151220"/>
            <a:ext cx="582271" cy="2017654"/>
          </a:xfrm>
          <a:custGeom>
            <a:avLst/>
            <a:gdLst>
              <a:gd name="connsiteX0" fmla="*/ 354677 w 582271"/>
              <a:gd name="connsiteY0" fmla="*/ 0 h 2585156"/>
              <a:gd name="connsiteX1" fmla="*/ 4721 w 582271"/>
              <a:gd name="connsiteY1" fmla="*/ 654756 h 2585156"/>
              <a:gd name="connsiteX2" fmla="*/ 580455 w 582271"/>
              <a:gd name="connsiteY2" fmla="*/ 1715911 h 2585156"/>
              <a:gd name="connsiteX3" fmla="*/ 151477 w 582271"/>
              <a:gd name="connsiteY3" fmla="*/ 2585156 h 2585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2271" h="2585156">
                <a:moveTo>
                  <a:pt x="354677" y="0"/>
                </a:moveTo>
                <a:cubicBezTo>
                  <a:pt x="160884" y="184385"/>
                  <a:pt x="-32909" y="368771"/>
                  <a:pt x="4721" y="654756"/>
                </a:cubicBezTo>
                <a:cubicBezTo>
                  <a:pt x="42351" y="940741"/>
                  <a:pt x="555996" y="1394178"/>
                  <a:pt x="580455" y="1715911"/>
                </a:cubicBezTo>
                <a:cubicBezTo>
                  <a:pt x="604914" y="2037644"/>
                  <a:pt x="378195" y="2311400"/>
                  <a:pt x="151477" y="2585156"/>
                </a:cubicBezTo>
              </a:path>
            </a:pathLst>
          </a:cu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rme libre 7"/>
          <p:cNvSpPr/>
          <p:nvPr/>
        </p:nvSpPr>
        <p:spPr>
          <a:xfrm>
            <a:off x="741155" y="2865905"/>
            <a:ext cx="787393" cy="1332089"/>
          </a:xfrm>
          <a:custGeom>
            <a:avLst/>
            <a:gdLst>
              <a:gd name="connsiteX0" fmla="*/ 383822 w 787393"/>
              <a:gd name="connsiteY0" fmla="*/ 1332089 h 1332089"/>
              <a:gd name="connsiteX1" fmla="*/ 767645 w 787393"/>
              <a:gd name="connsiteY1" fmla="*/ 801511 h 1332089"/>
              <a:gd name="connsiteX2" fmla="*/ 654756 w 787393"/>
              <a:gd name="connsiteY2" fmla="*/ 146756 h 1332089"/>
              <a:gd name="connsiteX3" fmla="*/ 0 w 787393"/>
              <a:gd name="connsiteY3" fmla="*/ 0 h 1332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7393" h="1332089">
                <a:moveTo>
                  <a:pt x="383822" y="1332089"/>
                </a:moveTo>
                <a:cubicBezTo>
                  <a:pt x="553155" y="1165577"/>
                  <a:pt x="722489" y="999066"/>
                  <a:pt x="767645" y="801511"/>
                </a:cubicBezTo>
                <a:cubicBezTo>
                  <a:pt x="812801" y="603956"/>
                  <a:pt x="782697" y="280341"/>
                  <a:pt x="654756" y="146756"/>
                </a:cubicBezTo>
                <a:cubicBezTo>
                  <a:pt x="526815" y="13171"/>
                  <a:pt x="263407" y="6585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 droite 11"/>
          <p:cNvSpPr/>
          <p:nvPr/>
        </p:nvSpPr>
        <p:spPr>
          <a:xfrm rot="689559">
            <a:off x="434635" y="3967032"/>
            <a:ext cx="536455" cy="227885"/>
          </a:xfrm>
          <a:prstGeom prst="rightArrow">
            <a:avLst>
              <a:gd name="adj1" fmla="val 39176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Forme libre 41"/>
          <p:cNvSpPr/>
          <p:nvPr/>
        </p:nvSpPr>
        <p:spPr>
          <a:xfrm>
            <a:off x="1112815" y="1945875"/>
            <a:ext cx="2709499" cy="2268235"/>
          </a:xfrm>
          <a:custGeom>
            <a:avLst/>
            <a:gdLst>
              <a:gd name="connsiteX0" fmla="*/ 0 w 2709499"/>
              <a:gd name="connsiteY0" fmla="*/ 2268235 h 2268235"/>
              <a:gd name="connsiteX1" fmla="*/ 1873956 w 2709499"/>
              <a:gd name="connsiteY1" fmla="*/ 1952147 h 2268235"/>
              <a:gd name="connsiteX2" fmla="*/ 2709334 w 2709499"/>
              <a:gd name="connsiteY2" fmla="*/ 811969 h 2268235"/>
              <a:gd name="connsiteX3" fmla="*/ 1817511 w 2709499"/>
              <a:gd name="connsiteY3" fmla="*/ 112058 h 2268235"/>
              <a:gd name="connsiteX4" fmla="*/ 1185334 w 2709499"/>
              <a:gd name="connsiteY4" fmla="*/ 10458 h 2268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09499" h="2268235">
                <a:moveTo>
                  <a:pt x="0" y="2268235"/>
                </a:moveTo>
                <a:cubicBezTo>
                  <a:pt x="711200" y="2231546"/>
                  <a:pt x="1422400" y="2194858"/>
                  <a:pt x="1873956" y="1952147"/>
                </a:cubicBezTo>
                <a:cubicBezTo>
                  <a:pt x="2325512" y="1709436"/>
                  <a:pt x="2718741" y="1118650"/>
                  <a:pt x="2709334" y="811969"/>
                </a:cubicBezTo>
                <a:cubicBezTo>
                  <a:pt x="2699927" y="505288"/>
                  <a:pt x="2071511" y="245643"/>
                  <a:pt x="1817511" y="112058"/>
                </a:cubicBezTo>
                <a:cubicBezTo>
                  <a:pt x="1563511" y="-21527"/>
                  <a:pt x="1374422" y="-5535"/>
                  <a:pt x="1185334" y="10458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Étoile à 4 branches 42"/>
          <p:cNvSpPr/>
          <p:nvPr/>
        </p:nvSpPr>
        <p:spPr>
          <a:xfrm>
            <a:off x="952854" y="3990132"/>
            <a:ext cx="348490" cy="428978"/>
          </a:xfrm>
          <a:prstGeom prst="star4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 à coins arrondis 48"/>
          <p:cNvSpPr/>
          <p:nvPr/>
        </p:nvSpPr>
        <p:spPr>
          <a:xfrm>
            <a:off x="5847448" y="1626666"/>
            <a:ext cx="4718334" cy="1534223"/>
          </a:xfrm>
          <a:prstGeom prst="roundRect">
            <a:avLst/>
          </a:prstGeom>
          <a:solidFill>
            <a:srgbClr val="FFD966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u="sng" dirty="0">
                <a:solidFill>
                  <a:schemeClr val="tx1"/>
                </a:solidFill>
              </a:rPr>
              <a:t>Comportement en impédance</a:t>
            </a:r>
          </a:p>
          <a:p>
            <a:pPr marL="800100" lvl="1" indent="-34290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Propriétés viscoélastiques</a:t>
            </a:r>
            <a:endParaRPr lang="fr-FR" dirty="0">
              <a:solidFill>
                <a:schemeClr val="tx1"/>
              </a:solidFill>
            </a:endParaRPr>
          </a:p>
          <a:p>
            <a:pPr marL="800100" lvl="1" indent="-34290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Réflexes </a:t>
            </a:r>
            <a:r>
              <a:rPr lang="fr-FR" dirty="0">
                <a:solidFill>
                  <a:schemeClr val="tx1"/>
                </a:solidFill>
              </a:rPr>
              <a:t>(&gt;25ms, &lt; 100ms)</a:t>
            </a:r>
          </a:p>
          <a:p>
            <a:pPr marL="800100" lvl="1" indent="-34290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rgbClr val="C00000"/>
                </a:solidFill>
              </a:rPr>
              <a:t>Actions volontaires </a:t>
            </a:r>
            <a:r>
              <a:rPr lang="fr-FR" dirty="0">
                <a:solidFill>
                  <a:schemeClr val="tx1"/>
                </a:solidFill>
              </a:rPr>
              <a:t>(&gt; 100ms)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</p:txBody>
      </p:sp>
      <p:pic>
        <p:nvPicPr>
          <p:cNvPr id="50" name="Espace réservé du contenu 82" descr="Cloche">
            <a:extLst>
              <a:ext uri="{FF2B5EF4-FFF2-40B4-BE49-F238E27FC236}">
                <a16:creationId xmlns:a16="http://schemas.microsoft.com/office/drawing/2014/main" id="{F244E2B5-934E-564D-9CC0-90720BE3897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32295" y="3278130"/>
            <a:ext cx="548640" cy="548640"/>
          </a:xfrm>
        </p:spPr>
      </p:pic>
      <p:sp>
        <p:nvSpPr>
          <p:cNvPr id="51" name="Rectangle à coins arrondis 50"/>
          <p:cNvSpPr/>
          <p:nvPr/>
        </p:nvSpPr>
        <p:spPr>
          <a:xfrm>
            <a:off x="5847448" y="3961747"/>
            <a:ext cx="4718334" cy="1549961"/>
          </a:xfrm>
          <a:prstGeom prst="roundRect">
            <a:avLst/>
          </a:prstGeom>
          <a:solidFill>
            <a:srgbClr val="FFD966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800100" lvl="1" indent="-34290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Trajectoire non perturbée</a:t>
            </a:r>
          </a:p>
          <a:p>
            <a:pPr marL="800100" lvl="1" indent="-34290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Faibles perturbations </a:t>
            </a:r>
            <a:r>
              <a:rPr lang="fr-FR" dirty="0">
                <a:solidFill>
                  <a:schemeClr val="tx1"/>
                </a:solidFill>
              </a:rPr>
              <a:t>(&lt; 5N)</a:t>
            </a:r>
          </a:p>
          <a:p>
            <a:pPr marL="800100" lvl="1" indent="-34290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Fatigue, …</a:t>
            </a:r>
          </a:p>
        </p:txBody>
      </p:sp>
      <p:grpSp>
        <p:nvGrpSpPr>
          <p:cNvPr id="61" name="Groupe 60"/>
          <p:cNvGrpSpPr/>
          <p:nvPr/>
        </p:nvGrpSpPr>
        <p:grpSpPr>
          <a:xfrm>
            <a:off x="1600189" y="5448742"/>
            <a:ext cx="4368422" cy="954107"/>
            <a:chOff x="1085892" y="5618808"/>
            <a:chExt cx="4368422" cy="954107"/>
          </a:xfrm>
        </p:grpSpPr>
        <p:sp>
          <p:nvSpPr>
            <p:cNvPr id="52" name="Rectangle à coins arrondis 51"/>
            <p:cNvSpPr/>
            <p:nvPr/>
          </p:nvSpPr>
          <p:spPr>
            <a:xfrm>
              <a:off x="2735393" y="5742072"/>
              <a:ext cx="1511329" cy="736603"/>
            </a:xfrm>
            <a:prstGeom prst="roundRect">
              <a:avLst/>
            </a:prstGeom>
            <a:solidFill>
              <a:srgbClr val="EEA81C"/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200" b="1" dirty="0"/>
                <a:t>Impédance</a:t>
              </a:r>
            </a:p>
            <a:p>
              <a:pPr algn="ctr"/>
              <a:r>
                <a:rPr lang="fr-FR" dirty="0"/>
                <a:t>(BRAS)</a:t>
              </a:r>
            </a:p>
          </p:txBody>
        </p:sp>
        <p:sp>
          <p:nvSpPr>
            <p:cNvPr id="53" name="Flèche droite 52"/>
            <p:cNvSpPr/>
            <p:nvPr/>
          </p:nvSpPr>
          <p:spPr>
            <a:xfrm>
              <a:off x="2158073" y="5996430"/>
              <a:ext cx="536455" cy="227885"/>
            </a:xfrm>
            <a:prstGeom prst="rightArrow">
              <a:avLst>
                <a:gd name="adj1" fmla="val 39176"/>
                <a:gd name="adj2" fmla="val 50000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4" name="Flèche droite 53"/>
            <p:cNvSpPr/>
            <p:nvPr/>
          </p:nvSpPr>
          <p:spPr>
            <a:xfrm>
              <a:off x="4292128" y="5994261"/>
              <a:ext cx="536455" cy="227885"/>
            </a:xfrm>
            <a:prstGeom prst="rightArrow">
              <a:avLst>
                <a:gd name="adj1" fmla="val 39176"/>
                <a:gd name="adj2" fmla="val 50000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/>
            <p:cNvSpPr txBox="1"/>
            <p:nvPr/>
          </p:nvSpPr>
          <p:spPr>
            <a:xfrm>
              <a:off x="1085892" y="5665345"/>
              <a:ext cx="14966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b="1" dirty="0"/>
                <a:t>perturbation</a:t>
              </a:r>
              <a:endParaRPr lang="fr-FR" b="1" dirty="0"/>
            </a:p>
          </p:txBody>
        </p:sp>
        <p:sp>
          <p:nvSpPr>
            <p:cNvPr id="56" name="ZoneTexte 55"/>
            <p:cNvSpPr txBox="1"/>
            <p:nvPr/>
          </p:nvSpPr>
          <p:spPr>
            <a:xfrm>
              <a:off x="4386586" y="5618808"/>
              <a:ext cx="1067728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b="1" dirty="0"/>
                <a:t>Mesure</a:t>
              </a:r>
            </a:p>
            <a:p>
              <a:endParaRPr lang="fr-FR" sz="1400" b="1" dirty="0"/>
            </a:p>
            <a:p>
              <a:r>
                <a:rPr lang="fr-FR" sz="2000" b="1" dirty="0"/>
                <a:t>Réaction</a:t>
              </a:r>
              <a:endParaRPr lang="fr-FR" b="1" dirty="0"/>
            </a:p>
          </p:txBody>
        </p:sp>
      </p:grpSp>
      <p:cxnSp>
        <p:nvCxnSpPr>
          <p:cNvPr id="58" name="Connecteur droit avec flèche 57"/>
          <p:cNvCxnSpPr/>
          <p:nvPr/>
        </p:nvCxnSpPr>
        <p:spPr>
          <a:xfrm flipV="1">
            <a:off x="1111083" y="2001813"/>
            <a:ext cx="1602517" cy="847976"/>
          </a:xfrm>
          <a:prstGeom prst="straightConnector1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  <a:prstDash val="lgDash"/>
            <a:headEnd type="triangle" w="lg" len="lg"/>
            <a:tailEnd type="triangl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ZoneTexte 59"/>
              <p:cNvSpPr txBox="1"/>
              <p:nvPr/>
            </p:nvSpPr>
            <p:spPr>
              <a:xfrm rot="19959897">
                <a:off x="1002410" y="2116182"/>
                <a:ext cx="14616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0" name="ZoneTexte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959897">
                <a:off x="1002410" y="2116182"/>
                <a:ext cx="1461682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Groupe 62"/>
          <p:cNvGrpSpPr/>
          <p:nvPr/>
        </p:nvGrpSpPr>
        <p:grpSpPr>
          <a:xfrm>
            <a:off x="6874051" y="108387"/>
            <a:ext cx="4291996" cy="342900"/>
            <a:chOff x="871537" y="5222397"/>
            <a:chExt cx="4291996" cy="342900"/>
          </a:xfrm>
        </p:grpSpPr>
        <p:grpSp>
          <p:nvGrpSpPr>
            <p:cNvPr id="64" name="Groupe 63"/>
            <p:cNvGrpSpPr/>
            <p:nvPr/>
          </p:nvGrpSpPr>
          <p:grpSpPr>
            <a:xfrm>
              <a:off x="871537" y="5268435"/>
              <a:ext cx="4291996" cy="266796"/>
              <a:chOff x="755650" y="1900714"/>
              <a:chExt cx="4291996" cy="266796"/>
            </a:xfrm>
          </p:grpSpPr>
          <p:grpSp>
            <p:nvGrpSpPr>
              <p:cNvPr id="66" name="Groupe 65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69" name="Ellipse 68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0" name="Ellipse 69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1" name="Ellipse 70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2" name="Ellipse 71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3" name="Ellipse 72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4" name="Ellipse 73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5" name="Ellipse 74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6" name="Ellipse 75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67" name="Ellipse 66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65" name="Ellipse 64"/>
            <p:cNvSpPr/>
            <p:nvPr/>
          </p:nvSpPr>
          <p:spPr>
            <a:xfrm>
              <a:off x="2347680" y="5222397"/>
              <a:ext cx="342900" cy="3429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4167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4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  <p:bldP spid="12" grpId="1" animBg="1"/>
      <p:bldP spid="42" grpId="0" animBg="1"/>
      <p:bldP spid="43" grpId="0" animBg="1"/>
      <p:bldP spid="43" grpId="1" animBg="1"/>
      <p:bldP spid="6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4114" t="178" r="17353" b="-178"/>
          <a:stretch/>
        </p:blipFill>
        <p:spPr>
          <a:xfrm>
            <a:off x="9055100" y="0"/>
            <a:ext cx="3136900" cy="6871215"/>
          </a:xfrm>
          <a:prstGeom prst="rect">
            <a:avLst/>
          </a:prstGeom>
        </p:spPr>
      </p:pic>
      <p:grpSp>
        <p:nvGrpSpPr>
          <p:cNvPr id="39" name="Groupe 38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4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41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51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6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 anchor="ctr"/>
          <a:lstStyle/>
          <a:p>
            <a:r>
              <a:rPr lang="fr-FR" sz="3200" b="1" dirty="0">
                <a:solidFill>
                  <a:schemeClr val="accent3">
                    <a:lumMod val="75000"/>
                  </a:schemeClr>
                </a:solidFill>
              </a:rPr>
              <a:t>Variation des paramètres d’impédance</a:t>
            </a:r>
          </a:p>
        </p:txBody>
      </p:sp>
      <p:sp>
        <p:nvSpPr>
          <p:cNvPr id="18" name="Forme libre 17"/>
          <p:cNvSpPr/>
          <p:nvPr/>
        </p:nvSpPr>
        <p:spPr>
          <a:xfrm>
            <a:off x="0" y="-14416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accent3">
                  <a:alpha val="55000"/>
                </a:schemeClr>
              </a:gs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IMPEDANCE MECANIQUE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sp>
        <p:nvSpPr>
          <p:cNvPr id="43" name="Rectangle à coins arrondis 42"/>
          <p:cNvSpPr/>
          <p:nvPr/>
        </p:nvSpPr>
        <p:spPr>
          <a:xfrm>
            <a:off x="6057868" y="2563077"/>
            <a:ext cx="4209450" cy="126270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fr-FR" sz="2200" dirty="0">
                <a:solidFill>
                  <a:schemeClr val="tx1"/>
                </a:solidFill>
              </a:rPr>
              <a:t>Observe-t-on des variations des paramètres d’impédance au cours de la frappe cyclique ?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45" name="Rectangle à coins arrondis 44"/>
          <p:cNvSpPr/>
          <p:nvPr/>
        </p:nvSpPr>
        <p:spPr>
          <a:xfrm>
            <a:off x="6057868" y="4792059"/>
            <a:ext cx="4209450" cy="91312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fr-FR" sz="2200" dirty="0">
                <a:solidFill>
                  <a:schemeClr val="tx1"/>
                </a:solidFill>
              </a:rPr>
              <a:t>Quels avantages procurent ces variations ?</a:t>
            </a:r>
            <a:endParaRPr lang="fr-FR" dirty="0">
              <a:solidFill>
                <a:schemeClr val="tx1"/>
              </a:solidFill>
            </a:endParaRP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</p:txBody>
      </p:sp>
      <p:grpSp>
        <p:nvGrpSpPr>
          <p:cNvPr id="6" name="Groupe 5"/>
          <p:cNvGrpSpPr/>
          <p:nvPr/>
        </p:nvGrpSpPr>
        <p:grpSpPr>
          <a:xfrm>
            <a:off x="7627645" y="3843216"/>
            <a:ext cx="1138589" cy="948843"/>
            <a:chOff x="7347566" y="1482385"/>
            <a:chExt cx="1138589" cy="948843"/>
          </a:xfrm>
        </p:grpSpPr>
        <p:sp>
          <p:nvSpPr>
            <p:cNvPr id="5" name="Rectangle 4"/>
            <p:cNvSpPr/>
            <p:nvPr/>
          </p:nvSpPr>
          <p:spPr>
            <a:xfrm>
              <a:off x="7745933" y="1482385"/>
              <a:ext cx="498855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5400" b="1" cap="none" spc="0" dirty="0">
                  <a:ln w="12700">
                    <a:solidFill>
                      <a:schemeClr val="tx2">
                        <a:lumMod val="75000"/>
                      </a:schemeClr>
                    </a:solidFill>
                    <a:prstDash val="solid"/>
                  </a:ln>
                  <a:pattFill prst="dkUpDiag">
                    <a:fgClr>
                      <a:schemeClr val="tx2"/>
                    </a:fgClr>
                    <a:bgClr>
                      <a:schemeClr val="tx2">
                        <a:lumMod val="20000"/>
                        <a:lumOff val="80000"/>
                      </a:schemeClr>
                    </a:bgClr>
                  </a:pattFill>
                  <a:effectLst>
                    <a:outerShdw dist="38100" dir="2640000" algn="bl" rotWithShape="0">
                      <a:schemeClr val="tx2">
                        <a:lumMod val="75000"/>
                      </a:schemeClr>
                    </a:outerShdw>
                  </a:effectLst>
                </a:rPr>
                <a:t>?</a:t>
              </a:r>
            </a:p>
          </p:txBody>
        </p:sp>
        <p:sp>
          <p:nvSpPr>
            <p:cNvPr id="46" name="Rectangle 45"/>
            <p:cNvSpPr/>
            <p:nvPr/>
          </p:nvSpPr>
          <p:spPr>
            <a:xfrm rot="1650776">
              <a:off x="8069053" y="1723342"/>
              <a:ext cx="417102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4000" b="1" cap="none" spc="0" dirty="0">
                  <a:ln w="12700">
                    <a:solidFill>
                      <a:schemeClr val="tx2">
                        <a:lumMod val="75000"/>
                      </a:schemeClr>
                    </a:solidFill>
                    <a:prstDash val="solid"/>
                  </a:ln>
                  <a:pattFill prst="dkUpDiag">
                    <a:fgClr>
                      <a:schemeClr val="tx2"/>
                    </a:fgClr>
                    <a:bgClr>
                      <a:schemeClr val="tx2">
                        <a:lumMod val="20000"/>
                        <a:lumOff val="80000"/>
                      </a:schemeClr>
                    </a:bgClr>
                  </a:pattFill>
                  <a:effectLst>
                    <a:outerShdw dist="38100" dir="2640000" algn="bl" rotWithShape="0">
                      <a:schemeClr val="tx2">
                        <a:lumMod val="75000"/>
                      </a:schemeClr>
                    </a:outerShdw>
                  </a:effectLst>
                </a:rPr>
                <a:t>?</a:t>
              </a:r>
            </a:p>
          </p:txBody>
        </p:sp>
        <p:sp>
          <p:nvSpPr>
            <p:cNvPr id="47" name="Rectangle 46"/>
            <p:cNvSpPr/>
            <p:nvPr/>
          </p:nvSpPr>
          <p:spPr>
            <a:xfrm rot="18701260">
              <a:off x="7492958" y="1620471"/>
              <a:ext cx="417102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4000" b="1" cap="none" spc="0" dirty="0">
                  <a:ln w="12700">
                    <a:solidFill>
                      <a:schemeClr val="tx2">
                        <a:lumMod val="75000"/>
                      </a:schemeClr>
                    </a:solidFill>
                    <a:prstDash val="solid"/>
                  </a:ln>
                  <a:pattFill prst="dkUpDiag">
                    <a:fgClr>
                      <a:schemeClr val="tx2"/>
                    </a:fgClr>
                    <a:bgClr>
                      <a:schemeClr val="tx2">
                        <a:lumMod val="20000"/>
                        <a:lumOff val="80000"/>
                      </a:schemeClr>
                    </a:bgClr>
                  </a:pattFill>
                  <a:effectLst>
                    <a:outerShdw dist="38100" dir="2640000" algn="bl" rotWithShape="0">
                      <a:schemeClr val="tx2">
                        <a:lumMod val="75000"/>
                      </a:schemeClr>
                    </a:outerShdw>
                  </a:effectLst>
                </a:rPr>
                <a:t>?</a:t>
              </a:r>
            </a:p>
          </p:txBody>
        </p:sp>
      </p:grpSp>
      <p:pic>
        <p:nvPicPr>
          <p:cNvPr id="48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58745" y="1688667"/>
            <a:ext cx="548640" cy="548640"/>
          </a:xfrm>
        </p:spPr>
      </p:pic>
      <p:sp>
        <p:nvSpPr>
          <p:cNvPr id="49" name="Rectangle à coins arrondis 48"/>
          <p:cNvSpPr/>
          <p:nvPr/>
        </p:nvSpPr>
        <p:spPr>
          <a:xfrm>
            <a:off x="585251" y="2447809"/>
            <a:ext cx="4693384" cy="3460061"/>
          </a:xfrm>
          <a:prstGeom prst="roundRect">
            <a:avLst>
              <a:gd name="adj" fmla="val 8959"/>
            </a:avLst>
          </a:prstGeom>
          <a:solidFill>
            <a:srgbClr val="FFD966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b="1" dirty="0">
                <a:solidFill>
                  <a:schemeClr val="tx1"/>
                </a:solidFill>
              </a:rPr>
              <a:t>Environnement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b="1" dirty="0">
                <a:solidFill>
                  <a:schemeClr val="tx1"/>
                </a:solidFill>
              </a:rPr>
              <a:t>Utilisateur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b="1" dirty="0">
                <a:solidFill>
                  <a:schemeClr val="tx1"/>
                </a:solidFill>
              </a:rPr>
              <a:t>Expérience</a:t>
            </a:r>
          </a:p>
          <a:p>
            <a:pPr marL="342900" indent="-342900">
              <a:buFont typeface="Calibri Light" panose="020F0302020204030204" pitchFamily="34" charset="0"/>
              <a:buChar char="−"/>
            </a:pPr>
            <a:r>
              <a:rPr lang="fr-FR" sz="2000" dirty="0">
                <a:solidFill>
                  <a:schemeClr val="tx1"/>
                </a:solidFill>
              </a:rPr>
              <a:t>Apprentissage, </a:t>
            </a:r>
            <a:r>
              <a:rPr lang="fr-FR" sz="2000" dirty="0" err="1">
                <a:solidFill>
                  <a:schemeClr val="tx1"/>
                </a:solidFill>
              </a:rPr>
              <a:t>Burdet</a:t>
            </a:r>
            <a:r>
              <a:rPr lang="fr-FR" sz="2000" dirty="0">
                <a:solidFill>
                  <a:schemeClr val="tx1"/>
                </a:solidFill>
              </a:rPr>
              <a:t> &amp; al (2001)</a:t>
            </a:r>
          </a:p>
          <a:p>
            <a:pPr marL="342900" indent="-342900">
              <a:buFont typeface="Calibri Light" panose="020F0302020204030204" pitchFamily="34" charset="0"/>
              <a:buChar char="−"/>
            </a:pPr>
            <a:r>
              <a:rPr lang="fr-FR" sz="2000" dirty="0">
                <a:solidFill>
                  <a:schemeClr val="tx1"/>
                </a:solidFill>
              </a:rPr>
              <a:t>Expertise, </a:t>
            </a:r>
            <a:r>
              <a:rPr lang="fr-FR" sz="2000" dirty="0" err="1">
                <a:solidFill>
                  <a:schemeClr val="tx1"/>
                </a:solidFill>
              </a:rPr>
              <a:t>Erden</a:t>
            </a:r>
            <a:r>
              <a:rPr lang="fr-FR" sz="2000" dirty="0">
                <a:solidFill>
                  <a:schemeClr val="tx1"/>
                </a:solidFill>
              </a:rPr>
              <a:t> &amp; Billard (2015)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b="1" dirty="0">
                <a:solidFill>
                  <a:schemeClr val="tx1"/>
                </a:solidFill>
              </a:rPr>
              <a:t>Tâche </a:t>
            </a:r>
            <a:r>
              <a:rPr lang="fr-FR" sz="2000" dirty="0">
                <a:solidFill>
                  <a:schemeClr val="tx1"/>
                </a:solidFill>
              </a:rPr>
              <a:t>(Isométrique, Cyclique…)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000" b="1" dirty="0">
                <a:solidFill>
                  <a:schemeClr val="tx1"/>
                </a:solidFill>
              </a:rPr>
              <a:t>Durant la tâche</a:t>
            </a:r>
          </a:p>
          <a:p>
            <a:pPr marL="342900" indent="-342900">
              <a:buFont typeface="Calibri Light" panose="020F0302020204030204" pitchFamily="34" charset="0"/>
              <a:buChar char="−"/>
            </a:pPr>
            <a:r>
              <a:rPr lang="fr-FR" sz="2000" dirty="0">
                <a:solidFill>
                  <a:schemeClr val="tx1"/>
                </a:solidFill>
              </a:rPr>
              <a:t>Préparation impact, </a:t>
            </a:r>
            <a:r>
              <a:rPr lang="fr-FR" sz="2000" dirty="0" err="1">
                <a:solidFill>
                  <a:schemeClr val="tx1"/>
                </a:solidFill>
              </a:rPr>
              <a:t>Tsuji</a:t>
            </a:r>
            <a:r>
              <a:rPr lang="fr-FR" sz="2000" dirty="0">
                <a:solidFill>
                  <a:schemeClr val="tx1"/>
                </a:solidFill>
              </a:rPr>
              <a:t> &amp; Tanaka (2008)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000" b="1" dirty="0">
                <a:solidFill>
                  <a:schemeClr val="tx1"/>
                </a:solidFill>
              </a:rPr>
              <a:t>…</a:t>
            </a:r>
          </a:p>
        </p:txBody>
      </p:sp>
      <p:pic>
        <p:nvPicPr>
          <p:cNvPr id="50" name="Espace réservé du contenu 82" descr="Cloche">
            <a:extLst>
              <a:ext uri="{FF2B5EF4-FFF2-40B4-BE49-F238E27FC236}">
                <a16:creationId xmlns:a16="http://schemas.microsoft.com/office/drawing/2014/main" id="{F244E2B5-934E-564D-9CC0-90720BE3897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6" cstate="email">
            <a:biLevel thresh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8455" y="2000021"/>
            <a:ext cx="596116" cy="548640"/>
          </a:xfrm>
        </p:spPr>
      </p:pic>
      <p:grpSp>
        <p:nvGrpSpPr>
          <p:cNvPr id="53" name="Groupe 52"/>
          <p:cNvGrpSpPr/>
          <p:nvPr/>
        </p:nvGrpSpPr>
        <p:grpSpPr>
          <a:xfrm>
            <a:off x="6871995" y="115051"/>
            <a:ext cx="4291996" cy="342900"/>
            <a:chOff x="871537" y="5743496"/>
            <a:chExt cx="4291996" cy="342900"/>
          </a:xfrm>
        </p:grpSpPr>
        <p:grpSp>
          <p:nvGrpSpPr>
            <p:cNvPr id="54" name="Groupe 53"/>
            <p:cNvGrpSpPr/>
            <p:nvPr/>
          </p:nvGrpSpPr>
          <p:grpSpPr>
            <a:xfrm>
              <a:off x="871537" y="5780008"/>
              <a:ext cx="4291996" cy="266796"/>
              <a:chOff x="755650" y="1900714"/>
              <a:chExt cx="4291996" cy="266796"/>
            </a:xfrm>
          </p:grpSpPr>
          <p:grpSp>
            <p:nvGrpSpPr>
              <p:cNvPr id="56" name="Groupe 55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59" name="Ellipse 58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0" name="Ellipse 59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1" name="Ellipse 60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2" name="Ellipse 61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3" name="Ellipse 62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4" name="Ellipse 63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5" name="Ellipse 64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6" name="Ellipse 65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57" name="Ellipse 56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55" name="Ellipse 54"/>
            <p:cNvSpPr/>
            <p:nvPr/>
          </p:nvSpPr>
          <p:spPr>
            <a:xfrm>
              <a:off x="2872168" y="5743496"/>
              <a:ext cx="342900" cy="3429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6</a:t>
              </a:r>
            </a:p>
          </p:txBody>
        </p:sp>
      </p:grpSp>
      <p:sp>
        <p:nvSpPr>
          <p:cNvPr id="2" name="Rectangle 1"/>
          <p:cNvSpPr/>
          <p:nvPr/>
        </p:nvSpPr>
        <p:spPr>
          <a:xfrm>
            <a:off x="633186" y="4572000"/>
            <a:ext cx="4548414" cy="893379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5893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60955" r="5896"/>
          <a:stretch/>
        </p:blipFill>
        <p:spPr>
          <a:xfrm>
            <a:off x="8125416" y="0"/>
            <a:ext cx="4066584" cy="6858000"/>
          </a:xfrm>
        </p:spPr>
      </p:pic>
      <p:grpSp>
        <p:nvGrpSpPr>
          <p:cNvPr id="38" name="Groupe 37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39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40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41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7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 anchor="ctr"/>
          <a:lstStyle/>
          <a:p>
            <a:pPr rtl="0"/>
            <a:r>
              <a:rPr lang="fr-FR" sz="3200" b="1" dirty="0">
                <a:solidFill>
                  <a:schemeClr val="accent4"/>
                </a:solidFill>
              </a:rPr>
              <a:t>Méthodologie expérimentale</a:t>
            </a:r>
          </a:p>
        </p:txBody>
      </p:sp>
      <p:sp>
        <p:nvSpPr>
          <p:cNvPr id="52" name="Forme libre 51"/>
          <p:cNvSpPr/>
          <p:nvPr/>
        </p:nvSpPr>
        <p:spPr>
          <a:xfrm>
            <a:off x="0" y="-14416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accent4">
                  <a:alpha val="55000"/>
                </a:schemeClr>
              </a:gs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CADRE EXPERIMENTAL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pic>
        <p:nvPicPr>
          <p:cNvPr id="1026" name="Picture 2" descr="schema_exp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077" y="2259546"/>
            <a:ext cx="6866894" cy="39297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rme libre 5"/>
          <p:cNvSpPr/>
          <p:nvPr/>
        </p:nvSpPr>
        <p:spPr>
          <a:xfrm>
            <a:off x="3441700" y="4597400"/>
            <a:ext cx="1346200" cy="1905000"/>
          </a:xfrm>
          <a:custGeom>
            <a:avLst/>
            <a:gdLst>
              <a:gd name="connsiteX0" fmla="*/ 0 w 1346200"/>
              <a:gd name="connsiteY0" fmla="*/ 1905000 h 1905000"/>
              <a:gd name="connsiteX1" fmla="*/ 266700 w 1346200"/>
              <a:gd name="connsiteY1" fmla="*/ 177800 h 1905000"/>
              <a:gd name="connsiteX2" fmla="*/ 635000 w 1346200"/>
              <a:gd name="connsiteY2" fmla="*/ 1739900 h 1905000"/>
              <a:gd name="connsiteX3" fmla="*/ 850900 w 1346200"/>
              <a:gd name="connsiteY3" fmla="*/ 25400 h 1905000"/>
              <a:gd name="connsiteX4" fmla="*/ 1193800 w 1346200"/>
              <a:gd name="connsiteY4" fmla="*/ 1295400 h 1905000"/>
              <a:gd name="connsiteX5" fmla="*/ 1346200 w 1346200"/>
              <a:gd name="connsiteY5" fmla="*/ 0 h 190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46200" h="1905000">
                <a:moveTo>
                  <a:pt x="0" y="1905000"/>
                </a:moveTo>
                <a:cubicBezTo>
                  <a:pt x="80433" y="1055158"/>
                  <a:pt x="160867" y="205317"/>
                  <a:pt x="266700" y="177800"/>
                </a:cubicBezTo>
                <a:cubicBezTo>
                  <a:pt x="372533" y="150283"/>
                  <a:pt x="537633" y="1765300"/>
                  <a:pt x="635000" y="1739900"/>
                </a:cubicBezTo>
                <a:cubicBezTo>
                  <a:pt x="732367" y="1714500"/>
                  <a:pt x="757767" y="99483"/>
                  <a:pt x="850900" y="25400"/>
                </a:cubicBezTo>
                <a:cubicBezTo>
                  <a:pt x="944033" y="-48683"/>
                  <a:pt x="1111250" y="1299633"/>
                  <a:pt x="1193800" y="1295400"/>
                </a:cubicBezTo>
                <a:cubicBezTo>
                  <a:pt x="1276350" y="1291167"/>
                  <a:pt x="1311275" y="645583"/>
                  <a:pt x="1346200" y="0"/>
                </a:cubicBezTo>
              </a:path>
            </a:pathLst>
          </a:custGeom>
          <a:noFill/>
          <a:ln w="285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avec flèche 11"/>
          <p:cNvCxnSpPr/>
          <p:nvPr/>
        </p:nvCxnSpPr>
        <p:spPr>
          <a:xfrm flipV="1">
            <a:off x="3623883" y="5916612"/>
            <a:ext cx="1430716" cy="7715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 rot="19917475">
            <a:off x="4094492" y="6262533"/>
            <a:ext cx="763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4"/>
                </a:solidFill>
              </a:rPr>
              <a:t>temps</a:t>
            </a:r>
          </a:p>
        </p:txBody>
      </p:sp>
      <p:sp>
        <p:nvSpPr>
          <p:cNvPr id="82" name="Rectangle à coins arrondis 81"/>
          <p:cNvSpPr/>
          <p:nvPr/>
        </p:nvSpPr>
        <p:spPr>
          <a:xfrm>
            <a:off x="8243358" y="2550029"/>
            <a:ext cx="2251234" cy="87663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>
                <a:solidFill>
                  <a:schemeClr val="tx1"/>
                </a:solidFill>
              </a:rPr>
              <a:t>Perturbations en force (5N)</a:t>
            </a:r>
          </a:p>
          <a:p>
            <a:endParaRPr lang="fr-FR" sz="2200" dirty="0">
              <a:solidFill>
                <a:schemeClr val="tx1"/>
              </a:solidFill>
            </a:endParaRPr>
          </a:p>
        </p:txBody>
      </p:sp>
      <p:sp>
        <p:nvSpPr>
          <p:cNvPr id="84" name="Flèche droite 83"/>
          <p:cNvSpPr/>
          <p:nvPr/>
        </p:nvSpPr>
        <p:spPr>
          <a:xfrm rot="5400000">
            <a:off x="4517499" y="3804430"/>
            <a:ext cx="536455" cy="227885"/>
          </a:xfrm>
          <a:prstGeom prst="rightArrow">
            <a:avLst>
              <a:gd name="adj1" fmla="val 39176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/>
          <p:cNvSpPr txBox="1"/>
          <p:nvPr/>
        </p:nvSpPr>
        <p:spPr>
          <a:xfrm>
            <a:off x="4378022" y="3294545"/>
            <a:ext cx="14966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perturbation</a:t>
            </a:r>
            <a:endParaRPr lang="fr-FR" dirty="0"/>
          </a:p>
        </p:txBody>
      </p:sp>
      <p:sp>
        <p:nvSpPr>
          <p:cNvPr id="34" name="Rectangle à coins arrondis 33">
            <a:extLst>
              <a:ext uri="{FF2B5EF4-FFF2-40B4-BE49-F238E27FC236}">
                <a16:creationId xmlns:a16="http://schemas.microsoft.com/office/drawing/2014/main" id="{A7AD74DC-863F-0E4D-A373-948E95D2F923}"/>
              </a:ext>
            </a:extLst>
          </p:cNvPr>
          <p:cNvSpPr/>
          <p:nvPr/>
        </p:nvSpPr>
        <p:spPr>
          <a:xfrm>
            <a:off x="8243358" y="3806205"/>
            <a:ext cx="2245000" cy="1236359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>
                <a:solidFill>
                  <a:schemeClr val="tx1"/>
                </a:solidFill>
              </a:rPr>
              <a:t>Tâche guidée : </a:t>
            </a:r>
          </a:p>
          <a:p>
            <a:r>
              <a:rPr lang="fr-FR" sz="2200" dirty="0">
                <a:solidFill>
                  <a:schemeClr val="tx1"/>
                </a:solidFill>
              </a:rPr>
              <a:t>- 3 articulations actionnées</a:t>
            </a:r>
          </a:p>
          <a:p>
            <a:endParaRPr lang="fr-FR" sz="2200" dirty="0">
              <a:solidFill>
                <a:schemeClr val="tx1"/>
              </a:solidFill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7716C58-07DE-1549-B2E2-A40CD2A2A0F0}"/>
              </a:ext>
            </a:extLst>
          </p:cNvPr>
          <p:cNvSpPr txBox="1"/>
          <p:nvPr/>
        </p:nvSpPr>
        <p:spPr>
          <a:xfrm>
            <a:off x="543246" y="5013499"/>
            <a:ext cx="16414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chemeClr val="bg2"/>
                </a:solidFill>
              </a:rPr>
              <a:t>Unité centrale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C8751FE-2E99-BF4A-B601-FF805012249E}"/>
              </a:ext>
            </a:extLst>
          </p:cNvPr>
          <p:cNvSpPr txBox="1"/>
          <p:nvPr/>
        </p:nvSpPr>
        <p:spPr>
          <a:xfrm>
            <a:off x="1929556" y="2627936"/>
            <a:ext cx="7513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Ecran</a:t>
            </a:r>
          </a:p>
        </p:txBody>
      </p:sp>
      <p:sp>
        <p:nvSpPr>
          <p:cNvPr id="37" name="Rectangle à coins arrondis 36">
            <a:extLst>
              <a:ext uri="{FF2B5EF4-FFF2-40B4-BE49-F238E27FC236}">
                <a16:creationId xmlns:a16="http://schemas.microsoft.com/office/drawing/2014/main" id="{A7AD74DC-863F-0E4D-A373-948E95D2F923}"/>
              </a:ext>
            </a:extLst>
          </p:cNvPr>
          <p:cNvSpPr/>
          <p:nvPr/>
        </p:nvSpPr>
        <p:spPr>
          <a:xfrm>
            <a:off x="8243358" y="1271531"/>
            <a:ext cx="2245000" cy="898957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>
                <a:solidFill>
                  <a:schemeClr val="tx1"/>
                </a:solidFill>
              </a:rPr>
              <a:t>Robot « transparent »</a:t>
            </a:r>
          </a:p>
          <a:p>
            <a:endParaRPr lang="fr-FR" sz="2200" dirty="0">
              <a:solidFill>
                <a:schemeClr val="tx1"/>
              </a:solidFill>
            </a:endParaRPr>
          </a:p>
        </p:txBody>
      </p:sp>
      <p:grpSp>
        <p:nvGrpSpPr>
          <p:cNvPr id="42" name="Groupe 41"/>
          <p:cNvGrpSpPr/>
          <p:nvPr/>
        </p:nvGrpSpPr>
        <p:grpSpPr>
          <a:xfrm>
            <a:off x="6873696" y="120809"/>
            <a:ext cx="4291996" cy="342900"/>
            <a:chOff x="871537" y="6242421"/>
            <a:chExt cx="4291996" cy="342900"/>
          </a:xfrm>
        </p:grpSpPr>
        <p:grpSp>
          <p:nvGrpSpPr>
            <p:cNvPr id="43" name="Groupe 42"/>
            <p:cNvGrpSpPr/>
            <p:nvPr/>
          </p:nvGrpSpPr>
          <p:grpSpPr>
            <a:xfrm>
              <a:off x="871537" y="6278933"/>
              <a:ext cx="4291996" cy="266796"/>
              <a:chOff x="755650" y="1900714"/>
              <a:chExt cx="4291996" cy="266796"/>
            </a:xfrm>
          </p:grpSpPr>
          <p:grpSp>
            <p:nvGrpSpPr>
              <p:cNvPr id="46" name="Groupe 45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49" name="Ellipse 48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0" name="Ellipse 49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1" name="Ellipse 50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3" name="Ellipse 52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8" name="Ellipse 57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0" name="Ellipse 59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1" name="Ellipse 60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2" name="Ellipse 61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47" name="Ellipse 46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45" name="Ellipse 44"/>
            <p:cNvSpPr/>
            <p:nvPr/>
          </p:nvSpPr>
          <p:spPr>
            <a:xfrm>
              <a:off x="3348372" y="6242421"/>
              <a:ext cx="342900" cy="342900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7</a:t>
              </a:r>
            </a:p>
          </p:txBody>
        </p:sp>
      </p:grpSp>
      <p:sp>
        <p:nvSpPr>
          <p:cNvPr id="8" name="Parallélogramme 7"/>
          <p:cNvSpPr/>
          <p:nvPr/>
        </p:nvSpPr>
        <p:spPr>
          <a:xfrm>
            <a:off x="2651234" y="2204346"/>
            <a:ext cx="2020550" cy="1377373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Parallélogramme 4"/>
          <p:cNvSpPr/>
          <p:nvPr/>
        </p:nvSpPr>
        <p:spPr>
          <a:xfrm rot="5664527" flipH="1">
            <a:off x="2750161" y="2172117"/>
            <a:ext cx="1627579" cy="1735599"/>
          </a:xfrm>
          <a:custGeom>
            <a:avLst/>
            <a:gdLst>
              <a:gd name="connsiteX0" fmla="*/ 0 w 1795525"/>
              <a:gd name="connsiteY0" fmla="*/ 1722651 h 1722651"/>
              <a:gd name="connsiteX1" fmla="*/ 430663 w 1795525"/>
              <a:gd name="connsiteY1" fmla="*/ 0 h 1722651"/>
              <a:gd name="connsiteX2" fmla="*/ 1795525 w 1795525"/>
              <a:gd name="connsiteY2" fmla="*/ 0 h 1722651"/>
              <a:gd name="connsiteX3" fmla="*/ 1364862 w 1795525"/>
              <a:gd name="connsiteY3" fmla="*/ 1722651 h 1722651"/>
              <a:gd name="connsiteX4" fmla="*/ 0 w 1795525"/>
              <a:gd name="connsiteY4" fmla="*/ 1722651 h 1722651"/>
              <a:gd name="connsiteX0" fmla="*/ 0 w 1711554"/>
              <a:gd name="connsiteY0" fmla="*/ 1729125 h 1729125"/>
              <a:gd name="connsiteX1" fmla="*/ 430663 w 1711554"/>
              <a:gd name="connsiteY1" fmla="*/ 6474 h 1729125"/>
              <a:gd name="connsiteX2" fmla="*/ 1711554 w 1711554"/>
              <a:gd name="connsiteY2" fmla="*/ 0 h 1729125"/>
              <a:gd name="connsiteX3" fmla="*/ 1364862 w 1711554"/>
              <a:gd name="connsiteY3" fmla="*/ 1729125 h 1729125"/>
              <a:gd name="connsiteX4" fmla="*/ 0 w 1711554"/>
              <a:gd name="connsiteY4" fmla="*/ 1729125 h 1729125"/>
              <a:gd name="connsiteX0" fmla="*/ 0 w 1711554"/>
              <a:gd name="connsiteY0" fmla="*/ 1729125 h 1729125"/>
              <a:gd name="connsiteX1" fmla="*/ 478648 w 1711554"/>
              <a:gd name="connsiteY1" fmla="*/ 10173 h 1729125"/>
              <a:gd name="connsiteX2" fmla="*/ 1711554 w 1711554"/>
              <a:gd name="connsiteY2" fmla="*/ 0 h 1729125"/>
              <a:gd name="connsiteX3" fmla="*/ 1364862 w 1711554"/>
              <a:gd name="connsiteY3" fmla="*/ 1729125 h 1729125"/>
              <a:gd name="connsiteX4" fmla="*/ 0 w 1711554"/>
              <a:gd name="connsiteY4" fmla="*/ 1729125 h 1729125"/>
              <a:gd name="connsiteX0" fmla="*/ 0 w 1651574"/>
              <a:gd name="connsiteY0" fmla="*/ 1733749 h 1733749"/>
              <a:gd name="connsiteX1" fmla="*/ 478648 w 1651574"/>
              <a:gd name="connsiteY1" fmla="*/ 14797 h 1733749"/>
              <a:gd name="connsiteX2" fmla="*/ 1651574 w 1651574"/>
              <a:gd name="connsiteY2" fmla="*/ 0 h 1733749"/>
              <a:gd name="connsiteX3" fmla="*/ 1364862 w 1651574"/>
              <a:gd name="connsiteY3" fmla="*/ 1733749 h 1733749"/>
              <a:gd name="connsiteX4" fmla="*/ 0 w 1651574"/>
              <a:gd name="connsiteY4" fmla="*/ 1733749 h 1733749"/>
              <a:gd name="connsiteX0" fmla="*/ 0 w 1651574"/>
              <a:gd name="connsiteY0" fmla="*/ 1733749 h 1733749"/>
              <a:gd name="connsiteX1" fmla="*/ 514637 w 1651574"/>
              <a:gd name="connsiteY1" fmla="*/ 17572 h 1733749"/>
              <a:gd name="connsiteX2" fmla="*/ 1651574 w 1651574"/>
              <a:gd name="connsiteY2" fmla="*/ 0 h 1733749"/>
              <a:gd name="connsiteX3" fmla="*/ 1364862 w 1651574"/>
              <a:gd name="connsiteY3" fmla="*/ 1733749 h 1733749"/>
              <a:gd name="connsiteX4" fmla="*/ 0 w 1651574"/>
              <a:gd name="connsiteY4" fmla="*/ 1733749 h 1733749"/>
              <a:gd name="connsiteX0" fmla="*/ 0 w 1627579"/>
              <a:gd name="connsiteY0" fmla="*/ 1735599 h 1735599"/>
              <a:gd name="connsiteX1" fmla="*/ 490642 w 1627579"/>
              <a:gd name="connsiteY1" fmla="*/ 17572 h 1735599"/>
              <a:gd name="connsiteX2" fmla="*/ 1627579 w 1627579"/>
              <a:gd name="connsiteY2" fmla="*/ 0 h 1735599"/>
              <a:gd name="connsiteX3" fmla="*/ 1340867 w 1627579"/>
              <a:gd name="connsiteY3" fmla="*/ 1733749 h 1735599"/>
              <a:gd name="connsiteX4" fmla="*/ 0 w 1627579"/>
              <a:gd name="connsiteY4" fmla="*/ 1735599 h 17355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27579" h="1735599">
                <a:moveTo>
                  <a:pt x="0" y="1735599"/>
                </a:moveTo>
                <a:lnTo>
                  <a:pt x="490642" y="17572"/>
                </a:lnTo>
                <a:lnTo>
                  <a:pt x="1627579" y="0"/>
                </a:lnTo>
                <a:lnTo>
                  <a:pt x="1340867" y="1733749"/>
                </a:lnTo>
                <a:lnTo>
                  <a:pt x="0" y="1735599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Connecteur droit 9"/>
          <p:cNvCxnSpPr>
            <a:cxnSpLocks/>
          </p:cNvCxnSpPr>
          <p:nvPr/>
        </p:nvCxnSpPr>
        <p:spPr>
          <a:xfrm flipV="1">
            <a:off x="3087511" y="2637177"/>
            <a:ext cx="1112423" cy="129165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/>
          <p:cNvCxnSpPr>
            <a:cxnSpLocks/>
          </p:cNvCxnSpPr>
          <p:nvPr/>
        </p:nvCxnSpPr>
        <p:spPr>
          <a:xfrm flipV="1">
            <a:off x="3429313" y="3264772"/>
            <a:ext cx="420162" cy="8648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llipse 17"/>
          <p:cNvSpPr/>
          <p:nvPr/>
        </p:nvSpPr>
        <p:spPr>
          <a:xfrm>
            <a:off x="3609849" y="3195786"/>
            <a:ext cx="52445" cy="45719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Ellipse 53"/>
          <p:cNvSpPr/>
          <p:nvPr/>
        </p:nvSpPr>
        <p:spPr>
          <a:xfrm>
            <a:off x="3620046" y="3003059"/>
            <a:ext cx="52445" cy="45719"/>
          </a:xfrm>
          <a:prstGeom prst="ellipse">
            <a:avLst/>
          </a:prstGeom>
          <a:solidFill>
            <a:schemeClr val="accent2">
              <a:alpha val="53000"/>
            </a:schemeClr>
          </a:solidFill>
          <a:ln>
            <a:solidFill>
              <a:schemeClr val="accent2">
                <a:shade val="50000"/>
                <a:alpha val="53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Ellipse 54"/>
          <p:cNvSpPr/>
          <p:nvPr/>
        </p:nvSpPr>
        <p:spPr>
          <a:xfrm>
            <a:off x="3619507" y="2830704"/>
            <a:ext cx="52445" cy="45719"/>
          </a:xfrm>
          <a:prstGeom prst="ellipse">
            <a:avLst/>
          </a:prstGeom>
          <a:solidFill>
            <a:schemeClr val="accent2">
              <a:alpha val="53000"/>
            </a:schemeClr>
          </a:solidFill>
          <a:ln>
            <a:solidFill>
              <a:schemeClr val="accent2">
                <a:shade val="50000"/>
                <a:alpha val="53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Double flèche verticale 18"/>
          <p:cNvSpPr/>
          <p:nvPr/>
        </p:nvSpPr>
        <p:spPr>
          <a:xfrm rot="267082">
            <a:off x="3334159" y="3280258"/>
            <a:ext cx="70523" cy="159986"/>
          </a:xfrm>
          <a:prstGeom prst="upDownArrow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>
                <a:shade val="50000"/>
                <a:alpha val="53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0785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/>
          <a:srcRect l="60955" r="5896"/>
          <a:stretch/>
        </p:blipFill>
        <p:spPr>
          <a:xfrm>
            <a:off x="8125416" y="0"/>
            <a:ext cx="4066584" cy="6858000"/>
          </a:xfrm>
        </p:spPr>
      </p:pic>
      <p:grpSp>
        <p:nvGrpSpPr>
          <p:cNvPr id="32" name="Groupe 31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33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35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51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8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 anchor="ctr"/>
          <a:lstStyle/>
          <a:p>
            <a:pPr rtl="0"/>
            <a:r>
              <a:rPr lang="fr-FR" sz="3200" b="1" dirty="0">
                <a:solidFill>
                  <a:schemeClr val="accent4"/>
                </a:solidFill>
              </a:rPr>
              <a:t>Méthodologie expérimentale</a:t>
            </a:r>
          </a:p>
        </p:txBody>
      </p:sp>
      <p:sp>
        <p:nvSpPr>
          <p:cNvPr id="52" name="Forme libre 51"/>
          <p:cNvSpPr/>
          <p:nvPr/>
        </p:nvSpPr>
        <p:spPr>
          <a:xfrm>
            <a:off x="0" y="-14416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accent4">
                  <a:alpha val="55000"/>
                </a:schemeClr>
              </a:gs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CADRE EXPERIMENTAL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pic>
        <p:nvPicPr>
          <p:cNvPr id="2" name="test_bouncing_film">
            <a:hlinkClick r:id="" action="ppaction://media"/>
            <a:extLst>
              <a:ext uri="{FF2B5EF4-FFF2-40B4-BE49-F238E27FC236}">
                <a16:creationId xmlns:a16="http://schemas.microsoft.com/office/drawing/2014/main" id="{59C28150-D0B5-1242-8723-749AAA44B2B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46588" y="2047547"/>
            <a:ext cx="5893937" cy="3315339"/>
          </a:xfrm>
          <a:prstGeom prst="rect">
            <a:avLst/>
          </a:prstGeom>
          <a:ln>
            <a:noFill/>
          </a:ln>
          <a:effectLst/>
          <a:scene3d>
            <a:camera prst="orthographicFront"/>
            <a:lightRig rig="balanced" dir="t"/>
          </a:scene3d>
          <a:sp3d prstMaterial="softEdge">
            <a:bevelT w="203200" h="101600" prst="cross"/>
            <a:contourClr>
              <a:srgbClr val="FFFFFF"/>
            </a:contourClr>
          </a:sp3d>
        </p:spPr>
      </p:pic>
      <p:grpSp>
        <p:nvGrpSpPr>
          <p:cNvPr id="53" name="Groupe 52"/>
          <p:cNvGrpSpPr/>
          <p:nvPr/>
        </p:nvGrpSpPr>
        <p:grpSpPr>
          <a:xfrm>
            <a:off x="6874051" y="106413"/>
            <a:ext cx="4291996" cy="342900"/>
            <a:chOff x="883097" y="4020636"/>
            <a:chExt cx="4291996" cy="342900"/>
          </a:xfrm>
        </p:grpSpPr>
        <p:grpSp>
          <p:nvGrpSpPr>
            <p:cNvPr id="54" name="Groupe 53"/>
            <p:cNvGrpSpPr/>
            <p:nvPr/>
          </p:nvGrpSpPr>
          <p:grpSpPr>
            <a:xfrm>
              <a:off x="883097" y="4059980"/>
              <a:ext cx="4291996" cy="266796"/>
              <a:chOff x="755650" y="1900714"/>
              <a:chExt cx="4291996" cy="266796"/>
            </a:xfrm>
          </p:grpSpPr>
          <p:grpSp>
            <p:nvGrpSpPr>
              <p:cNvPr id="56" name="Groupe 55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59" name="Ellipse 58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0" name="Ellipse 59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1" name="Ellipse 60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2" name="Ellipse 61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3" name="Ellipse 62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4" name="Ellipse 63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5" name="Ellipse 64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6" name="Ellipse 65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57" name="Ellipse 56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55" name="Ellipse 54"/>
            <p:cNvSpPr/>
            <p:nvPr/>
          </p:nvSpPr>
          <p:spPr>
            <a:xfrm>
              <a:off x="3866031" y="4020636"/>
              <a:ext cx="342900" cy="342900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8</a:t>
              </a:r>
            </a:p>
          </p:txBody>
        </p:sp>
      </p:grpSp>
      <p:sp>
        <p:nvSpPr>
          <p:cNvPr id="29" name="Rectangle à coins arrondis 28"/>
          <p:cNvSpPr/>
          <p:nvPr/>
        </p:nvSpPr>
        <p:spPr>
          <a:xfrm>
            <a:off x="8243358" y="2550029"/>
            <a:ext cx="2251234" cy="87663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>
                <a:solidFill>
                  <a:schemeClr val="tx1"/>
                </a:solidFill>
              </a:rPr>
              <a:t>Perturbations en force (5N)</a:t>
            </a:r>
          </a:p>
          <a:p>
            <a:endParaRPr lang="fr-FR" sz="2200" dirty="0">
              <a:solidFill>
                <a:schemeClr val="tx1"/>
              </a:solidFill>
            </a:endParaRPr>
          </a:p>
        </p:txBody>
      </p:sp>
      <p:sp>
        <p:nvSpPr>
          <p:cNvPr id="30" name="Rectangle à coins arrondis 29">
            <a:extLst>
              <a:ext uri="{FF2B5EF4-FFF2-40B4-BE49-F238E27FC236}">
                <a16:creationId xmlns:a16="http://schemas.microsoft.com/office/drawing/2014/main" id="{A7AD74DC-863F-0E4D-A373-948E95D2F923}"/>
              </a:ext>
            </a:extLst>
          </p:cNvPr>
          <p:cNvSpPr/>
          <p:nvPr/>
        </p:nvSpPr>
        <p:spPr>
          <a:xfrm>
            <a:off x="8243358" y="3806205"/>
            <a:ext cx="2245000" cy="1236359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>
                <a:solidFill>
                  <a:schemeClr val="tx1"/>
                </a:solidFill>
              </a:rPr>
              <a:t>Tâche guidée : </a:t>
            </a:r>
          </a:p>
          <a:p>
            <a:r>
              <a:rPr lang="fr-FR" sz="2200" dirty="0">
                <a:solidFill>
                  <a:schemeClr val="tx1"/>
                </a:solidFill>
              </a:rPr>
              <a:t>- 3 articulations actionnées</a:t>
            </a:r>
          </a:p>
          <a:p>
            <a:endParaRPr lang="fr-FR" sz="2200" dirty="0">
              <a:solidFill>
                <a:schemeClr val="tx1"/>
              </a:solidFill>
            </a:endParaRPr>
          </a:p>
        </p:txBody>
      </p:sp>
      <p:sp>
        <p:nvSpPr>
          <p:cNvPr id="36" name="Rectangle à coins arrondis 35">
            <a:extLst>
              <a:ext uri="{FF2B5EF4-FFF2-40B4-BE49-F238E27FC236}">
                <a16:creationId xmlns:a16="http://schemas.microsoft.com/office/drawing/2014/main" id="{A7AD74DC-863F-0E4D-A373-948E95D2F923}"/>
              </a:ext>
            </a:extLst>
          </p:cNvPr>
          <p:cNvSpPr/>
          <p:nvPr/>
        </p:nvSpPr>
        <p:spPr>
          <a:xfrm>
            <a:off x="8243358" y="1271531"/>
            <a:ext cx="2245000" cy="898957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>
                <a:solidFill>
                  <a:schemeClr val="tx1"/>
                </a:solidFill>
              </a:rPr>
              <a:t>Robot « transparent »</a:t>
            </a:r>
          </a:p>
          <a:p>
            <a:endParaRPr lang="fr-FR" sz="2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1978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749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60955" r="5896"/>
          <a:stretch/>
        </p:blipFill>
        <p:spPr>
          <a:xfrm>
            <a:off x="8125416" y="0"/>
            <a:ext cx="4066584" cy="6858000"/>
          </a:xfrm>
        </p:spPr>
      </p:pic>
      <p:grpSp>
        <p:nvGrpSpPr>
          <p:cNvPr id="62" name="Groupe 61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63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64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65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cxnSp>
        <p:nvCxnSpPr>
          <p:cNvPr id="6" name="Connecteur droit 5"/>
          <p:cNvCxnSpPr/>
          <p:nvPr/>
        </p:nvCxnSpPr>
        <p:spPr>
          <a:xfrm>
            <a:off x="1307592" y="4663440"/>
            <a:ext cx="5312664" cy="0"/>
          </a:xfrm>
          <a:prstGeom prst="line">
            <a:avLst/>
          </a:prstGeom>
          <a:ln w="28575">
            <a:solidFill>
              <a:schemeClr val="tx2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9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5" y="557439"/>
            <a:ext cx="9750067" cy="830997"/>
          </a:xfrm>
        </p:spPr>
        <p:txBody>
          <a:bodyPr rtlCol="0" anchor="ctr"/>
          <a:lstStyle/>
          <a:p>
            <a:r>
              <a:rPr lang="fr-FR" sz="3200" b="1" dirty="0">
                <a:solidFill>
                  <a:schemeClr val="accent4"/>
                </a:solidFill>
              </a:rPr>
              <a:t>Commande de robot pour une interaction collaborative</a:t>
            </a:r>
          </a:p>
        </p:txBody>
      </p:sp>
      <p:sp>
        <p:nvSpPr>
          <p:cNvPr id="20" name="Rectangle à coins arrondis 19">
            <a:extLst>
              <a:ext uri="{FF2B5EF4-FFF2-40B4-BE49-F238E27FC236}">
                <a16:creationId xmlns:a16="http://schemas.microsoft.com/office/drawing/2014/main" id="{2553C628-E97B-3D46-BC8A-A6B560C56CCD}"/>
              </a:ext>
            </a:extLst>
          </p:cNvPr>
          <p:cNvSpPr/>
          <p:nvPr/>
        </p:nvSpPr>
        <p:spPr>
          <a:xfrm>
            <a:off x="3693761" y="3072594"/>
            <a:ext cx="1586487" cy="817221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  <a:latin typeface="Arial"/>
                <a:cs typeface="Arial"/>
              </a:rPr>
              <a:t>Correcteur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  <a:latin typeface="Arial"/>
                <a:cs typeface="Arial"/>
              </a:rPr>
              <a:t>pour la transparence</a:t>
            </a: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E9E22CEB-0E14-0C48-9AA7-6BC7DBA958DC}"/>
              </a:ext>
            </a:extLst>
          </p:cNvPr>
          <p:cNvCxnSpPr>
            <a:cxnSpLocks/>
            <a:stCxn id="25" idx="0"/>
            <a:endCxn id="110" idx="4"/>
          </p:cNvCxnSpPr>
          <p:nvPr/>
        </p:nvCxnSpPr>
        <p:spPr>
          <a:xfrm flipH="1" flipV="1">
            <a:off x="3254360" y="3626996"/>
            <a:ext cx="4713" cy="760698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à coins arrondis 24">
                <a:extLst>
                  <a:ext uri="{FF2B5EF4-FFF2-40B4-BE49-F238E27FC236}">
                    <a16:creationId xmlns:a16="http://schemas.microsoft.com/office/drawing/2014/main" id="{F1A4412C-1691-3C42-91A3-1EE38BEB1750}"/>
                  </a:ext>
                </a:extLst>
              </p:cNvPr>
              <p:cNvSpPr/>
              <p:nvPr/>
            </p:nvSpPr>
            <p:spPr>
              <a:xfrm>
                <a:off x="3004010" y="4387694"/>
                <a:ext cx="510125" cy="510125"/>
              </a:xfrm>
              <a:prstGeom prst="roundRect">
                <a:avLst/>
              </a:prstGeom>
              <a:solidFill>
                <a:schemeClr val="accent2">
                  <a:lumMod val="25000"/>
                  <a:lumOff val="75000"/>
                </a:schemeClr>
              </a:solidFill>
              <a:ln w="285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fr-FR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pple Chancery"/>
                      </a:rPr>
                      <m:t>𝒥</m:t>
                    </m:r>
                  </m:oMath>
                </a14:m>
                <a:r>
                  <a:rPr lang="fr-FR" sz="2000" baseline="30000" dirty="0">
                    <a:solidFill>
                      <a:schemeClr val="tx1"/>
                    </a:solidFill>
                    <a:latin typeface="Arial"/>
                    <a:cs typeface="Arial"/>
                  </a:rPr>
                  <a:t>T</a:t>
                </a:r>
              </a:p>
            </p:txBody>
          </p:sp>
        </mc:Choice>
        <mc:Fallback xmlns="">
          <p:sp>
            <p:nvSpPr>
              <p:cNvPr id="25" name="Rectangle à coins arrondis 24">
                <a:extLst>
                  <a:ext uri="{FF2B5EF4-FFF2-40B4-BE49-F238E27FC236}">
                    <a16:creationId xmlns:a16="http://schemas.microsoft.com/office/drawing/2014/main" id="{F1A4412C-1691-3C42-91A3-1EE38BEB17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4010" y="4387694"/>
                <a:ext cx="510125" cy="510125"/>
              </a:xfrm>
              <a:prstGeom prst="roundRect">
                <a:avLst/>
              </a:prstGeom>
              <a:blipFill>
                <a:blip r:embed="rId4"/>
                <a:stretch>
                  <a:fillRect l="-2273" b="-2273"/>
                </a:stretch>
              </a:blipFill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Connecteur en angle 25">
            <a:extLst>
              <a:ext uri="{FF2B5EF4-FFF2-40B4-BE49-F238E27FC236}">
                <a16:creationId xmlns:a16="http://schemas.microsoft.com/office/drawing/2014/main" id="{9167FF29-6DCB-5E4F-A4B4-F57F512EF447}"/>
              </a:ext>
            </a:extLst>
          </p:cNvPr>
          <p:cNvCxnSpPr>
            <a:cxnSpLocks/>
            <a:stCxn id="32" idx="1"/>
            <a:endCxn id="25" idx="2"/>
          </p:cNvCxnSpPr>
          <p:nvPr/>
        </p:nvCxnSpPr>
        <p:spPr>
          <a:xfrm rot="10800000">
            <a:off x="3259073" y="4897820"/>
            <a:ext cx="1003236" cy="454947"/>
          </a:xfrm>
          <a:prstGeom prst="bentConnector2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à coins arrondis 26">
            <a:extLst>
              <a:ext uri="{FF2B5EF4-FFF2-40B4-BE49-F238E27FC236}">
                <a16:creationId xmlns:a16="http://schemas.microsoft.com/office/drawing/2014/main" id="{35AF9081-5812-5F4F-913B-A906324F17AD}"/>
              </a:ext>
            </a:extLst>
          </p:cNvPr>
          <p:cNvSpPr/>
          <p:nvPr/>
        </p:nvSpPr>
        <p:spPr>
          <a:xfrm>
            <a:off x="6311332" y="5134327"/>
            <a:ext cx="1285507" cy="43687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2000" dirty="0">
                <a:solidFill>
                  <a:schemeClr val="tx1"/>
                </a:solidFill>
                <a:latin typeface="Calibri"/>
                <a:cs typeface="Calibri"/>
              </a:rPr>
              <a:t>Capteur F/T</a:t>
            </a:r>
            <a:endParaRPr lang="fr-FR" sz="1400" baseline="300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28" name="Flèche à angle droit 27">
            <a:extLst>
              <a:ext uri="{FF2B5EF4-FFF2-40B4-BE49-F238E27FC236}">
                <a16:creationId xmlns:a16="http://schemas.microsoft.com/office/drawing/2014/main" id="{1B64B87C-8A2A-DA4F-AFD7-4852B3A3D495}"/>
              </a:ext>
            </a:extLst>
          </p:cNvPr>
          <p:cNvSpPr/>
          <p:nvPr/>
        </p:nvSpPr>
        <p:spPr>
          <a:xfrm rot="10800000" flipH="1">
            <a:off x="6493688" y="2238271"/>
            <a:ext cx="701422" cy="822290"/>
          </a:xfrm>
          <a:prstGeom prst="bentUpArrow">
            <a:avLst>
              <a:gd name="adj1" fmla="val 7210"/>
              <a:gd name="adj2" fmla="val 11054"/>
              <a:gd name="adj3" fmla="val 24661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à coins arrondis 28">
            <a:extLst>
              <a:ext uri="{FF2B5EF4-FFF2-40B4-BE49-F238E27FC236}">
                <a16:creationId xmlns:a16="http://schemas.microsoft.com/office/drawing/2014/main" id="{3A097771-0EFA-BB41-904A-6BBE9BE1A4E5}"/>
              </a:ext>
            </a:extLst>
          </p:cNvPr>
          <p:cNvSpPr/>
          <p:nvPr/>
        </p:nvSpPr>
        <p:spPr>
          <a:xfrm>
            <a:off x="4833086" y="2039965"/>
            <a:ext cx="1639780" cy="47189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fr-FR" sz="2000" dirty="0"/>
              <a:t>perturbations</a:t>
            </a:r>
            <a:endParaRPr lang="fr-FR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à coins arrondis 31">
                <a:extLst>
                  <a:ext uri="{FF2B5EF4-FFF2-40B4-BE49-F238E27FC236}">
                    <a16:creationId xmlns:a16="http://schemas.microsoft.com/office/drawing/2014/main" id="{311CBBA2-CC0E-3C4B-BF02-4AED1290C917}"/>
                  </a:ext>
                </a:extLst>
              </p:cNvPr>
              <p:cNvSpPr/>
              <p:nvPr/>
            </p:nvSpPr>
            <p:spPr>
              <a:xfrm>
                <a:off x="4262309" y="5134327"/>
                <a:ext cx="1131923" cy="436878"/>
              </a:xfrm>
              <a:prstGeom prst="roundRect">
                <a:avLst/>
              </a:prstGeom>
              <a:solidFill>
                <a:schemeClr val="accent2">
                  <a:lumMod val="25000"/>
                  <a:lumOff val="75000"/>
                </a:schemeClr>
              </a:solidFill>
              <a:ln w="285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/>
                        </a:rPr>
                        <m:t>𝑡𝑓</m:t>
                      </m:r>
                      <m:r>
                        <a:rPr lang="fr-FR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/>
                        </a:rPr>
                        <m:t>(</m:t>
                      </m:r>
                      <m:sSub>
                        <m:sSubPr>
                          <m:ctrlPr>
                            <a:rPr lang="fr-FR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Calibri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Calibri"/>
                            </a:rPr>
                            <m:t>𝜃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Calibri"/>
                            </a:rPr>
                            <m:t>𝑖</m:t>
                          </m:r>
                        </m:sub>
                      </m:sSub>
                      <m:r>
                        <a:rPr lang="fr-FR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/>
                        </a:rPr>
                        <m:t>)</m:t>
                      </m:r>
                    </m:oMath>
                  </m:oMathPara>
                </a14:m>
                <a:endParaRPr lang="fr-FR" sz="2000" dirty="0">
                  <a:solidFill>
                    <a:schemeClr val="tx1"/>
                  </a:solidFill>
                  <a:latin typeface="Calibri"/>
                  <a:cs typeface="Calibri"/>
                </a:endParaRPr>
              </a:p>
            </p:txBody>
          </p:sp>
        </mc:Choice>
        <mc:Fallback xmlns="">
          <p:sp>
            <p:nvSpPr>
              <p:cNvPr id="32" name="Rectangle à coins arrondis 31">
                <a:extLst>
                  <a:ext uri="{FF2B5EF4-FFF2-40B4-BE49-F238E27FC236}">
                    <a16:creationId xmlns:a16="http://schemas.microsoft.com/office/drawing/2014/main" id="{311CBBA2-CC0E-3C4B-BF02-4AED1290C9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309" y="5134327"/>
                <a:ext cx="1131923" cy="436878"/>
              </a:xfrm>
              <a:prstGeom prst="roundRect">
                <a:avLst/>
              </a:prstGeom>
              <a:blipFill>
                <a:blip r:embed="rId5"/>
                <a:stretch>
                  <a:fillRect b="-2632"/>
                </a:stretch>
              </a:blipFill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AF79DB3D-4131-8D42-BF3F-8515BDD54177}"/>
              </a:ext>
            </a:extLst>
          </p:cNvPr>
          <p:cNvCxnSpPr>
            <a:cxnSpLocks/>
            <a:stCxn id="20" idx="3"/>
            <a:endCxn id="40" idx="1"/>
          </p:cNvCxnSpPr>
          <p:nvPr/>
        </p:nvCxnSpPr>
        <p:spPr>
          <a:xfrm flipV="1">
            <a:off x="5280248" y="3480053"/>
            <a:ext cx="866938" cy="1152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ZoneTexte 30">
                <a:extLst>
                  <a:ext uri="{FF2B5EF4-FFF2-40B4-BE49-F238E27FC236}">
                    <a16:creationId xmlns:a16="http://schemas.microsoft.com/office/drawing/2014/main" id="{BD3906F8-68CC-934B-8B11-AE6A74822020}"/>
                  </a:ext>
                </a:extLst>
              </p:cNvPr>
              <p:cNvSpPr txBox="1"/>
              <p:nvPr/>
            </p:nvSpPr>
            <p:spPr>
              <a:xfrm>
                <a:off x="5273125" y="3082323"/>
                <a:ext cx="706219" cy="3965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𝑟𝑒</m:t>
                          </m:r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1" name="ZoneTexte 30">
                <a:extLst>
                  <a:ext uri="{FF2B5EF4-FFF2-40B4-BE49-F238E27FC236}">
                    <a16:creationId xmlns:a16="http://schemas.microsoft.com/office/drawing/2014/main" id="{BD3906F8-68CC-934B-8B11-AE6A748220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125" y="3082323"/>
                <a:ext cx="706219" cy="39651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Rectangle à coins arrondis 39">
            <a:extLst>
              <a:ext uri="{FF2B5EF4-FFF2-40B4-BE49-F238E27FC236}">
                <a16:creationId xmlns:a16="http://schemas.microsoft.com/office/drawing/2014/main" id="{DF545571-D3DD-854D-A6AC-C9D40BCE65B1}"/>
              </a:ext>
            </a:extLst>
          </p:cNvPr>
          <p:cNvSpPr/>
          <p:nvPr/>
        </p:nvSpPr>
        <p:spPr>
          <a:xfrm>
            <a:off x="6147186" y="3070291"/>
            <a:ext cx="1614543" cy="819524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 err="1">
                <a:solidFill>
                  <a:schemeClr val="tx1"/>
                </a:solidFill>
                <a:latin typeface="Arial"/>
                <a:cs typeface="Arial"/>
              </a:rPr>
              <a:t>YouBot</a:t>
            </a:r>
            <a:endParaRPr lang="fr-FR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84" name="Rectangle à coins arrondis 83">
            <a:extLst>
              <a:ext uri="{FF2B5EF4-FFF2-40B4-BE49-F238E27FC236}">
                <a16:creationId xmlns:a16="http://schemas.microsoft.com/office/drawing/2014/main" id="{E082E7A7-6E8C-624F-9773-CF62F75FCFCC}"/>
              </a:ext>
            </a:extLst>
          </p:cNvPr>
          <p:cNvSpPr/>
          <p:nvPr/>
        </p:nvSpPr>
        <p:spPr>
          <a:xfrm>
            <a:off x="8072765" y="3547395"/>
            <a:ext cx="1342551" cy="43687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2000" dirty="0">
                <a:solidFill>
                  <a:schemeClr val="tx1"/>
                </a:solidFill>
                <a:latin typeface="Calibri"/>
                <a:cs typeface="Calibri"/>
              </a:rPr>
              <a:t>Encodeurs</a:t>
            </a:r>
            <a:endParaRPr lang="fr-FR" sz="1200" baseline="300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85" name="Rectangle à coins arrondis 84">
            <a:extLst>
              <a:ext uri="{FF2B5EF4-FFF2-40B4-BE49-F238E27FC236}">
                <a16:creationId xmlns:a16="http://schemas.microsoft.com/office/drawing/2014/main" id="{4B92B1B3-393E-8A4C-9AC9-AC87866AA176}"/>
              </a:ext>
            </a:extLst>
          </p:cNvPr>
          <p:cNvSpPr/>
          <p:nvPr/>
        </p:nvSpPr>
        <p:spPr>
          <a:xfrm>
            <a:off x="8072766" y="2987483"/>
            <a:ext cx="1342550" cy="43687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2000" dirty="0">
                <a:solidFill>
                  <a:schemeClr val="tx1"/>
                </a:solidFill>
                <a:latin typeface="Calibri"/>
                <a:cs typeface="Calibri"/>
              </a:rPr>
              <a:t>Capteur Hall</a:t>
            </a:r>
            <a:endParaRPr lang="fr-FR" sz="1400" baseline="300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grpSp>
        <p:nvGrpSpPr>
          <p:cNvPr id="109" name="Groupe 108">
            <a:extLst>
              <a:ext uri="{FF2B5EF4-FFF2-40B4-BE49-F238E27FC236}">
                <a16:creationId xmlns:a16="http://schemas.microsoft.com/office/drawing/2014/main" id="{42BCF73A-2682-BD41-9F2A-D0BCF920B5D6}"/>
              </a:ext>
            </a:extLst>
          </p:cNvPr>
          <p:cNvGrpSpPr/>
          <p:nvPr/>
        </p:nvGrpSpPr>
        <p:grpSpPr>
          <a:xfrm>
            <a:off x="3112940" y="3344156"/>
            <a:ext cx="282840" cy="282840"/>
            <a:chOff x="3873044" y="3247477"/>
            <a:chExt cx="282840" cy="282840"/>
          </a:xfrm>
        </p:grpSpPr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0B2B02BB-6DEC-3742-B8C6-ECA77FFE30FF}"/>
                </a:ext>
              </a:extLst>
            </p:cNvPr>
            <p:cNvSpPr/>
            <p:nvPr/>
          </p:nvSpPr>
          <p:spPr>
            <a:xfrm>
              <a:off x="3873044" y="3247477"/>
              <a:ext cx="282840" cy="282840"/>
            </a:xfrm>
            <a:prstGeom prst="ellipse">
              <a:avLst/>
            </a:prstGeom>
            <a:ln w="28575">
              <a:solidFill>
                <a:schemeClr val="accent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CA5CF506-B2DD-4444-8112-7F9F70A5EBF1}"/>
                </a:ext>
              </a:extLst>
            </p:cNvPr>
            <p:cNvCxnSpPr>
              <a:stCxn id="110" idx="1"/>
              <a:endCxn id="110" idx="5"/>
            </p:cNvCxnSpPr>
            <p:nvPr/>
          </p:nvCxnSpPr>
          <p:spPr>
            <a:xfrm>
              <a:off x="3914465" y="3288898"/>
              <a:ext cx="199998" cy="199998"/>
            </a:xfrm>
            <a:prstGeom prst="line">
              <a:avLst/>
            </a:prstGeom>
            <a:ln w="285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18856715-5DDF-E241-BE37-1975B0751597}"/>
                </a:ext>
              </a:extLst>
            </p:cNvPr>
            <p:cNvCxnSpPr>
              <a:cxnSpLocks/>
              <a:stCxn id="110" idx="7"/>
              <a:endCxn id="110" idx="3"/>
            </p:cNvCxnSpPr>
            <p:nvPr/>
          </p:nvCxnSpPr>
          <p:spPr>
            <a:xfrm flipH="1">
              <a:off x="3914465" y="3288898"/>
              <a:ext cx="199998" cy="199998"/>
            </a:xfrm>
            <a:prstGeom prst="line">
              <a:avLst/>
            </a:prstGeom>
            <a:ln w="285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6" name="Connecteur droit avec flèche 115">
            <a:extLst>
              <a:ext uri="{FF2B5EF4-FFF2-40B4-BE49-F238E27FC236}">
                <a16:creationId xmlns:a16="http://schemas.microsoft.com/office/drawing/2014/main" id="{40B85D81-965F-4149-8605-B5489FFAEDBD}"/>
              </a:ext>
            </a:extLst>
          </p:cNvPr>
          <p:cNvCxnSpPr>
            <a:cxnSpLocks/>
            <a:stCxn id="110" idx="6"/>
            <a:endCxn id="20" idx="1"/>
          </p:cNvCxnSpPr>
          <p:nvPr/>
        </p:nvCxnSpPr>
        <p:spPr>
          <a:xfrm flipV="1">
            <a:off x="3395780" y="3481205"/>
            <a:ext cx="297981" cy="4371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ectangle à coins arrondis 141">
            <a:extLst>
              <a:ext uri="{FF2B5EF4-FFF2-40B4-BE49-F238E27FC236}">
                <a16:creationId xmlns:a16="http://schemas.microsoft.com/office/drawing/2014/main" id="{670D43DE-E027-FC4C-8DE7-12B803BE1724}"/>
              </a:ext>
            </a:extLst>
          </p:cNvPr>
          <p:cNvSpPr/>
          <p:nvPr/>
        </p:nvSpPr>
        <p:spPr>
          <a:xfrm>
            <a:off x="1164009" y="5811458"/>
            <a:ext cx="761760" cy="418604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tx1"/>
                </a:solidFill>
                <a:latin typeface="Arial"/>
                <a:cs typeface="Arial"/>
              </a:rPr>
              <a:t>Robot</a:t>
            </a:r>
          </a:p>
        </p:txBody>
      </p:sp>
      <p:sp>
        <p:nvSpPr>
          <p:cNvPr id="144" name="Rectangle à coins arrondis 143">
            <a:extLst>
              <a:ext uri="{FF2B5EF4-FFF2-40B4-BE49-F238E27FC236}">
                <a16:creationId xmlns:a16="http://schemas.microsoft.com/office/drawing/2014/main" id="{9A0D9614-E223-EE45-870B-1A2514DAA8B3}"/>
              </a:ext>
            </a:extLst>
          </p:cNvPr>
          <p:cNvSpPr/>
          <p:nvPr/>
        </p:nvSpPr>
        <p:spPr>
          <a:xfrm>
            <a:off x="142255" y="5818497"/>
            <a:ext cx="761760" cy="411565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100" dirty="0">
                <a:solidFill>
                  <a:schemeClr val="tx1"/>
                </a:solidFill>
                <a:latin typeface="Calibri"/>
                <a:cs typeface="Calibri"/>
              </a:rPr>
              <a:t>Surcouche ROS</a:t>
            </a:r>
            <a:endParaRPr lang="fr-FR" sz="1200" baseline="300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ZoneTexte 144">
                <a:extLst>
                  <a:ext uri="{FF2B5EF4-FFF2-40B4-BE49-F238E27FC236}">
                    <a16:creationId xmlns:a16="http://schemas.microsoft.com/office/drawing/2014/main" id="{58D20FBA-A465-1D4D-A508-3DB227230F5E}"/>
                  </a:ext>
                </a:extLst>
              </p:cNvPr>
              <p:cNvSpPr txBox="1"/>
              <p:nvPr/>
            </p:nvSpPr>
            <p:spPr>
              <a:xfrm>
                <a:off x="3247528" y="3832813"/>
                <a:ext cx="4179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5" name="ZoneTexte 144">
                <a:extLst>
                  <a:ext uri="{FF2B5EF4-FFF2-40B4-BE49-F238E27FC236}">
                    <a16:creationId xmlns:a16="http://schemas.microsoft.com/office/drawing/2014/main" id="{58D20FBA-A465-1D4D-A508-3DB227230F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7528" y="3832813"/>
                <a:ext cx="41799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ZoneTexte 145">
                <a:extLst>
                  <a:ext uri="{FF2B5EF4-FFF2-40B4-BE49-F238E27FC236}">
                    <a16:creationId xmlns:a16="http://schemas.microsoft.com/office/drawing/2014/main" id="{8773EC12-E0C2-4740-A407-FCBD341FA340}"/>
                  </a:ext>
                </a:extLst>
              </p:cNvPr>
              <p:cNvSpPr txBox="1"/>
              <p:nvPr/>
            </p:nvSpPr>
            <p:spPr>
              <a:xfrm>
                <a:off x="3390214" y="4978901"/>
                <a:ext cx="7478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𝑏𝑎𝑠𝑒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6" name="ZoneTexte 145">
                <a:extLst>
                  <a:ext uri="{FF2B5EF4-FFF2-40B4-BE49-F238E27FC236}">
                    <a16:creationId xmlns:a16="http://schemas.microsoft.com/office/drawing/2014/main" id="{8773EC12-E0C2-4740-A407-FCBD341FA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214" y="4978901"/>
                <a:ext cx="74789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ZoneTexte 146">
                <a:extLst>
                  <a:ext uri="{FF2B5EF4-FFF2-40B4-BE49-F238E27FC236}">
                    <a16:creationId xmlns:a16="http://schemas.microsoft.com/office/drawing/2014/main" id="{0458F75B-3A0A-CE4B-A9BD-8BBED4566E8D}"/>
                  </a:ext>
                </a:extLst>
              </p:cNvPr>
              <p:cNvSpPr txBox="1"/>
              <p:nvPr/>
            </p:nvSpPr>
            <p:spPr>
              <a:xfrm>
                <a:off x="5353511" y="4971458"/>
                <a:ext cx="1028680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𝑐𝑎𝑝𝑡𝑒𝑢𝑟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7" name="ZoneTexte 146">
                <a:extLst>
                  <a:ext uri="{FF2B5EF4-FFF2-40B4-BE49-F238E27FC236}">
                    <a16:creationId xmlns:a16="http://schemas.microsoft.com/office/drawing/2014/main" id="{0458F75B-3A0A-CE4B-A9BD-8BBED4566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511" y="4971458"/>
                <a:ext cx="1028680" cy="390748"/>
              </a:xfrm>
              <a:prstGeom prst="rect">
                <a:avLst/>
              </a:prstGeom>
              <a:blipFill>
                <a:blip r:embed="rId9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Forme libre 57">
            <a:extLst>
              <a:ext uri="{FF2B5EF4-FFF2-40B4-BE49-F238E27FC236}">
                <a16:creationId xmlns:a16="http://schemas.microsoft.com/office/drawing/2014/main" id="{56031713-50ED-0A4F-B6A9-9BC2CF6A8606}"/>
              </a:ext>
            </a:extLst>
          </p:cNvPr>
          <p:cNvSpPr/>
          <p:nvPr/>
        </p:nvSpPr>
        <p:spPr>
          <a:xfrm>
            <a:off x="0" y="-14416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accent4">
                  <a:alpha val="55000"/>
                </a:schemeClr>
              </a:gs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CADRE EXPERIMENTAL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EB4185AF-B3CB-6A44-9FE2-847B2A687B36}"/>
              </a:ext>
            </a:extLst>
          </p:cNvPr>
          <p:cNvCxnSpPr>
            <a:cxnSpLocks/>
            <a:stCxn id="27" idx="1"/>
            <a:endCxn id="32" idx="3"/>
          </p:cNvCxnSpPr>
          <p:nvPr/>
        </p:nvCxnSpPr>
        <p:spPr>
          <a:xfrm flipH="1">
            <a:off x="5394232" y="5352766"/>
            <a:ext cx="917100" cy="0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avec flèche 69">
            <a:extLst>
              <a:ext uri="{FF2B5EF4-FFF2-40B4-BE49-F238E27FC236}">
                <a16:creationId xmlns:a16="http://schemas.microsoft.com/office/drawing/2014/main" id="{6F54F5B6-388E-434E-BBA5-4614E8B33D75}"/>
              </a:ext>
            </a:extLst>
          </p:cNvPr>
          <p:cNvCxnSpPr>
            <a:cxnSpLocks/>
          </p:cNvCxnSpPr>
          <p:nvPr/>
        </p:nvCxnSpPr>
        <p:spPr>
          <a:xfrm>
            <a:off x="7835346" y="3205922"/>
            <a:ext cx="135119" cy="0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699FBA41-07B2-1C4D-A92D-1021985B9073}"/>
              </a:ext>
            </a:extLst>
          </p:cNvPr>
          <p:cNvCxnSpPr>
            <a:cxnSpLocks/>
          </p:cNvCxnSpPr>
          <p:nvPr/>
        </p:nvCxnSpPr>
        <p:spPr>
          <a:xfrm>
            <a:off x="7843366" y="3731300"/>
            <a:ext cx="135119" cy="0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269967E1-E255-AC4A-95E0-081E8E901F07}"/>
              </a:ext>
            </a:extLst>
          </p:cNvPr>
          <p:cNvCxnSpPr>
            <a:cxnSpLocks/>
            <a:stCxn id="85" idx="3"/>
          </p:cNvCxnSpPr>
          <p:nvPr/>
        </p:nvCxnSpPr>
        <p:spPr>
          <a:xfrm>
            <a:off x="9415316" y="3205922"/>
            <a:ext cx="737613" cy="0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avec flèche 79">
            <a:extLst>
              <a:ext uri="{FF2B5EF4-FFF2-40B4-BE49-F238E27FC236}">
                <a16:creationId xmlns:a16="http://schemas.microsoft.com/office/drawing/2014/main" id="{C8AFA3F5-20D5-2546-88DE-C1543099E7A3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9415316" y="3765834"/>
            <a:ext cx="737613" cy="0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7168CC8A-F1A6-DA4E-8829-6BCFA70BA4B2}"/>
                  </a:ext>
                </a:extLst>
              </p:cNvPr>
              <p:cNvSpPr txBox="1"/>
              <p:nvPr/>
            </p:nvSpPr>
            <p:spPr>
              <a:xfrm>
                <a:off x="9372192" y="2821925"/>
                <a:ext cx="3859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7168CC8A-F1A6-DA4E-8829-6BCFA70BA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2192" y="2821925"/>
                <a:ext cx="38593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ZoneTexte 82">
                <a:extLst>
                  <a:ext uri="{FF2B5EF4-FFF2-40B4-BE49-F238E27FC236}">
                    <a16:creationId xmlns:a16="http://schemas.microsoft.com/office/drawing/2014/main" id="{F2D81D2B-044E-7A4E-960F-2259194B4CD2}"/>
                  </a:ext>
                </a:extLst>
              </p:cNvPr>
              <p:cNvSpPr txBox="1"/>
              <p:nvPr/>
            </p:nvSpPr>
            <p:spPr>
              <a:xfrm>
                <a:off x="9371073" y="3384160"/>
                <a:ext cx="4339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83" name="ZoneTexte 82">
                <a:extLst>
                  <a:ext uri="{FF2B5EF4-FFF2-40B4-BE49-F238E27FC236}">
                    <a16:creationId xmlns:a16="http://schemas.microsoft.com/office/drawing/2014/main" id="{F2D81D2B-044E-7A4E-960F-2259194B4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1073" y="3384160"/>
                <a:ext cx="43390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ectangle à coins arrondis 94">
            <a:extLst>
              <a:ext uri="{FF2B5EF4-FFF2-40B4-BE49-F238E27FC236}">
                <a16:creationId xmlns:a16="http://schemas.microsoft.com/office/drawing/2014/main" id="{46020C3B-1E82-7C47-8AD0-8B393A53A7D0}"/>
              </a:ext>
            </a:extLst>
          </p:cNvPr>
          <p:cNvSpPr/>
          <p:nvPr/>
        </p:nvSpPr>
        <p:spPr>
          <a:xfrm>
            <a:off x="1471150" y="2275851"/>
            <a:ext cx="1318171" cy="79444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>
                <a:solidFill>
                  <a:schemeClr val="tx1"/>
                </a:solidFill>
                <a:latin typeface="Arial"/>
                <a:cs typeface="Arial"/>
              </a:rPr>
              <a:t>Guide virtuel</a:t>
            </a:r>
          </a:p>
        </p:txBody>
      </p:sp>
      <p:cxnSp>
        <p:nvCxnSpPr>
          <p:cNvPr id="96" name="Connecteur en angle 95">
            <a:extLst>
              <a:ext uri="{FF2B5EF4-FFF2-40B4-BE49-F238E27FC236}">
                <a16:creationId xmlns:a16="http://schemas.microsoft.com/office/drawing/2014/main" id="{8E55D064-28CD-0D47-9902-588987F16479}"/>
              </a:ext>
            </a:extLst>
          </p:cNvPr>
          <p:cNvCxnSpPr>
            <a:cxnSpLocks/>
            <a:stCxn id="95" idx="3"/>
            <a:endCxn id="110" idx="0"/>
          </p:cNvCxnSpPr>
          <p:nvPr/>
        </p:nvCxnSpPr>
        <p:spPr>
          <a:xfrm>
            <a:off x="2789321" y="2673071"/>
            <a:ext cx="465039" cy="671085"/>
          </a:xfrm>
          <a:prstGeom prst="bentConnector2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à coins arrondis 58">
            <a:extLst>
              <a:ext uri="{FF2B5EF4-FFF2-40B4-BE49-F238E27FC236}">
                <a16:creationId xmlns:a16="http://schemas.microsoft.com/office/drawing/2014/main" id="{E87102D8-372E-C54C-81A5-E30A39B952DE}"/>
              </a:ext>
            </a:extLst>
          </p:cNvPr>
          <p:cNvSpPr/>
          <p:nvPr/>
        </p:nvSpPr>
        <p:spPr>
          <a:xfrm>
            <a:off x="7970465" y="4194249"/>
            <a:ext cx="1643039" cy="81952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28575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>
                <a:solidFill>
                  <a:schemeClr val="tx1"/>
                </a:solidFill>
                <a:latin typeface="Arial"/>
                <a:cs typeface="Arial"/>
              </a:rPr>
              <a:t>Utilisateur</a:t>
            </a:r>
            <a:endParaRPr lang="fr-FR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44CD05AA-748E-F641-82A8-396F6FA93CB6}"/>
              </a:ext>
            </a:extLst>
          </p:cNvPr>
          <p:cNvCxnSpPr>
            <a:cxnSpLocks/>
            <a:stCxn id="40" idx="2"/>
            <a:endCxn id="27" idx="0"/>
          </p:cNvCxnSpPr>
          <p:nvPr/>
        </p:nvCxnSpPr>
        <p:spPr>
          <a:xfrm flipH="1">
            <a:off x="6954086" y="3889815"/>
            <a:ext cx="372" cy="1244512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117006B-F078-2C4F-AEE8-909E614497A4}"/>
              </a:ext>
            </a:extLst>
          </p:cNvPr>
          <p:cNvCxnSpPr/>
          <p:nvPr/>
        </p:nvCxnSpPr>
        <p:spPr>
          <a:xfrm flipH="1">
            <a:off x="6954085" y="4580370"/>
            <a:ext cx="1024400" cy="0"/>
          </a:xfrm>
          <a:prstGeom prst="straightConnector1">
            <a:avLst/>
          </a:prstGeom>
          <a:ln w="28575">
            <a:solidFill>
              <a:schemeClr val="accent3">
                <a:lumMod val="50000"/>
              </a:schemeClr>
            </a:solidFill>
            <a:headEnd type="triangle"/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grpSp>
        <p:nvGrpSpPr>
          <p:cNvPr id="67" name="Groupe 66"/>
          <p:cNvGrpSpPr/>
          <p:nvPr/>
        </p:nvGrpSpPr>
        <p:grpSpPr>
          <a:xfrm>
            <a:off x="6878417" y="111904"/>
            <a:ext cx="4291996" cy="342900"/>
            <a:chOff x="883097" y="4544619"/>
            <a:chExt cx="4291996" cy="342900"/>
          </a:xfrm>
        </p:grpSpPr>
        <p:grpSp>
          <p:nvGrpSpPr>
            <p:cNvPr id="68" name="Groupe 67"/>
            <p:cNvGrpSpPr/>
            <p:nvPr/>
          </p:nvGrpSpPr>
          <p:grpSpPr>
            <a:xfrm>
              <a:off x="883097" y="4574687"/>
              <a:ext cx="4291996" cy="266796"/>
              <a:chOff x="755650" y="1900714"/>
              <a:chExt cx="4291996" cy="266796"/>
            </a:xfrm>
          </p:grpSpPr>
          <p:grpSp>
            <p:nvGrpSpPr>
              <p:cNvPr id="72" name="Groupe 71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76" name="Ellipse 75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7" name="Ellipse 76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8" name="Ellipse 77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81" name="Ellipse 80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86" name="Ellipse 85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87" name="Ellipse 86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88" name="Ellipse 87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89" name="Ellipse 88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74" name="Ellipse 73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71" name="Ellipse 70"/>
            <p:cNvSpPr/>
            <p:nvPr/>
          </p:nvSpPr>
          <p:spPr>
            <a:xfrm>
              <a:off x="4372131" y="4544619"/>
              <a:ext cx="342900" cy="342900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9</a:t>
              </a:r>
            </a:p>
          </p:txBody>
        </p:sp>
      </p:grpSp>
      <p:sp>
        <p:nvSpPr>
          <p:cNvPr id="9" name="ZoneTexte 8"/>
          <p:cNvSpPr txBox="1"/>
          <p:nvPr/>
        </p:nvSpPr>
        <p:spPr>
          <a:xfrm>
            <a:off x="1434939" y="4280057"/>
            <a:ext cx="1120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articulaire</a:t>
            </a:r>
          </a:p>
        </p:txBody>
      </p:sp>
      <p:sp>
        <p:nvSpPr>
          <p:cNvPr id="90" name="ZoneTexte 89"/>
          <p:cNvSpPr txBox="1"/>
          <p:nvPr/>
        </p:nvSpPr>
        <p:spPr>
          <a:xfrm>
            <a:off x="1453227" y="4669996"/>
            <a:ext cx="1031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cartésien</a:t>
            </a:r>
          </a:p>
        </p:txBody>
      </p:sp>
    </p:spTree>
    <p:extLst>
      <p:ext uri="{BB962C8B-B14F-4D97-AF65-F5344CB8AC3E}">
        <p14:creationId xmlns:p14="http://schemas.microsoft.com/office/powerpoint/2010/main" val="171561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ce réservé d’image 8" descr="Livre ouvert">
            <a:extLst>
              <a:ext uri="{FF2B5EF4-FFF2-40B4-BE49-F238E27FC236}">
                <a16:creationId xmlns:a16="http://schemas.microsoft.com/office/drawing/2014/main" id="{A799F565-1DAB-4AD3-BCE4-5DAC8012F35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29" name="Rectangle 28" descr="élément décoratif">
            <a:extLst>
              <a:ext uri="{FF2B5EF4-FFF2-40B4-BE49-F238E27FC236}">
                <a16:creationId xmlns:a16="http://schemas.microsoft.com/office/drawing/2014/main" id="{5C2DDD60-EB1C-44D8-84E1-D86EB3558F11}"/>
              </a:ext>
            </a:extLst>
          </p:cNvPr>
          <p:cNvSpPr/>
          <p:nvPr/>
        </p:nvSpPr>
        <p:spPr>
          <a:xfrm>
            <a:off x="0" y="0"/>
            <a:ext cx="12192000" cy="6863626"/>
          </a:xfrm>
          <a:prstGeom prst="rect">
            <a:avLst/>
          </a:prstGeom>
          <a:solidFill>
            <a:schemeClr val="tx1">
              <a:alpha val="6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7" name="Groupe 6" descr="élément décoratif">
            <a:extLst>
              <a:ext uri="{FF2B5EF4-FFF2-40B4-BE49-F238E27FC236}">
                <a16:creationId xmlns:a16="http://schemas.microsoft.com/office/drawing/2014/main" id="{F5325EDA-7343-463C-83EC-5D799E8B8195}"/>
              </a:ext>
            </a:extLst>
          </p:cNvPr>
          <p:cNvGrpSpPr/>
          <p:nvPr/>
        </p:nvGrpSpPr>
        <p:grpSpPr>
          <a:xfrm>
            <a:off x="9621170" y="0"/>
            <a:ext cx="2570831" cy="6858001"/>
            <a:chOff x="9621170" y="0"/>
            <a:chExt cx="2570831" cy="6858001"/>
          </a:xfrm>
        </p:grpSpPr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25DFF88D-A516-4508-BC03-10D68E4034CF}"/>
                </a:ext>
              </a:extLst>
            </p:cNvPr>
            <p:cNvSpPr/>
            <p:nvPr/>
          </p:nvSpPr>
          <p:spPr>
            <a:xfrm>
              <a:off x="9621170" y="0"/>
              <a:ext cx="2570831" cy="6858000"/>
            </a:xfrm>
            <a:custGeom>
              <a:avLst/>
              <a:gdLst>
                <a:gd name="connsiteX0" fmla="*/ 1649197 w 2570831"/>
                <a:gd name="connsiteY0" fmla="*/ 0 h 6858000"/>
                <a:gd name="connsiteX1" fmla="*/ 2570831 w 2570831"/>
                <a:gd name="connsiteY1" fmla="*/ 0 h 6858000"/>
                <a:gd name="connsiteX2" fmla="*/ 2570831 w 2570831"/>
                <a:gd name="connsiteY2" fmla="*/ 6858000 h 6858000"/>
                <a:gd name="connsiteX3" fmla="*/ 0 w 2570831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0831" h="6858000">
                  <a:moveTo>
                    <a:pt x="1649197" y="0"/>
                  </a:moveTo>
                  <a:lnTo>
                    <a:pt x="2570831" y="0"/>
                  </a:lnTo>
                  <a:lnTo>
                    <a:pt x="2570831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2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F990A05A-2B0C-4EA2-8A33-D5A7D8C1BC4F}"/>
                </a:ext>
              </a:extLst>
            </p:cNvPr>
            <p:cNvSpPr/>
            <p:nvPr/>
          </p:nvSpPr>
          <p:spPr>
            <a:xfrm>
              <a:off x="9754598" y="0"/>
              <a:ext cx="2437402" cy="6858000"/>
            </a:xfrm>
            <a:custGeom>
              <a:avLst/>
              <a:gdLst>
                <a:gd name="connsiteX0" fmla="*/ 1649197 w 2437402"/>
                <a:gd name="connsiteY0" fmla="*/ 0 h 6858000"/>
                <a:gd name="connsiteX1" fmla="*/ 2437402 w 2437402"/>
                <a:gd name="connsiteY1" fmla="*/ 0 h 6858000"/>
                <a:gd name="connsiteX2" fmla="*/ 2437402 w 2437402"/>
                <a:gd name="connsiteY2" fmla="*/ 6858000 h 6858000"/>
                <a:gd name="connsiteX3" fmla="*/ 0 w 2437402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7402" h="6858000">
                  <a:moveTo>
                    <a:pt x="1649197" y="0"/>
                  </a:moveTo>
                  <a:lnTo>
                    <a:pt x="2437402" y="0"/>
                  </a:lnTo>
                  <a:lnTo>
                    <a:pt x="243740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3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79BF84DA-56CC-4319-9B18-B6303F93EF5A}"/>
                </a:ext>
              </a:extLst>
            </p:cNvPr>
            <p:cNvSpPr/>
            <p:nvPr/>
          </p:nvSpPr>
          <p:spPr>
            <a:xfrm>
              <a:off x="10011320" y="0"/>
              <a:ext cx="2180680" cy="6858000"/>
            </a:xfrm>
            <a:custGeom>
              <a:avLst/>
              <a:gdLst>
                <a:gd name="connsiteX0" fmla="*/ 1649197 w 2180680"/>
                <a:gd name="connsiteY0" fmla="*/ 0 h 6858000"/>
                <a:gd name="connsiteX1" fmla="*/ 2180680 w 2180680"/>
                <a:gd name="connsiteY1" fmla="*/ 0 h 6858000"/>
                <a:gd name="connsiteX2" fmla="*/ 2180680 w 2180680"/>
                <a:gd name="connsiteY2" fmla="*/ 6858000 h 6858000"/>
                <a:gd name="connsiteX3" fmla="*/ 0 w 2180680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0680" h="6858000">
                  <a:moveTo>
                    <a:pt x="1649197" y="0"/>
                  </a:moveTo>
                  <a:lnTo>
                    <a:pt x="2180680" y="0"/>
                  </a:lnTo>
                  <a:lnTo>
                    <a:pt x="218068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3FE4855B-D7C3-4EA7-8050-5BDDB9E3A78A}"/>
                </a:ext>
              </a:extLst>
            </p:cNvPr>
            <p:cNvSpPr/>
            <p:nvPr/>
          </p:nvSpPr>
          <p:spPr>
            <a:xfrm>
              <a:off x="10544156" y="5626"/>
              <a:ext cx="1647844" cy="6852374"/>
            </a:xfrm>
            <a:custGeom>
              <a:avLst/>
              <a:gdLst>
                <a:gd name="connsiteX0" fmla="*/ 1647844 w 1647844"/>
                <a:gd name="connsiteY0" fmla="*/ 0 h 6852374"/>
                <a:gd name="connsiteX1" fmla="*/ 1647844 w 1647844"/>
                <a:gd name="connsiteY1" fmla="*/ 6852374 h 6852374"/>
                <a:gd name="connsiteX2" fmla="*/ 0 w 1647844"/>
                <a:gd name="connsiteY2" fmla="*/ 6852374 h 685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47844" h="6852374">
                  <a:moveTo>
                    <a:pt x="1647844" y="0"/>
                  </a:moveTo>
                  <a:lnTo>
                    <a:pt x="1647844" y="6852374"/>
                  </a:lnTo>
                  <a:lnTo>
                    <a:pt x="0" y="6852374"/>
                  </a:lnTo>
                  <a:close/>
                </a:path>
              </a:pathLst>
            </a:cu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EC066EC5-6C2C-4006-B87D-E6C5CFDEF302}"/>
                </a:ext>
              </a:extLst>
            </p:cNvPr>
            <p:cNvSpPr/>
            <p:nvPr/>
          </p:nvSpPr>
          <p:spPr>
            <a:xfrm>
              <a:off x="10803086" y="1082358"/>
              <a:ext cx="1388914" cy="5775643"/>
            </a:xfrm>
            <a:custGeom>
              <a:avLst/>
              <a:gdLst>
                <a:gd name="connsiteX0" fmla="*/ 1388914 w 1388914"/>
                <a:gd name="connsiteY0" fmla="*/ 0 h 5775643"/>
                <a:gd name="connsiteX1" fmla="*/ 1388914 w 1388914"/>
                <a:gd name="connsiteY1" fmla="*/ 5775643 h 5775643"/>
                <a:gd name="connsiteX2" fmla="*/ 0 w 1388914"/>
                <a:gd name="connsiteY2" fmla="*/ 5775643 h 577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88914" h="5775643">
                  <a:moveTo>
                    <a:pt x="1388914" y="0"/>
                  </a:moveTo>
                  <a:lnTo>
                    <a:pt x="1388914" y="5775643"/>
                  </a:lnTo>
                  <a:lnTo>
                    <a:pt x="0" y="57756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grpSp>
        <p:nvGrpSpPr>
          <p:cNvPr id="5" name="Groupe 4" descr="élément décoratif">
            <a:extLst>
              <a:ext uri="{FF2B5EF4-FFF2-40B4-BE49-F238E27FC236}">
                <a16:creationId xmlns:a16="http://schemas.microsoft.com/office/drawing/2014/main" id="{1A141F7B-AE96-45F9-BC57-F7C86174910A}"/>
              </a:ext>
            </a:extLst>
          </p:cNvPr>
          <p:cNvGrpSpPr/>
          <p:nvPr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14" name="Rectangle 13">
              <a:extLst>
                <a:ext uri="{FF2B5EF4-FFF2-40B4-BE49-F238E27FC236}">
                  <a16:creationId xmlns:a16="http://schemas.microsoft.com/office/drawing/2014/main" id="{C862BC4D-BD7A-417E-A34A-59CE4D4A6AC8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" name="Ovale 14">
              <a:extLst>
                <a:ext uri="{FF2B5EF4-FFF2-40B4-BE49-F238E27FC236}">
                  <a16:creationId xmlns:a16="http://schemas.microsoft.com/office/drawing/2014/main" id="{652937FB-CDE3-46B3-8481-AB5DB8C4BABA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9" name="Espace réservé du numéro de diapositive 5">
            <a:extLst>
              <a:ext uri="{FF2B5EF4-FFF2-40B4-BE49-F238E27FC236}">
                <a16:creationId xmlns:a16="http://schemas.microsoft.com/office/drawing/2014/main" id="{DB02A950-05E3-4691-9BC9-47B314EEA715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10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/>
              <a:t>CONCLUSIONS &amp; PERSPECTIVES</a:t>
            </a:r>
          </a:p>
        </p:txBody>
      </p:sp>
      <p:pic>
        <p:nvPicPr>
          <p:cNvPr id="83" name="Espace réservé du contenu 82" descr="Cloche">
            <a:extLst>
              <a:ext uri="{FF2B5EF4-FFF2-40B4-BE49-F238E27FC236}">
                <a16:creationId xmlns:a16="http://schemas.microsoft.com/office/drawing/2014/main" id="{604095CF-E62F-46A4-A86C-5F465AE6E23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45772" y="1981200"/>
            <a:ext cx="548640" cy="548640"/>
          </a:xfrm>
        </p:spPr>
      </p:pic>
      <p:pic>
        <p:nvPicPr>
          <p:cNvPr id="95" name="Espace réservé du contenu 94" descr="Microscope">
            <a:extLst>
              <a:ext uri="{FF2B5EF4-FFF2-40B4-BE49-F238E27FC236}">
                <a16:creationId xmlns:a16="http://schemas.microsoft.com/office/drawing/2014/main" id="{96991F60-484C-4906-ADB8-676435D3D6E3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47273" y="1982152"/>
            <a:ext cx="547688" cy="547688"/>
          </a:xfrm>
        </p:spPr>
      </p:pic>
      <p:pic>
        <p:nvPicPr>
          <p:cNvPr id="97" name="Espace réservé du contenu 96" descr="Crayon">
            <a:extLst>
              <a:ext uri="{FF2B5EF4-FFF2-40B4-BE49-F238E27FC236}">
                <a16:creationId xmlns:a16="http://schemas.microsoft.com/office/drawing/2014/main" id="{40D9C27B-A51D-4036-B3F9-56081BD60AB9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/>
      </p:pic>
      <p:sp>
        <p:nvSpPr>
          <p:cNvPr id="88" name="Espace réservé du texte 87">
            <a:extLst>
              <a:ext uri="{FF2B5EF4-FFF2-40B4-BE49-F238E27FC236}">
                <a16:creationId xmlns:a16="http://schemas.microsoft.com/office/drawing/2014/main" id="{D01EBAE5-B81D-4150-B62C-F56241C555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32340" y="2717962"/>
            <a:ext cx="2377440" cy="3368675"/>
          </a:xfrm>
        </p:spPr>
        <p:txBody>
          <a:bodyPr rtlCol="0"/>
          <a:lstStyle/>
          <a:p>
            <a:pPr algn="ctr" rtl="0"/>
            <a:r>
              <a:rPr lang="fr-FR" sz="2200" dirty="0"/>
              <a:t>Expérience en cours d’établissement…</a:t>
            </a:r>
          </a:p>
        </p:txBody>
      </p:sp>
      <p:sp>
        <p:nvSpPr>
          <p:cNvPr id="87" name="Espace réservé du texte 86">
            <a:extLst>
              <a:ext uri="{FF2B5EF4-FFF2-40B4-BE49-F238E27FC236}">
                <a16:creationId xmlns:a16="http://schemas.microsoft.com/office/drawing/2014/main" id="{1F4C9CA2-B224-40CD-8DB2-CAE478D236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831372" y="2717804"/>
            <a:ext cx="2377440" cy="1036050"/>
          </a:xfrm>
        </p:spPr>
        <p:txBody>
          <a:bodyPr rtlCol="0"/>
          <a:lstStyle/>
          <a:p>
            <a:pPr algn="ctr" rtl="0"/>
            <a:r>
              <a:rPr lang="fr-FR" sz="2200" dirty="0"/>
              <a:t>Loi de commande rythmique pour la robotique</a:t>
            </a:r>
          </a:p>
        </p:txBody>
      </p:sp>
      <p:sp>
        <p:nvSpPr>
          <p:cNvPr id="90" name="Espace réservé du texte 89">
            <a:extLst>
              <a:ext uri="{FF2B5EF4-FFF2-40B4-BE49-F238E27FC236}">
                <a16:creationId xmlns:a16="http://schemas.microsoft.com/office/drawing/2014/main" id="{AC38A326-FA47-4BD6-B27D-DEB6A4485A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129985" y="2717803"/>
            <a:ext cx="2491184" cy="3368675"/>
          </a:xfrm>
        </p:spPr>
        <p:txBody>
          <a:bodyPr rtlCol="0"/>
          <a:lstStyle/>
          <a:p>
            <a:pPr algn="ctr" rtl="0"/>
            <a:r>
              <a:rPr lang="fr-FR" sz="2200" dirty="0"/>
              <a:t>Caractéristiques similaires au mouvement humain ?</a:t>
            </a:r>
          </a:p>
          <a:p>
            <a:pPr algn="ctr" rtl="0"/>
            <a:endParaRPr lang="fr-FR" sz="2200" dirty="0"/>
          </a:p>
          <a:p>
            <a:pPr algn="ctr" rtl="0"/>
            <a:r>
              <a:rPr lang="fr-FR" sz="2200" dirty="0"/>
              <a:t>Amélioration de la robustesse de la tâche ?</a:t>
            </a:r>
          </a:p>
          <a:p>
            <a:pPr rtl="0"/>
            <a:endParaRPr lang="fr-FR" sz="2200" dirty="0"/>
          </a:p>
        </p:txBody>
      </p:sp>
    </p:spTree>
    <p:extLst>
      <p:ext uri="{BB962C8B-B14F-4D97-AF65-F5344CB8AC3E}">
        <p14:creationId xmlns:p14="http://schemas.microsoft.com/office/powerpoint/2010/main" val="319101468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MSFT_04_Educatio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2606E"/>
      </a:accent1>
      <a:accent2>
        <a:srgbClr val="0F3955"/>
      </a:accent2>
      <a:accent3>
        <a:srgbClr val="FFC000"/>
      </a:accent3>
      <a:accent4>
        <a:srgbClr val="BF678E"/>
      </a:accent4>
      <a:accent5>
        <a:srgbClr val="731F1C"/>
      </a:accent5>
      <a:accent6>
        <a:srgbClr val="7A9E56"/>
      </a:accent6>
      <a:hlink>
        <a:srgbClr val="00B0F0"/>
      </a:hlink>
      <a:folHlink>
        <a:srgbClr val="595959"/>
      </a:folHlink>
    </a:clrScheme>
    <a:fontScheme name="MSFT_04_Education">
      <a:majorFont>
        <a:latin typeface="Corbel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478222_TF00475556" id="{1773F893-1B64-4C50-B449-C7130E3DEDFD}" vid="{AA1B2606-3863-43D4-81FC-E4C93E7D8FDE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EA25CC0A0AC24199CDC46C25B8B0BC" ma:contentTypeVersion="10" ma:contentTypeDescription="Create a new document." ma:contentTypeScope="" ma:versionID="e3b47856d4cf355c0dacb39e1084d14f">
  <xsd:schema xmlns:xsd="http://www.w3.org/2001/XMLSchema" xmlns:xs="http://www.w3.org/2001/XMLSchema" xmlns:p="http://schemas.microsoft.com/office/2006/metadata/properties" xmlns:ns1="http://schemas.microsoft.com/sharepoint/v3" xmlns:ns2="6dc4bcd6-49db-4c07-9060-8acfc67cef9f" xmlns:ns3="fb0879af-3eba-417a-a55a-ffe6dcd6ca77" targetNamespace="http://schemas.microsoft.com/office/2006/metadata/properties" ma:root="true" ma:fieldsID="a845a615265fdb1f7b12cc65ac20ecbd" ns1:_="" ns2:_="" ns3:_="">
    <xsd:import namespace="http://schemas.microsoft.com/sharepoint/v3"/>
    <xsd:import namespace="6dc4bcd6-49db-4c07-9060-8acfc67cef9f"/>
    <xsd:import namespace="fb0879af-3eba-417a-a55a-ffe6dcd6ca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1:_ip_UnifiedCompliancePolicyProperties" minOccurs="0"/>
                <xsd:element ref="ns1:_ip_UnifiedCompliancePolicyUIAction" minOccurs="0"/>
                <xsd:element ref="ns2:MediaServiceAuto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c4bcd6-49db-4c07-9060-8acfc67cef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879af-3eba-417a-a55a-ffe6dcd6ca7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3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4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A4148EB-7DAD-48FA-A275-D42F48043C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dc4bcd6-49db-4c07-9060-8acfc67cef9f"/>
    <ds:schemaRef ds:uri="fb0879af-3eba-417a-a55a-ffe6dcd6ca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549A191-EC8C-4AA6-9C64-D32B5F047436}">
  <ds:schemaRefs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6dc4bcd6-49db-4c07-9060-8acfc67cef9f"/>
    <ds:schemaRef ds:uri="http://purl.org/dc/terms/"/>
    <ds:schemaRef ds:uri="http://schemas.microsoft.com/office/infopath/2007/PartnerControls"/>
    <ds:schemaRef ds:uri="http://purl.org/dc/dcmitype/"/>
    <ds:schemaRef ds:uri="fb0879af-3eba-417a-a55a-ffe6dcd6ca77"/>
    <ds:schemaRef ds:uri="http://schemas.microsoft.com/sharepoint/v3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8941CEA3-A3B3-4568-9E84-C4619CC82D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Présentation pédagogique</Template>
  <TotalTime>0</TotalTime>
  <Words>587</Words>
  <Application>Microsoft Macintosh PowerPoint</Application>
  <PresentationFormat>Grand écran</PresentationFormat>
  <Paragraphs>158</Paragraphs>
  <Slides>10</Slides>
  <Notes>10</Notes>
  <HiddenSlides>0</HiddenSlides>
  <MMClips>2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8" baseType="lpstr">
      <vt:lpstr>Apple Chancery</vt:lpstr>
      <vt:lpstr>Arial</vt:lpstr>
      <vt:lpstr>Calibri</vt:lpstr>
      <vt:lpstr>Calibri Light</vt:lpstr>
      <vt:lpstr>Cambria Math</vt:lpstr>
      <vt:lpstr>Century Gothic</vt:lpstr>
      <vt:lpstr>Corbel</vt:lpstr>
      <vt:lpstr>Thème Office</vt:lpstr>
      <vt:lpstr>COMMANDE BIO-INSPIREE DE ROBOT POUR DES TACHES RYTHMIQUES EN INTERACTION AVEC L’ENVIRONNEMENT</vt:lpstr>
      <vt:lpstr>Mouvements rythmiques bio-inspirés </vt:lpstr>
      <vt:lpstr>Interactions physiques avec l’environnement</vt:lpstr>
      <vt:lpstr>Définitions de l’impédance</vt:lpstr>
      <vt:lpstr>Méthodes d’estimation de l’impédance</vt:lpstr>
      <vt:lpstr>Variation des paramètres d’impédance</vt:lpstr>
      <vt:lpstr>Méthodologie expérimentale</vt:lpstr>
      <vt:lpstr>Méthodologie expérimentale</vt:lpstr>
      <vt:lpstr>Commande de robot pour une interaction collaborative</vt:lpstr>
      <vt:lpstr>CONCLUSIONS &amp; PERSPECTIVES</vt:lpstr>
    </vt:vector>
  </TitlesOfParts>
  <Manager/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2019-10-21T11:42:01Z</dcterms:created>
  <dcterms:modified xsi:type="dcterms:W3CDTF">2019-11-19T10:27:18Z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0x010100DEEA25CC0A0AC24199CDC46C25B8B0BC</vt:lpwstr>
  </property>
</Properties>
</file>