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81" r:id="rId5"/>
    <p:sldId id="277" r:id="rId6"/>
    <p:sldId id="267" r:id="rId7"/>
    <p:sldId id="257" r:id="rId8"/>
    <p:sldId id="306" r:id="rId9"/>
    <p:sldId id="296" r:id="rId10"/>
    <p:sldId id="297" r:id="rId11"/>
    <p:sldId id="298" r:id="rId12"/>
    <p:sldId id="304" r:id="rId13"/>
    <p:sldId id="305" r:id="rId14"/>
    <p:sldId id="300" r:id="rId15"/>
    <p:sldId id="301" r:id="rId16"/>
    <p:sldId id="307" r:id="rId17"/>
    <p:sldId id="308" r:id="rId18"/>
    <p:sldId id="264" r:id="rId19"/>
    <p:sldId id="284" r:id="rId20"/>
    <p:sldId id="285" r:id="rId21"/>
    <p:sldId id="286" r:id="rId22"/>
    <p:sldId id="291" r:id="rId23"/>
    <p:sldId id="295" r:id="rId24"/>
  </p:sldIdLst>
  <p:sldSz cx="12192000" cy="6858000"/>
  <p:notesSz cx="6858000" cy="9144000"/>
  <p:defaultTextStyle>
    <a:defPPr rtl="0"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64" userDrawn="1">
          <p15:clr>
            <a:srgbClr val="A4A3A4"/>
          </p15:clr>
        </p15:guide>
        <p15:guide id="3" pos="408" userDrawn="1">
          <p15:clr>
            <a:srgbClr val="A4A3A4"/>
          </p15:clr>
        </p15:guide>
        <p15:guide id="4" orient="horz" pos="432" userDrawn="1">
          <p15:clr>
            <a:srgbClr val="A4A3A4"/>
          </p15:clr>
        </p15:guide>
        <p15:guide id="5" pos="727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2B41"/>
    <a:srgbClr val="AB6E32"/>
    <a:srgbClr val="E7992F"/>
    <a:srgbClr val="E9A030"/>
    <a:srgbClr val="F5794C"/>
    <a:srgbClr val="EEA81C"/>
    <a:srgbClr val="E28C89"/>
    <a:srgbClr val="FFD966"/>
    <a:srgbClr val="0F3955"/>
    <a:srgbClr val="0D30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E8B1032C-EA38-4F05-BA0D-38AFFFC7BED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41" autoAdjust="0"/>
    <p:restoredTop sz="94703" autoAdjust="0"/>
  </p:normalViewPr>
  <p:slideViewPr>
    <p:cSldViewPr snapToGrid="0">
      <p:cViewPr>
        <p:scale>
          <a:sx n="100" d="100"/>
          <a:sy n="100" d="100"/>
        </p:scale>
        <p:origin x="392" y="352"/>
      </p:cViewPr>
      <p:guideLst>
        <p:guide orient="horz" pos="2160"/>
        <p:guide pos="3864"/>
        <p:guide pos="408"/>
        <p:guide orient="horz" pos="432"/>
        <p:guide pos="7272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3036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BAC49572-5098-4FC4-AF0C-4155D5E78B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88AA88ED-9106-452F-A16C-BA63DCB68EB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9142A3-90E2-478A-BA2C-6CC385EA1380}" type="datetimeFigureOut">
              <a:rPr lang="fr-FR" smtClean="0"/>
              <a:t>04/11/2019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CCA1C77C-B810-49D7-A7A2-0F7E9D8635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4752286-8EA3-4402-A03D-C0595845B2F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902C78-D536-4665-BE56-C8F556A0504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257856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4F2451-6A58-4377-953A-113910610DCC}" type="datetimeFigureOut">
              <a:rPr lang="fr-FR" noProof="0" smtClean="0"/>
              <a:t>04/11/2019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E5BA3-7562-41F3-85A3-5244B451D190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15233817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961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5218855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118603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0533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0123971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78200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9472412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3715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4354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002234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51736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477467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781555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5624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3099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05910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945700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779189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538324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51E5BA3-7562-41F3-85A3-5244B451D190}" type="slidenum">
              <a:rPr lang="fr-FR" noProof="0" smtClean="0"/>
              <a:t>20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08602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6676569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667656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1242049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5512953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1A440F4A-C2AF-406D-B420-CCF52F447AC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1" y="0"/>
            <a:ext cx="5504688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1270854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47CEAAF6-CCA9-40F8-8A3D-FAAD92220D1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6020" y="2404234"/>
            <a:ext cx="5330038" cy="1746504"/>
          </a:xfrm>
        </p:spPr>
        <p:txBody>
          <a:bodyPr vert="horz" lIns="0" tIns="45720" rIns="0" bIns="45720" rtlCol="0" anchor="b" anchorCtr="1">
            <a:noAutofit/>
          </a:bodyPr>
          <a:lstStyle>
            <a:lvl1pPr>
              <a:defRPr lang="en-GB" dirty="0">
                <a:solidFill>
                  <a:schemeClr val="bg1"/>
                </a:solidFill>
              </a:defRPr>
            </a:lvl1pPr>
          </a:lstStyle>
          <a:p>
            <a:pPr marL="0" lvl="0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53180" y="4553291"/>
            <a:ext cx="5049510" cy="521208"/>
          </a:xfrm>
        </p:spPr>
        <p:txBody>
          <a:bodyPr vert="horz" lIns="0" tIns="0" rIns="0" bIns="0" rtlCol="0" anchor="t" anchorCtr="1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lang="en-GB" sz="2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</p:spTree>
    <p:extLst>
      <p:ext uri="{BB962C8B-B14F-4D97-AF65-F5344CB8AC3E}">
        <p14:creationId xmlns:p14="http://schemas.microsoft.com/office/powerpoint/2010/main" val="34771756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 avec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’image 11">
            <a:extLst>
              <a:ext uri="{FF2B5EF4-FFF2-40B4-BE49-F238E27FC236}">
                <a16:creationId xmlns:a16="http://schemas.microsoft.com/office/drawing/2014/main" id="{AAF32A0B-D38A-4E4A-BD5E-94B67129650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-2" y="0"/>
            <a:ext cx="12192001" cy="6858000"/>
          </a:xfrm>
        </p:spPr>
        <p:txBody>
          <a:bodyPr rtlCol="0" anchor="ctr" anchorCtr="1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</a:lstStyle>
          <a:p>
            <a:pPr rtl="0"/>
            <a:r>
              <a:rPr lang="fr-FR" noProof="0"/>
              <a:t>Insérer une image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DCD3B46-48AB-439D-A981-D3596F9775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0288" y="2313432"/>
            <a:ext cx="6592824" cy="2852737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000" dirty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28D712-0D13-4ECD-9BEB-B8EE651FF63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4590288" y="5193792"/>
            <a:ext cx="6592824" cy="978408"/>
          </a:xfrm>
        </p:spPr>
        <p:txBody>
          <a:bodyPr vert="horz" lIns="91440" tIns="45720" rIns="91440" bIns="45720" rtlCol="0">
            <a:noAutofit/>
          </a:bodyPr>
          <a:lstStyle>
            <a:lvl1pPr marL="0" indent="0">
              <a:buNone/>
              <a:defRPr lang="en-US" sz="1600">
                <a:solidFill>
                  <a:schemeClr val="bg1"/>
                </a:solidFill>
              </a:defRPr>
            </a:lvl1pPr>
          </a:lstStyle>
          <a:p>
            <a:pPr marL="228600" lvl="0" indent="-228600" rtl="0"/>
            <a:r>
              <a:rPr lang="fr-FR" noProof="0"/>
              <a:t>Modifiez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3411308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 Content_2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36125" y="0"/>
            <a:ext cx="5355875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86558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8346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68915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906451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45309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/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8" name="Espace réservé du numéro de diapositive 7">
            <a:extLst>
              <a:ext uri="{FF2B5EF4-FFF2-40B4-BE49-F238E27FC236}">
                <a16:creationId xmlns:a16="http://schemas.microsoft.com/office/drawing/2014/main" id="{8728750D-82C7-4A8D-A7C7-5549346679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72049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nne Content_3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4" name="Espace réservé du texte 12">
            <a:extLst>
              <a:ext uri="{FF2B5EF4-FFF2-40B4-BE49-F238E27FC236}">
                <a16:creationId xmlns:a16="http://schemas.microsoft.com/office/drawing/2014/main" id="{C7F0E85E-786D-44FC-A9C8-8853277D7C3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888842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7700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 dirty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00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7" name="Espace réservé du contenu 15">
            <a:extLst>
              <a:ext uri="{FF2B5EF4-FFF2-40B4-BE49-F238E27FC236}">
                <a16:creationId xmlns:a16="http://schemas.microsoft.com/office/drawing/2014/main" id="{6DF8CB66-232E-4CE3-96FC-CE37C74994E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3242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texte 12">
            <a:extLst>
              <a:ext uri="{FF2B5EF4-FFF2-40B4-BE49-F238E27FC236}">
                <a16:creationId xmlns:a16="http://schemas.microsoft.com/office/drawing/2014/main" id="{DEF523FD-B1FC-40A7-93AA-389CB38E17C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29985" y="2717803"/>
            <a:ext cx="2377440" cy="3368675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15">
            <a:extLst>
              <a:ext uri="{FF2B5EF4-FFF2-40B4-BE49-F238E27FC236}">
                <a16:creationId xmlns:a16="http://schemas.microsoft.com/office/drawing/2014/main" id="{B60C8CC8-C869-4395-B389-D76DF4A56AA1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044385" y="1981200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numéro de diapositive 7">
            <a:extLst>
              <a:ext uri="{FF2B5EF4-FFF2-40B4-BE49-F238E27FC236}">
                <a16:creationId xmlns:a16="http://schemas.microsoft.com/office/drawing/2014/main" id="{E10AF5F6-7B7D-4CE6-A1D0-2F46804D3C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0548049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 Content_2 column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9750" y="1847927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2304413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1" name="Espace réservé du texte 12">
            <a:extLst>
              <a:ext uri="{FF2B5EF4-FFF2-40B4-BE49-F238E27FC236}">
                <a16:creationId xmlns:a16="http://schemas.microsoft.com/office/drawing/2014/main" id="{C3BB8EAB-4266-4938-A8CB-6D18C938017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09750" y="4048520"/>
            <a:ext cx="7315200" cy="146161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contenu 15">
            <a:extLst>
              <a:ext uri="{FF2B5EF4-FFF2-40B4-BE49-F238E27FC236}">
                <a16:creationId xmlns:a16="http://schemas.microsoft.com/office/drawing/2014/main" id="{716D363C-A0A5-4FB1-8CC2-850C0CD9F4E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7700" y="4505006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15" name="Espace réservé du numéro de diapositive 7">
            <a:extLst>
              <a:ext uri="{FF2B5EF4-FFF2-40B4-BE49-F238E27FC236}">
                <a16:creationId xmlns:a16="http://schemas.microsoft.com/office/drawing/2014/main" id="{AAF4A39B-C3C3-4691-BB94-371047ADD5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47190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 Content_1 colon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2438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bg1">
                    <a:lumMod val="95000"/>
                  </a:schemeClr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2062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bg1">
                    <a:lumMod val="95000"/>
                  </a:schemeClr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  <a:endParaRPr lang="fr-FR" noProof="0" dirty="0"/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100F546D-5491-4A19-9725-5C920C5738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215973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62100" y="1733627"/>
            <a:ext cx="8534400" cy="4248073"/>
          </a:xfrm>
        </p:spPr>
        <p:txBody>
          <a:bodyPr vert="horz" wrap="square" lIns="0" tIns="45720" rIns="0" bIns="45720" rtlCol="0" anchor="t">
            <a:noAutofit/>
          </a:bodyPr>
          <a:lstStyle>
            <a:lvl1pPr>
              <a:defRPr lang="en-US" sz="14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rtl="0">
              <a:lnSpc>
                <a:spcPct val="100000"/>
              </a:lnSpc>
              <a:spcBef>
                <a:spcPct val="0"/>
              </a:spcBef>
              <a:buNone/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16" name="Espace réservé du contenu 15">
            <a:extLst>
              <a:ext uri="{FF2B5EF4-FFF2-40B4-BE49-F238E27FC236}">
                <a16:creationId xmlns:a16="http://schemas.microsoft.com/office/drawing/2014/main" id="{C1ABB07C-6957-412E-9A87-72242AA3EE8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47700" y="1733627"/>
            <a:ext cx="548640" cy="548640"/>
          </a:xfrm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40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grpSp>
        <p:nvGrpSpPr>
          <p:cNvPr id="11" name="Groupe 10">
            <a:extLst>
              <a:ext uri="{FF2B5EF4-FFF2-40B4-BE49-F238E27FC236}">
                <a16:creationId xmlns:a16="http://schemas.microsoft.com/office/drawing/2014/main" id="{00AC1958-0DCB-4970-ADE3-E64DAAFC501D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2" name="Rectangle 11">
              <a:extLst>
                <a:ext uri="{FF2B5EF4-FFF2-40B4-BE49-F238E27FC236}">
                  <a16:creationId xmlns:a16="http://schemas.microsoft.com/office/drawing/2014/main" id="{9E71A8D8-5A28-4968-9E80-110E9CB88F92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4" name="Ovale 13">
              <a:extLst>
                <a:ext uri="{FF2B5EF4-FFF2-40B4-BE49-F238E27FC236}">
                  <a16:creationId xmlns:a16="http://schemas.microsoft.com/office/drawing/2014/main" id="{7239C02C-1FAD-4E73-AB32-5A30A946A44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5" name="Espace réservé du numéro de diapositive 5">
            <a:extLst>
              <a:ext uri="{FF2B5EF4-FFF2-40B4-BE49-F238E27FC236}">
                <a16:creationId xmlns:a16="http://schemas.microsoft.com/office/drawing/2014/main" id="{FF40D550-A563-4E50-AEE9-6D9D19499F9F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0657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08095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e Images_Importa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Espace réservé d’image 16">
            <a:extLst>
              <a:ext uri="{FF2B5EF4-FFF2-40B4-BE49-F238E27FC236}">
                <a16:creationId xmlns:a16="http://schemas.microsoft.com/office/drawing/2014/main" id="{D935D313-376E-4CA0-9732-D0CACCC07FA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464300" y="0"/>
            <a:ext cx="5727700" cy="6858000"/>
          </a:xfrm>
          <a:custGeom>
            <a:avLst/>
            <a:gdLst>
              <a:gd name="connsiteX0" fmla="*/ 1708150 w 5727700"/>
              <a:gd name="connsiteY0" fmla="*/ 0 h 6858000"/>
              <a:gd name="connsiteX1" fmla="*/ 5727700 w 5727700"/>
              <a:gd name="connsiteY1" fmla="*/ 0 h 6858000"/>
              <a:gd name="connsiteX2" fmla="*/ 5727700 w 5727700"/>
              <a:gd name="connsiteY2" fmla="*/ 6858000 h 6858000"/>
              <a:gd name="connsiteX3" fmla="*/ 0 w 5727700"/>
              <a:gd name="connsiteY3" fmla="*/ 6858000 h 6858000"/>
              <a:gd name="connsiteX4" fmla="*/ 0 w 5727700"/>
              <a:gd name="connsiteY4" fmla="*/ 68326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5727700" h="6858000">
                <a:moveTo>
                  <a:pt x="1708150" y="0"/>
                </a:moveTo>
                <a:lnTo>
                  <a:pt x="5727700" y="0"/>
                </a:lnTo>
                <a:lnTo>
                  <a:pt x="5727700" y="6858000"/>
                </a:lnTo>
                <a:lnTo>
                  <a:pt x="0" y="6858000"/>
                </a:lnTo>
                <a:lnTo>
                  <a:pt x="0" y="6832600"/>
                </a:lnTo>
                <a:close/>
              </a:path>
            </a:pathLst>
          </a:custGeom>
        </p:spPr>
        <p:txBody>
          <a:bodyPr vert="horz" wrap="square" lIns="91440" tIns="45720" rIns="91440" bIns="45720" rtlCol="0" anchor="ctr" anchorCtr="1">
            <a:noAutofit/>
          </a:bodyPr>
          <a:lstStyle>
            <a:lvl1pPr marL="0" indent="0">
              <a:buNone/>
              <a:defRPr lang="en-GB" sz="1800"/>
            </a:lvl1pPr>
          </a:lstStyle>
          <a:p>
            <a:pPr marL="228600" lvl="0" indent="-228600" algn="ctr" rtl="0"/>
            <a:r>
              <a:rPr lang="fr-FR" noProof="0"/>
              <a:t>Insérer une image</a:t>
            </a:r>
          </a:p>
        </p:txBody>
      </p:sp>
      <p:sp>
        <p:nvSpPr>
          <p:cNvPr id="12" name="Espace réservé d’image 11">
            <a:extLst>
              <a:ext uri="{FF2B5EF4-FFF2-40B4-BE49-F238E27FC236}">
                <a16:creationId xmlns:a16="http://schemas.microsoft.com/office/drawing/2014/main" id="{83A2DEF1-03FF-475D-994A-6FC6FB1414FB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0" y="0"/>
            <a:ext cx="8087304" cy="6858000"/>
          </a:xfrm>
          <a:custGeom>
            <a:avLst/>
            <a:gdLst>
              <a:gd name="connsiteX0" fmla="*/ 0 w 8087304"/>
              <a:gd name="connsiteY0" fmla="*/ 0 h 6858000"/>
              <a:gd name="connsiteX1" fmla="*/ 8087304 w 8087304"/>
              <a:gd name="connsiteY1" fmla="*/ 0 h 6858000"/>
              <a:gd name="connsiteX2" fmla="*/ 8087304 w 8087304"/>
              <a:gd name="connsiteY2" fmla="*/ 7620 h 6858000"/>
              <a:gd name="connsiteX3" fmla="*/ 6368365 w 8087304"/>
              <a:gd name="connsiteY3" fmla="*/ 6858000 h 6858000"/>
              <a:gd name="connsiteX4" fmla="*/ 0 w 8087304"/>
              <a:gd name="connsiteY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087304" h="6858000">
                <a:moveTo>
                  <a:pt x="0" y="0"/>
                </a:moveTo>
                <a:lnTo>
                  <a:pt x="8087304" y="0"/>
                </a:lnTo>
                <a:lnTo>
                  <a:pt x="8087304" y="7620"/>
                </a:lnTo>
                <a:lnTo>
                  <a:pt x="6368365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 rtlCol="0" anchor="ctr" anchorCtr="1">
            <a:noAutofit/>
          </a:bodyPr>
          <a:lstStyle>
            <a:lvl1pPr marL="0" marR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/>
            </a:lvl1pPr>
          </a:lstStyle>
          <a:p>
            <a:pPr marL="285750" marR="0" lvl="0" indent="-28575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tabLst/>
              <a:defRPr/>
            </a:pPr>
            <a:r>
              <a:rPr lang="fr-FR" noProof="0"/>
              <a:t>Insérer une image</a:t>
            </a:r>
          </a:p>
        </p:txBody>
      </p:sp>
      <p:sp>
        <p:nvSpPr>
          <p:cNvPr id="13" name="Espace réservé du texte 12">
            <a:extLst>
              <a:ext uri="{FF2B5EF4-FFF2-40B4-BE49-F238E27FC236}">
                <a16:creationId xmlns:a16="http://schemas.microsoft.com/office/drawing/2014/main" id="{B48BA177-B717-42B2-884C-04576C20342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5586" y="5047107"/>
            <a:ext cx="5005614" cy="1005840"/>
          </a:xfrm>
        </p:spPr>
        <p:txBody>
          <a:bodyPr vert="horz" wrap="square" lIns="0" tIns="45720" rIns="0" bIns="45720" rtlCol="0" anchor="t">
            <a:noAutofit/>
          </a:bodyPr>
          <a:lstStyle>
            <a:lvl1pPr marL="0" indent="0">
              <a:buNone/>
              <a:defRPr lang="en-US" sz="1600" dirty="0" smtClean="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57150" lvl="0" indent="-285750" rtl="0">
              <a:lnSpc>
                <a:spcPct val="100000"/>
              </a:lnSpc>
              <a:spcBef>
                <a:spcPct val="0"/>
              </a:spcBef>
            </a:pPr>
            <a:r>
              <a:rPr lang="fr-FR" noProof="0"/>
              <a:t>Modifiez les styles du texte du masque</a:t>
            </a: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85586" y="4081468"/>
            <a:ext cx="5005614" cy="822960"/>
          </a:xfrm>
        </p:spPr>
        <p:txBody>
          <a:bodyPr vert="horz" wrap="square" lIns="0" tIns="45720" rIns="91440" bIns="45720" rtlCol="0" anchor="t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GB" sz="2400" dirty="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marL="0"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sp>
        <p:nvSpPr>
          <p:cNvPr id="20" name="Espace réservé du numéro de diapositive 7">
            <a:extLst>
              <a:ext uri="{FF2B5EF4-FFF2-40B4-BE49-F238E27FC236}">
                <a16:creationId xmlns:a16="http://schemas.microsoft.com/office/drawing/2014/main" id="{1CEA3362-50AD-4D98-92C4-DA1D8C857A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7914178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2">
            <a:extLst>
              <a:ext uri="{FF2B5EF4-FFF2-40B4-BE49-F238E27FC236}">
                <a16:creationId xmlns:a16="http://schemas.microsoft.com/office/drawing/2014/main" id="{5F3686C7-DF83-47D9-A485-35F4F1D36A69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90B36CF-9391-49E9-B599-8B724B6EF267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6" name="Ovale 5">
              <a:extLst>
                <a:ext uri="{FF2B5EF4-FFF2-40B4-BE49-F238E27FC236}">
                  <a16:creationId xmlns:a16="http://schemas.microsoft.com/office/drawing/2014/main" id="{468CE156-5D60-42B0-A4F9-33FA85537807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5" name="Espace réservé du numéro de diapositive 7">
            <a:extLst>
              <a:ext uri="{FF2B5EF4-FFF2-40B4-BE49-F238E27FC236}">
                <a16:creationId xmlns:a16="http://schemas.microsoft.com/office/drawing/2014/main" id="{9E4521A1-4C9D-4795-B551-D151E8856A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bg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03706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éci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space réservé d’image 8">
            <a:extLst>
              <a:ext uri="{FF2B5EF4-FFF2-40B4-BE49-F238E27FC236}">
                <a16:creationId xmlns:a16="http://schemas.microsoft.com/office/drawing/2014/main" id="{A46D6285-06A8-4297-915D-0A280359C28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12192000" cy="6858000"/>
          </a:xfrm>
        </p:spPr>
        <p:txBody>
          <a:bodyPr vert="horz" lIns="91440" tIns="45720" rIns="91440" bIns="45720" rtlCol="0" anchor="ctr" anchorCtr="1">
            <a:normAutofit/>
          </a:bodyPr>
          <a:lstStyle>
            <a:lvl1pPr>
              <a:defRPr lang="en-GB" sz="2400">
                <a:solidFill>
                  <a:schemeClr val="tx1"/>
                </a:solidFill>
              </a:defRPr>
            </a:lvl1pPr>
          </a:lstStyle>
          <a:p>
            <a:pPr marL="0" lvl="0" indent="0" rtl="0">
              <a:buNone/>
            </a:pPr>
            <a:r>
              <a:rPr lang="fr-FR" noProof="0"/>
              <a:t>Insérer une image</a:t>
            </a:r>
          </a:p>
        </p:txBody>
      </p:sp>
      <p:sp>
        <p:nvSpPr>
          <p:cNvPr id="10" name="Titre 1">
            <a:extLst>
              <a:ext uri="{FF2B5EF4-FFF2-40B4-BE49-F238E27FC236}">
                <a16:creationId xmlns:a16="http://schemas.microsoft.com/office/drawing/2014/main" id="{A75C086E-F523-4C77-938F-0DB6203DBC4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1080" y="2139696"/>
            <a:ext cx="5578995" cy="879928"/>
          </a:xfrm>
        </p:spPr>
        <p:txBody>
          <a:bodyPr vert="horz" lIns="91440" tIns="45720" rIns="91440" bIns="45720" rtlCol="0" anchor="ctr" anchorCtr="0">
            <a:noAutofit/>
          </a:bodyPr>
          <a:lstStyle>
            <a:lvl1pPr algn="l">
              <a:defRPr lang="en-GB" b="0" dirty="0">
                <a:solidFill>
                  <a:schemeClr val="bg1"/>
                </a:solidFill>
              </a:defRPr>
            </a:lvl1pPr>
          </a:lstStyle>
          <a:p>
            <a:pPr marL="0" lvl="0" algn="ctr" rtl="0"/>
            <a:r>
              <a:rPr lang="fr-FR" noProof="0" dirty="0"/>
              <a:t>TITRE</a:t>
            </a:r>
          </a:p>
        </p:txBody>
      </p:sp>
      <p:sp>
        <p:nvSpPr>
          <p:cNvPr id="17" name="Espace réservé du texte 4">
            <a:extLst>
              <a:ext uri="{FF2B5EF4-FFF2-40B4-BE49-F238E27FC236}">
                <a16:creationId xmlns:a16="http://schemas.microsoft.com/office/drawing/2014/main" id="{B293AB9F-7C1D-4A06-9F42-4FD67BF2739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59075" y="3653097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Nom</a:t>
            </a:r>
          </a:p>
        </p:txBody>
      </p:sp>
      <p:sp>
        <p:nvSpPr>
          <p:cNvPr id="18" name="Espace réservé du texte 4">
            <a:extLst>
              <a:ext uri="{FF2B5EF4-FFF2-40B4-BE49-F238E27FC236}">
                <a16:creationId xmlns:a16="http://schemas.microsoft.com/office/drawing/2014/main" id="{224AF9FB-5C6E-4050-AE8D-3B218C0F1D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59075" y="4392151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Téléphone</a:t>
            </a:r>
          </a:p>
        </p:txBody>
      </p:sp>
      <p:sp>
        <p:nvSpPr>
          <p:cNvPr id="19" name="Espace réservé du texte 4">
            <a:extLst>
              <a:ext uri="{FF2B5EF4-FFF2-40B4-BE49-F238E27FC236}">
                <a16:creationId xmlns:a16="http://schemas.microsoft.com/office/drawing/2014/main" id="{68A48B85-2E0B-42B6-AB4A-1302D3C828F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59075" y="5131205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Adresse électronique</a:t>
            </a:r>
          </a:p>
        </p:txBody>
      </p:sp>
      <p:sp>
        <p:nvSpPr>
          <p:cNvPr id="20" name="Espace réservé du texte 4">
            <a:extLst>
              <a:ext uri="{FF2B5EF4-FFF2-40B4-BE49-F238E27FC236}">
                <a16:creationId xmlns:a16="http://schemas.microsoft.com/office/drawing/2014/main" id="{9244D33F-3A47-4DE3-8198-7AC5316E31E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59075" y="5870258"/>
            <a:ext cx="3695206" cy="276999"/>
          </a:xfrm>
        </p:spPr>
        <p:txBody>
          <a:bodyPr lIns="0" rtlCol="0" anchor="ctr">
            <a:noAutofit/>
          </a:bodyPr>
          <a:lstStyle>
            <a:lvl1pPr marL="0" indent="0">
              <a:lnSpc>
                <a:spcPct val="100000"/>
              </a:lnSpc>
              <a:buNone/>
              <a:defRPr sz="1800" spc="0">
                <a:solidFill>
                  <a:schemeClr val="bg1"/>
                </a:solidFill>
              </a:defRPr>
            </a:lvl1pPr>
          </a:lstStyle>
          <a:p>
            <a:pPr lvl="0" rtl="0"/>
            <a:r>
              <a:rPr lang="fr-FR" noProof="0"/>
              <a:t>Site web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220C8B-2E18-4D91-A806-6C7C3940B00F}"/>
              </a:ext>
            </a:extLst>
          </p:cNvPr>
          <p:cNvSpPr>
            <a:spLocks noGrp="1" noChangeAspect="1"/>
          </p:cNvSpPr>
          <p:nvPr>
            <p:ph sz="quarter" idx="19" hasCustomPrompt="1"/>
          </p:nvPr>
        </p:nvSpPr>
        <p:spPr>
          <a:xfrm>
            <a:off x="691080" y="4295744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8" name="Espace réservé du contenu 2">
            <a:extLst>
              <a:ext uri="{FF2B5EF4-FFF2-40B4-BE49-F238E27FC236}">
                <a16:creationId xmlns:a16="http://schemas.microsoft.com/office/drawing/2014/main" id="{3D1C5933-D103-4989-B652-C7B692341BC3}"/>
              </a:ext>
            </a:extLst>
          </p:cNvPr>
          <p:cNvSpPr>
            <a:spLocks noGrp="1" noChangeAspect="1"/>
          </p:cNvSpPr>
          <p:nvPr>
            <p:ph sz="quarter" idx="20" hasCustomPrompt="1"/>
          </p:nvPr>
        </p:nvSpPr>
        <p:spPr>
          <a:xfrm>
            <a:off x="691080" y="5034798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29" name="Espace réservé du contenu 2">
            <a:extLst>
              <a:ext uri="{FF2B5EF4-FFF2-40B4-BE49-F238E27FC236}">
                <a16:creationId xmlns:a16="http://schemas.microsoft.com/office/drawing/2014/main" id="{A80EBF65-A9A1-4724-B962-DB9B79A924AA}"/>
              </a:ext>
            </a:extLst>
          </p:cNvPr>
          <p:cNvSpPr>
            <a:spLocks noGrp="1" noChangeAspect="1"/>
          </p:cNvSpPr>
          <p:nvPr>
            <p:ph sz="quarter" idx="21" hasCustomPrompt="1"/>
          </p:nvPr>
        </p:nvSpPr>
        <p:spPr>
          <a:xfrm>
            <a:off x="691080" y="5773851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  <p:sp>
        <p:nvSpPr>
          <p:cNvPr id="30" name="Espace réservé du contenu 2">
            <a:extLst>
              <a:ext uri="{FF2B5EF4-FFF2-40B4-BE49-F238E27FC236}">
                <a16:creationId xmlns:a16="http://schemas.microsoft.com/office/drawing/2014/main" id="{06251342-E6E3-4C57-A0A9-C7BB3DCAE115}"/>
              </a:ext>
            </a:extLst>
          </p:cNvPr>
          <p:cNvSpPr>
            <a:spLocks noGrp="1" noChangeAspect="1"/>
          </p:cNvSpPr>
          <p:nvPr>
            <p:ph sz="quarter" idx="22" hasCustomPrompt="1"/>
          </p:nvPr>
        </p:nvSpPr>
        <p:spPr>
          <a:xfrm>
            <a:off x="691080" y="3556690"/>
            <a:ext cx="469813" cy="469812"/>
          </a:xfrm>
          <a:prstGeom prst="ellipse">
            <a:avLst/>
          </a:prstGeom>
          <a:noFill/>
          <a:ln>
            <a:noFill/>
          </a:ln>
        </p:spPr>
        <p:txBody>
          <a:bodyPr lIns="0" tIns="0" rIns="0" bIns="0" rtlCol="0" anchor="ctr">
            <a:noAutofit/>
          </a:bodyPr>
          <a:lstStyle>
            <a:lvl1pPr marL="0" indent="0" algn="ctr">
              <a:buNone/>
              <a:defRPr sz="1050">
                <a:solidFill>
                  <a:schemeClr val="tx1"/>
                </a:solidFill>
              </a:defRPr>
            </a:lvl1pPr>
          </a:lstStyle>
          <a:p>
            <a:pPr lvl="0" rtl="0"/>
            <a:r>
              <a:rPr lang="fr-FR" noProof="0"/>
              <a:t>Icône</a:t>
            </a:r>
          </a:p>
        </p:txBody>
      </p:sp>
    </p:spTree>
    <p:extLst>
      <p:ext uri="{BB962C8B-B14F-4D97-AF65-F5344CB8AC3E}">
        <p14:creationId xmlns:p14="http://schemas.microsoft.com/office/powerpoint/2010/main" val="41693542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13" name="Forme libre : Forme 12">
            <a:extLst>
              <a:ext uri="{FF2B5EF4-FFF2-40B4-BE49-F238E27FC236}">
                <a16:creationId xmlns:a16="http://schemas.microsoft.com/office/drawing/2014/main" id="{5BE10AC4-CBFC-4ECF-92D5-9CE1874F58D7}"/>
              </a:ext>
            </a:extLst>
          </p:cNvPr>
          <p:cNvSpPr/>
          <p:nvPr userDrawn="1"/>
        </p:nvSpPr>
        <p:spPr>
          <a:xfrm>
            <a:off x="0" y="0"/>
            <a:ext cx="8568965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4667344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rme libre : Forme 9">
            <a:extLst>
              <a:ext uri="{FF2B5EF4-FFF2-40B4-BE49-F238E27FC236}">
                <a16:creationId xmlns:a16="http://schemas.microsoft.com/office/drawing/2014/main" id="{B305EBB3-0F16-4B63-82ED-191AB224B8E2}"/>
              </a:ext>
            </a:extLst>
          </p:cNvPr>
          <p:cNvSpPr/>
          <p:nvPr userDrawn="1"/>
        </p:nvSpPr>
        <p:spPr>
          <a:xfrm>
            <a:off x="4334810" y="0"/>
            <a:ext cx="3522381" cy="6858000"/>
          </a:xfrm>
          <a:custGeom>
            <a:avLst/>
            <a:gdLst>
              <a:gd name="connsiteX0" fmla="*/ 0 w 3522381"/>
              <a:gd name="connsiteY0" fmla="*/ 0 h 6858000"/>
              <a:gd name="connsiteX1" fmla="*/ 3522381 w 3522381"/>
              <a:gd name="connsiteY1" fmla="*/ 0 h 6858000"/>
              <a:gd name="connsiteX2" fmla="*/ 51547 w 3522381"/>
              <a:gd name="connsiteY2" fmla="*/ 6858000 h 6858000"/>
              <a:gd name="connsiteX3" fmla="*/ 0 w 352238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522381" h="6858000">
                <a:moveTo>
                  <a:pt x="0" y="0"/>
                </a:moveTo>
                <a:lnTo>
                  <a:pt x="3522381" y="0"/>
                </a:lnTo>
                <a:lnTo>
                  <a:pt x="51547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  <a:alpha val="77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noProof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1744DE2-A455-46F2-BE15-959050C87CE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274144" y="1291772"/>
            <a:ext cx="4379976" cy="3611880"/>
          </a:xfrm>
        </p:spPr>
        <p:txBody>
          <a:bodyPr vert="horz" lIns="91440" tIns="45720" rIns="91440" bIns="45720" rtlCol="0" anchor="b" anchorCtr="1">
            <a:noAutofit/>
          </a:bodyPr>
          <a:lstStyle>
            <a:lvl1pPr>
              <a:defRPr lang="en-GB" dirty="0"/>
            </a:lvl1pPr>
          </a:lstStyle>
          <a:p>
            <a:pPr marL="0" lvl="0" algn="ctr" rtl="0"/>
            <a:r>
              <a:rPr lang="fr-FR" noProof="0"/>
              <a:t>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C9DE4F3-CE8F-41A0-BFDE-76D0DF1DF43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389079" y="5392401"/>
            <a:ext cx="4178808" cy="521208"/>
          </a:xfrm>
        </p:spPr>
        <p:txBody>
          <a:bodyPr vert="horz" lIns="91440" tIns="45720" rIns="91440" bIns="45720" rtlCol="0" anchor="t">
            <a:noAutofit/>
          </a:bodyPr>
          <a:lstStyle>
            <a:lvl1pPr marL="0" indent="0" algn="ctr">
              <a:buNone/>
              <a:defRPr lang="en-US" sz="1800" dirty="0">
                <a:solidFill>
                  <a:srgbClr val="B2606E"/>
                </a:solidFill>
              </a:defRPr>
            </a:lvl1pPr>
          </a:lstStyle>
          <a:p>
            <a:pPr lvl="0" rtl="0"/>
            <a:r>
              <a:rPr lang="fr-FR" noProof="0"/>
              <a:t>Sous-titre</a:t>
            </a:r>
          </a:p>
        </p:txBody>
      </p:sp>
      <p:grpSp>
        <p:nvGrpSpPr>
          <p:cNvPr id="6" name="Groupe 5">
            <a:extLst>
              <a:ext uri="{FF2B5EF4-FFF2-40B4-BE49-F238E27FC236}">
                <a16:creationId xmlns:a16="http://schemas.microsoft.com/office/drawing/2014/main" id="{EFDB39AB-B644-434A-9D55-AF3455D468E5}"/>
              </a:ext>
            </a:extLst>
          </p:cNvPr>
          <p:cNvGrpSpPr/>
          <p:nvPr userDrawn="1"/>
        </p:nvGrpSpPr>
        <p:grpSpPr>
          <a:xfrm>
            <a:off x="9140346" y="5054600"/>
            <a:ext cx="676275" cy="114300"/>
            <a:chOff x="9330846" y="5054600"/>
            <a:chExt cx="676275" cy="114300"/>
          </a:xfrm>
        </p:grpSpPr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BF14E129-1970-4994-89E5-F7A67128AFE3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8" name="Ovale 7">
              <a:extLst>
                <a:ext uri="{FF2B5EF4-FFF2-40B4-BE49-F238E27FC236}">
                  <a16:creationId xmlns:a16="http://schemas.microsoft.com/office/drawing/2014/main" id="{593336FA-97B2-4528-88E8-5FF97F86E216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9" name="Ovale 8">
              <a:extLst>
                <a:ext uri="{FF2B5EF4-FFF2-40B4-BE49-F238E27FC236}">
                  <a16:creationId xmlns:a16="http://schemas.microsoft.com/office/drawing/2014/main" id="{8A73C166-FCDF-40AE-8B0D-69C7E2C8573E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11" name="Ovale 10">
              <a:extLst>
                <a:ext uri="{FF2B5EF4-FFF2-40B4-BE49-F238E27FC236}">
                  <a16:creationId xmlns:a16="http://schemas.microsoft.com/office/drawing/2014/main" id="{EF418119-E3DD-44B0-A4AF-F8A98EC5863B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</p:spTree>
    <p:extLst>
      <p:ext uri="{BB962C8B-B14F-4D97-AF65-F5344CB8AC3E}">
        <p14:creationId xmlns:p14="http://schemas.microsoft.com/office/powerpoint/2010/main" val="387349154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C7BBA6D3-FEB9-412B-8FBB-095FC3A60AB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3186" y="1825625"/>
            <a:ext cx="10815864" cy="4351338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0100237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64A4F74B-B2CD-407C-865A-037EDFAC9DB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3186" y="1825625"/>
            <a:ext cx="5386614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0" name="Espace réservé du contenu 3">
            <a:extLst>
              <a:ext uri="{FF2B5EF4-FFF2-40B4-BE49-F238E27FC236}">
                <a16:creationId xmlns:a16="http://schemas.microsoft.com/office/drawing/2014/main" id="{A2548E2E-973A-4D52-ACB9-BF564F407308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276850" cy="435133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51069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558FCDE-8F3F-4E83-B550-DF944B424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10815864" cy="830997"/>
          </a:xfrm>
        </p:spPr>
        <p:txBody>
          <a:bodyPr vert="horz" wrap="square" lIns="0" tIns="45720" rIns="91440" bIns="45720" rtlCol="0" anchor="t">
            <a:noAutofit/>
          </a:bodyPr>
          <a:lstStyle>
            <a:lvl1pPr>
              <a:defRPr lang="en-GB" sz="2400">
                <a:solidFill>
                  <a:schemeClr val="tx1"/>
                </a:solidFill>
                <a:latin typeface="Corbel" panose="020B0503020204020204" pitchFamily="34" charset="0"/>
              </a:defRPr>
            </a:lvl1pPr>
          </a:lstStyle>
          <a:p>
            <a:pPr lvl="0" rtl="0">
              <a:lnSpc>
                <a:spcPct val="100000"/>
              </a:lnSpc>
            </a:pPr>
            <a:r>
              <a:rPr lang="fr-FR" noProof="0"/>
              <a:t>Modifiez le style du titre</a:t>
            </a:r>
          </a:p>
        </p:txBody>
      </p:sp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2">
            <a:extLst>
              <a:ext uri="{FF2B5EF4-FFF2-40B4-BE49-F238E27FC236}">
                <a16:creationId xmlns:a16="http://schemas.microsoft.com/office/drawing/2014/main" id="{10CD1AD0-C8B7-4785-A47D-D822CF4F248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633186" y="1681163"/>
            <a:ext cx="5332147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4">
            <a:extLst>
              <a:ext uri="{FF2B5EF4-FFF2-40B4-BE49-F238E27FC236}">
                <a16:creationId xmlns:a16="http://schemas.microsoft.com/office/drawing/2014/main" id="{90A1BBCF-EEF1-4C9A-BA10-9657A79560D3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276850" cy="823912"/>
          </a:xfrm>
        </p:spPr>
        <p:txBody>
          <a:bodyPr rtlCol="0"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contenu 3">
            <a:extLst>
              <a:ext uri="{FF2B5EF4-FFF2-40B4-BE49-F238E27FC236}">
                <a16:creationId xmlns:a16="http://schemas.microsoft.com/office/drawing/2014/main" id="{79F8415A-57A2-4D5C-97B0-E78499CC7C6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3186" y="2505075"/>
            <a:ext cx="5332147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2" name="Espace réservé du contenu 5">
            <a:extLst>
              <a:ext uri="{FF2B5EF4-FFF2-40B4-BE49-F238E27FC236}">
                <a16:creationId xmlns:a16="http://schemas.microsoft.com/office/drawing/2014/main" id="{37A31490-A10D-455A-B515-E26064D0E10A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276850" cy="3684588"/>
          </a:xfrm>
        </p:spPr>
        <p:txBody>
          <a:bodyPr rtlCol="0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94907084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Espace réservé du texte 3">
            <a:extLst>
              <a:ext uri="{FF2B5EF4-FFF2-40B4-BE49-F238E27FC236}">
                <a16:creationId xmlns:a16="http://schemas.microsoft.com/office/drawing/2014/main" id="{9F5DF135-B773-4FF0-A198-687768159124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contenu 2">
            <a:extLst>
              <a:ext uri="{FF2B5EF4-FFF2-40B4-BE49-F238E27FC236}">
                <a16:creationId xmlns:a16="http://schemas.microsoft.com/office/drawing/2014/main" id="{4D4BA48E-457A-42FA-BC00-3AE386B38A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265862" cy="4873625"/>
          </a:xfrm>
        </p:spPr>
        <p:txBody>
          <a:bodyPr rtlCol="0"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11" name="Titre 1">
            <a:extLst>
              <a:ext uri="{FF2B5EF4-FFF2-40B4-BE49-F238E27FC236}">
                <a16:creationId xmlns:a16="http://schemas.microsoft.com/office/drawing/2014/main" id="{43DF8AE6-3466-400C-B6F1-335DF4DED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9769864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e 3">
            <a:extLst>
              <a:ext uri="{FF2B5EF4-FFF2-40B4-BE49-F238E27FC236}">
                <a16:creationId xmlns:a16="http://schemas.microsoft.com/office/drawing/2014/main" id="{859AE304-DA92-45D8-B258-61BEA6C99C0E}"/>
              </a:ext>
            </a:extLst>
          </p:cNvPr>
          <p:cNvGrpSpPr/>
          <p:nvPr userDrawn="1"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BF91D02-B4A9-4013-94B6-079A8D06DE11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  <p:sp>
          <p:nvSpPr>
            <p:cNvPr id="7" name="Ovale 6">
              <a:extLst>
                <a:ext uri="{FF2B5EF4-FFF2-40B4-BE49-F238E27FC236}">
                  <a16:creationId xmlns:a16="http://schemas.microsoft.com/office/drawing/2014/main" id="{74DAC864-782A-48D4-8E15-9B35C60421BB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noProof="0"/>
            </a:p>
          </p:txBody>
        </p:sp>
      </p:grp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73B7B0E2-E4FA-4B45-89A6-98E4C4DC1D24}"/>
              </a:ext>
            </a:extLst>
          </p:cNvPr>
          <p:cNvSpPr txBox="1">
            <a:spLocks/>
          </p:cNvSpPr>
          <p:nvPr userDrawn="1"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noProof="0" smtClean="0">
                <a:solidFill>
                  <a:schemeClr val="bg1"/>
                </a:solidFill>
              </a:rPr>
              <a:pPr algn="ctr" rtl="0"/>
              <a:t>‹N°›</a:t>
            </a:fld>
            <a:endParaRPr lang="fr-FR" sz="1200" noProof="0">
              <a:solidFill>
                <a:schemeClr val="bg1"/>
              </a:solidFill>
            </a:endParaRPr>
          </a:p>
        </p:txBody>
      </p:sp>
      <p:sp>
        <p:nvSpPr>
          <p:cNvPr id="9" name="Titre 1">
            <a:extLst>
              <a:ext uri="{FF2B5EF4-FFF2-40B4-BE49-F238E27FC236}">
                <a16:creationId xmlns:a16="http://schemas.microsoft.com/office/drawing/2014/main" id="{A3EA16B2-FFAE-4A6E-977D-191BC1DB5B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10" name="Espace réservé du texte 3">
            <a:extLst>
              <a:ext uri="{FF2B5EF4-FFF2-40B4-BE49-F238E27FC236}">
                <a16:creationId xmlns:a16="http://schemas.microsoft.com/office/drawing/2014/main" id="{436B2E80-B2B9-4309-8C9B-11D0B83C4337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’image 2">
            <a:extLst>
              <a:ext uri="{FF2B5EF4-FFF2-40B4-BE49-F238E27FC236}">
                <a16:creationId xmlns:a16="http://schemas.microsoft.com/office/drawing/2014/main" id="{03DB89DF-F372-4E54-9DFD-D53E42A2B8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 rtlCol="0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l'icône pour ajouter une image</a:t>
            </a:r>
          </a:p>
        </p:txBody>
      </p:sp>
    </p:spTree>
    <p:extLst>
      <p:ext uri="{BB962C8B-B14F-4D97-AF65-F5344CB8AC3E}">
        <p14:creationId xmlns:p14="http://schemas.microsoft.com/office/powerpoint/2010/main" val="4294346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du numéro de diapositive 7">
            <a:extLst>
              <a:ext uri="{FF2B5EF4-FFF2-40B4-BE49-F238E27FC236}">
                <a16:creationId xmlns:a16="http://schemas.microsoft.com/office/drawing/2014/main" id="{90F2147C-DDBF-4431-95AC-650CCE32F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>
              <a:defRPr lang="en-GB" sz="1200" smtClean="0">
                <a:solidFill>
                  <a:schemeClr val="tx1"/>
                </a:solidFill>
              </a:defRPr>
            </a:lvl1pPr>
          </a:lstStyle>
          <a:p>
            <a:pPr algn="ctr" rtl="0"/>
            <a:fld id="{817179DE-9BF3-494C-804F-0C7C90AC8700}" type="slidenum">
              <a:rPr lang="fr-FR" noProof="0" smtClean="0"/>
              <a:pPr algn="ctr" rtl="0"/>
              <a:t>‹N°›</a:t>
            </a:fld>
            <a:endParaRPr lang="fr-FR" noProof="0"/>
          </a:p>
        </p:txBody>
      </p:sp>
      <p:sp>
        <p:nvSpPr>
          <p:cNvPr id="2" name="Espace réservé au titre 1">
            <a:extLst>
              <a:ext uri="{FF2B5EF4-FFF2-40B4-BE49-F238E27FC236}">
                <a16:creationId xmlns:a16="http://schemas.microsoft.com/office/drawing/2014/main" id="{224C3681-351A-40D9-8C08-632E98237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fr-FR" noProof="0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07CEF16-92A3-4A77-B95D-A9DB52319F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096770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70" r:id="rId10"/>
    <p:sldLayoutId id="2147483669" r:id="rId11"/>
    <p:sldLayoutId id="2147483655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jp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6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.png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jpe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svg"/><Relationship Id="rId4" Type="http://schemas.openxmlformats.org/officeDocument/2006/relationships/image" Target="../media/image21.png"/><Relationship Id="rId9" Type="http://schemas.openxmlformats.org/officeDocument/2006/relationships/image" Target="../media/image26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jpeg"/><Relationship Id="rId7" Type="http://schemas.openxmlformats.org/officeDocument/2006/relationships/image" Target="../media/image24.sv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5" Type="http://schemas.openxmlformats.org/officeDocument/2006/relationships/image" Target="../media/image29.svg"/><Relationship Id="rId4" Type="http://schemas.openxmlformats.org/officeDocument/2006/relationships/image" Target="../media/image2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9.svg"/><Relationship Id="rId5" Type="http://schemas.openxmlformats.org/officeDocument/2006/relationships/image" Target="../media/image28.png"/><Relationship Id="rId4" Type="http://schemas.microsoft.com/office/2007/relationships/hdphoto" Target="../media/hdphoto1.wdp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2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3.jpeg"/><Relationship Id="rId7" Type="http://schemas.openxmlformats.org/officeDocument/2006/relationships/image" Target="../media/image37.sv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6.png"/><Relationship Id="rId11" Type="http://schemas.openxmlformats.org/officeDocument/2006/relationships/image" Target="../media/image41.svg"/><Relationship Id="rId5" Type="http://schemas.openxmlformats.org/officeDocument/2006/relationships/image" Target="../media/image35.sv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8BAA8DA-C40B-4AB9-9407-30FB7033515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rtlCol="0"/>
          <a:lstStyle/>
          <a:p>
            <a:pPr rtl="0"/>
            <a:r>
              <a:rPr lang="fr-FR" dirty="0"/>
              <a:t>C</a:t>
            </a:r>
            <a:r>
              <a:rPr lang="fr-FR" sz="3600" dirty="0"/>
              <a:t>OMMANDE BIO-INSPIREE DE ROBOT POUR DES TACHES RYTHMIQUES EN INTERACTION AVEC L’ENVIRONNEMENT</a:t>
            </a:r>
          </a:p>
        </p:txBody>
      </p:sp>
      <p:sp>
        <p:nvSpPr>
          <p:cNvPr id="12" name="Sous-titre 11">
            <a:extLst>
              <a:ext uri="{FF2B5EF4-FFF2-40B4-BE49-F238E27FC236}">
                <a16:creationId xmlns:a16="http://schemas.microsoft.com/office/drawing/2014/main" id="{B28A8D9C-5123-4D2B-9272-016EF90E0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/>
          <a:lstStyle/>
          <a:p>
            <a:pPr rtl="0"/>
            <a:r>
              <a:rPr lang="fr-FR" dirty="0"/>
              <a:t>Vincent FORTINEAU, Isabelle SIEGLER, Maria MAKAROV, Pedro RODRIGUEZ-AYERBE</a:t>
            </a:r>
          </a:p>
        </p:txBody>
      </p:sp>
      <p:grpSp>
        <p:nvGrpSpPr>
          <p:cNvPr id="4" name="Groupe 3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3740" y="0"/>
            <a:ext cx="6208649" cy="6858000"/>
            <a:chOff x="-3740" y="0"/>
            <a:chExt cx="6208649" cy="6858000"/>
          </a:xfrm>
        </p:grpSpPr>
        <p:sp>
          <p:nvSpPr>
            <p:cNvPr id="11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pic>
        <p:nvPicPr>
          <p:cNvPr id="7" name="Espace réservé pour une image  6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duotone>
              <a:prstClr val="black"/>
              <a:srgbClr val="D9C3A5">
                <a:tint val="50000"/>
                <a:satMod val="18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85" r="26092"/>
          <a:stretch/>
        </p:blipFill>
        <p:spPr>
          <a:xfrm>
            <a:off x="-1" y="0"/>
            <a:ext cx="6676568" cy="6858000"/>
          </a:xfrm>
        </p:spPr>
      </p:pic>
      <p:grpSp>
        <p:nvGrpSpPr>
          <p:cNvPr id="13" name="Groupe 12" descr="élément décoratif">
            <a:extLst>
              <a:ext uri="{FF2B5EF4-FFF2-40B4-BE49-F238E27FC236}">
                <a16:creationId xmlns:a16="http://schemas.microsoft.com/office/drawing/2014/main" id="{EB664AAE-5AE9-41D7-8346-002B9F445323}"/>
              </a:ext>
            </a:extLst>
          </p:cNvPr>
          <p:cNvGrpSpPr/>
          <p:nvPr/>
        </p:nvGrpSpPr>
        <p:grpSpPr>
          <a:xfrm>
            <a:off x="-5888" y="10731"/>
            <a:ext cx="6208649" cy="6858000"/>
            <a:chOff x="-3740" y="0"/>
            <a:chExt cx="6208649" cy="6858000"/>
          </a:xfrm>
        </p:grpSpPr>
        <p:sp>
          <p:nvSpPr>
            <p:cNvPr id="15" name="Forme libre : Forme 10">
              <a:extLst>
                <a:ext uri="{FF2B5EF4-FFF2-40B4-BE49-F238E27FC236}">
                  <a16:creationId xmlns:a16="http://schemas.microsoft.com/office/drawing/2014/main" id="{927C3783-B800-4093-BB0D-D5AEF08C3B59}"/>
                </a:ext>
              </a:extLst>
            </p:cNvPr>
            <p:cNvSpPr/>
            <p:nvPr/>
          </p:nvSpPr>
          <p:spPr>
            <a:xfrm>
              <a:off x="-3740" y="0"/>
              <a:ext cx="6208649" cy="6858000"/>
            </a:xfrm>
            <a:custGeom>
              <a:avLst/>
              <a:gdLst>
                <a:gd name="connsiteX0" fmla="*/ 0 w 6208649"/>
                <a:gd name="connsiteY0" fmla="*/ 0 h 6858000"/>
                <a:gd name="connsiteX1" fmla="*/ 6208649 w 6208649"/>
                <a:gd name="connsiteY1" fmla="*/ 0 h 6858000"/>
                <a:gd name="connsiteX2" fmla="*/ 2737815 w 6208649"/>
                <a:gd name="connsiteY2" fmla="*/ 6858000 h 6858000"/>
                <a:gd name="connsiteX3" fmla="*/ 0 w 6208649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08649" h="6858000">
                  <a:moveTo>
                    <a:pt x="0" y="0"/>
                  </a:moveTo>
                  <a:lnTo>
                    <a:pt x="6208649" y="0"/>
                  </a:lnTo>
                  <a:lnTo>
                    <a:pt x="2737815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lumMod val="95000"/>
                <a:alpha val="5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576E978-A841-4A4F-B153-CC369D9391D3}"/>
                </a:ext>
              </a:extLst>
            </p:cNvPr>
            <p:cNvSpPr/>
            <p:nvPr/>
          </p:nvSpPr>
          <p:spPr>
            <a:xfrm>
              <a:off x="1451429" y="0"/>
              <a:ext cx="3222172" cy="6858000"/>
            </a:xfrm>
            <a:prstGeom prst="rect">
              <a:avLst/>
            </a:prstGeom>
            <a:solidFill>
              <a:schemeClr val="accent1"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8" name="ZoneTexte 7"/>
          <p:cNvSpPr txBox="1"/>
          <p:nvPr/>
        </p:nvSpPr>
        <p:spPr>
          <a:xfrm>
            <a:off x="89953" y="6596390"/>
            <a:ext cx="12795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/>
              <a:t>Pollen </a:t>
            </a:r>
            <a:r>
              <a:rPr lang="fr-FR" sz="1100" i="1" dirty="0" err="1"/>
              <a:t>Robotics</a:t>
            </a:r>
            <a:r>
              <a:rPr lang="fr-FR" sz="1100" i="1" dirty="0"/>
              <a:t> SAS</a:t>
            </a:r>
          </a:p>
        </p:txBody>
      </p:sp>
    </p:spTree>
    <p:extLst>
      <p:ext uri="{BB962C8B-B14F-4D97-AF65-F5344CB8AC3E}">
        <p14:creationId xmlns:p14="http://schemas.microsoft.com/office/powerpoint/2010/main" val="1725568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pour une image  5"/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99" r="7899"/>
          <a:stretch>
            <a:fillRect/>
          </a:stretch>
        </p:blipFill>
        <p:spPr>
          <a:xfrm>
            <a:off x="121490" y="-482601"/>
            <a:ext cx="12192001" cy="6858000"/>
          </a:xfrm>
        </p:spPr>
      </p:pic>
      <p:grpSp>
        <p:nvGrpSpPr>
          <p:cNvPr id="3" name="Groupe 2" descr="élément décoratif">
            <a:extLst>
              <a:ext uri="{FF2B5EF4-FFF2-40B4-BE49-F238E27FC236}">
                <a16:creationId xmlns:a16="http://schemas.microsoft.com/office/drawing/2014/main" id="{B96D2D9B-E0B9-499F-9404-108DB59E4502}"/>
              </a:ext>
            </a:extLst>
          </p:cNvPr>
          <p:cNvGrpSpPr/>
          <p:nvPr/>
        </p:nvGrpSpPr>
        <p:grpSpPr>
          <a:xfrm>
            <a:off x="0" y="0"/>
            <a:ext cx="7765989" cy="6858000"/>
            <a:chOff x="0" y="0"/>
            <a:chExt cx="6957056" cy="6858000"/>
          </a:xfrm>
        </p:grpSpPr>
        <p:sp>
          <p:nvSpPr>
            <p:cNvPr id="33" name="Parallélogramme 32">
              <a:extLst>
                <a:ext uri="{FF2B5EF4-FFF2-40B4-BE49-F238E27FC236}">
                  <a16:creationId xmlns:a16="http://schemas.microsoft.com/office/drawing/2014/main" id="{7E2E6584-76E9-4C56-A349-C9CDC96DC5F0}"/>
                </a:ext>
              </a:extLst>
            </p:cNvPr>
            <p:cNvSpPr/>
            <p:nvPr/>
          </p:nvSpPr>
          <p:spPr>
            <a:xfrm>
              <a:off x="1150750" y="0"/>
              <a:ext cx="5491804" cy="6858000"/>
            </a:xfrm>
            <a:prstGeom prst="parallelogram">
              <a:avLst>
                <a:gd name="adj" fmla="val 32713"/>
              </a:avLst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0" name="Forme libre : Forme 9">
              <a:extLst>
                <a:ext uri="{FF2B5EF4-FFF2-40B4-BE49-F238E27FC236}">
                  <a16:creationId xmlns:a16="http://schemas.microsoft.com/office/drawing/2014/main" id="{B73F00D5-E18D-4210-AD3E-3ED73CEE4865}"/>
                </a:ext>
              </a:extLst>
            </p:cNvPr>
            <p:cNvSpPr/>
            <p:nvPr/>
          </p:nvSpPr>
          <p:spPr>
            <a:xfrm flipH="1" flipV="1">
              <a:off x="0" y="482600"/>
              <a:ext cx="6957056" cy="5892799"/>
            </a:xfrm>
            <a:custGeom>
              <a:avLst/>
              <a:gdLst>
                <a:gd name="connsiteX0" fmla="*/ 6957056 w 6957056"/>
                <a:gd name="connsiteY0" fmla="*/ 5892799 h 5892799"/>
                <a:gd name="connsiteX1" fmla="*/ 0 w 6957056"/>
                <a:gd name="connsiteY1" fmla="*/ 5892799 h 5892799"/>
                <a:gd name="connsiteX2" fmla="*/ 1473200 w 6957056"/>
                <a:gd name="connsiteY2" fmla="*/ 0 h 5892799"/>
                <a:gd name="connsiteX3" fmla="*/ 6957056 w 6957056"/>
                <a:gd name="connsiteY3" fmla="*/ 0 h 5892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957056" h="5892799">
                  <a:moveTo>
                    <a:pt x="6957056" y="5892799"/>
                  </a:moveTo>
                  <a:lnTo>
                    <a:pt x="0" y="5892799"/>
                  </a:lnTo>
                  <a:lnTo>
                    <a:pt x="1473200" y="0"/>
                  </a:lnTo>
                  <a:lnTo>
                    <a:pt x="6957056" y="0"/>
                  </a:lnTo>
                  <a:close/>
                </a:path>
              </a:pathLst>
            </a:custGeom>
            <a:solidFill>
              <a:schemeClr val="accent2">
                <a:alpha val="6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13" name="Forme libre : Forme 12">
              <a:extLst>
                <a:ext uri="{FF2B5EF4-FFF2-40B4-BE49-F238E27FC236}">
                  <a16:creationId xmlns:a16="http://schemas.microsoft.com/office/drawing/2014/main" id="{C6577883-A694-450C-A2C7-C9C8A85D9915}"/>
                </a:ext>
              </a:extLst>
            </p:cNvPr>
            <p:cNvSpPr/>
            <p:nvPr/>
          </p:nvSpPr>
          <p:spPr>
            <a:xfrm flipH="1" flipV="1">
              <a:off x="0" y="1511040"/>
              <a:ext cx="4929512" cy="317760"/>
            </a:xfrm>
            <a:custGeom>
              <a:avLst/>
              <a:gdLst>
                <a:gd name="connsiteX0" fmla="*/ 6267450 w 6267450"/>
                <a:gd name="connsiteY0" fmla="*/ 883839 h 883839"/>
                <a:gd name="connsiteX1" fmla="*/ 0 w 6267450"/>
                <a:gd name="connsiteY1" fmla="*/ 883839 h 883839"/>
                <a:gd name="connsiteX2" fmla="*/ 220960 w 6267450"/>
                <a:gd name="connsiteY2" fmla="*/ 0 h 883839"/>
                <a:gd name="connsiteX3" fmla="*/ 6267450 w 6267450"/>
                <a:gd name="connsiteY3" fmla="*/ 0 h 88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6267450" h="883839">
                  <a:moveTo>
                    <a:pt x="6267450" y="883839"/>
                  </a:moveTo>
                  <a:lnTo>
                    <a:pt x="0" y="883839"/>
                  </a:lnTo>
                  <a:lnTo>
                    <a:pt x="220960" y="0"/>
                  </a:lnTo>
                  <a:lnTo>
                    <a:pt x="6267450" y="0"/>
                  </a:lnTo>
                  <a:close/>
                </a:path>
              </a:pathLst>
            </a:custGeom>
            <a:solidFill>
              <a:schemeClr val="accent1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 dirty="0"/>
            </a:p>
          </p:txBody>
        </p:sp>
      </p:grpSp>
      <p:sp>
        <p:nvSpPr>
          <p:cNvPr id="12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1432" y="1511041"/>
            <a:ext cx="5049510" cy="317759"/>
          </a:xfrm>
        </p:spPr>
        <p:txBody>
          <a:bodyPr rtlCol="0"/>
          <a:lstStyle/>
          <a:p>
            <a:pPr rtl="0"/>
            <a:r>
              <a:rPr lang="fr-FR" dirty="0"/>
              <a:t>Contexte</a:t>
            </a:r>
          </a:p>
        </p:txBody>
      </p:sp>
      <p:sp>
        <p:nvSpPr>
          <p:cNvPr id="14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rot="10800000" flipH="1" flipV="1">
            <a:off x="6689308" y="0"/>
            <a:ext cx="5502692" cy="883839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r>
              <a:rPr lang="fr-FR" sz="4400" dirty="0"/>
              <a:t>SOMMAIRE</a:t>
            </a:r>
          </a:p>
        </p:txBody>
      </p:sp>
      <p:sp>
        <p:nvSpPr>
          <p:cNvPr id="15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3" y="2423284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16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36861" y="2423284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Impédance mécanique</a:t>
            </a:r>
          </a:p>
        </p:txBody>
      </p:sp>
      <p:sp>
        <p:nvSpPr>
          <p:cNvPr id="1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3618991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18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36864" y="3618991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Expérience</a:t>
            </a:r>
          </a:p>
        </p:txBody>
      </p:sp>
      <p:sp>
        <p:nvSpPr>
          <p:cNvPr id="19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4816856"/>
            <a:ext cx="5502692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1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25718" y="4816856"/>
            <a:ext cx="5049510" cy="317759"/>
          </a:xfrm>
          <a:prstGeom prst="rect">
            <a:avLst/>
          </a:prstGeom>
        </p:spPr>
        <p:txBody>
          <a:bodyPr vert="horz" lIns="0" tIns="0" rIns="0" bIns="0" rtlCol="0" anchor="t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Conclusion</a:t>
            </a:r>
          </a:p>
        </p:txBody>
      </p:sp>
      <p:sp>
        <p:nvSpPr>
          <p:cNvPr id="22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1824734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3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709928" y="1818567"/>
            <a:ext cx="2286530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Mouvement rythmique</a:t>
            </a:r>
          </a:p>
        </p:txBody>
      </p:sp>
      <p:sp>
        <p:nvSpPr>
          <p:cNvPr id="24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2106861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5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627632" y="2106860"/>
            <a:ext cx="2369058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800" dirty="0"/>
              <a:t>Interactions mécaniques</a:t>
            </a:r>
          </a:p>
        </p:txBody>
      </p:sp>
      <p:sp>
        <p:nvSpPr>
          <p:cNvPr id="26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2738741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4094" y="3019157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28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3299573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0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2999232" y="2747063"/>
            <a:ext cx="990424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Définition</a:t>
            </a:r>
          </a:p>
        </p:txBody>
      </p:sp>
      <p:sp>
        <p:nvSpPr>
          <p:cNvPr id="32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627632" y="3018746"/>
            <a:ext cx="236202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Méthodes d’estimations</a:t>
            </a:r>
          </a:p>
        </p:txBody>
      </p:sp>
      <p:sp>
        <p:nvSpPr>
          <p:cNvPr id="34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570331" y="3298231"/>
            <a:ext cx="236202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Evolution des paramètres</a:t>
            </a:r>
          </a:p>
        </p:txBody>
      </p:sp>
      <p:sp>
        <p:nvSpPr>
          <p:cNvPr id="35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0" y="3930185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6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3390900" y="3943319"/>
            <a:ext cx="580996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Robot</a:t>
            </a:r>
          </a:p>
        </p:txBody>
      </p:sp>
      <p:sp>
        <p:nvSpPr>
          <p:cNvPr id="37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3" y="4211545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38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2706625" y="4214591"/>
            <a:ext cx="1262224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Transparence</a:t>
            </a:r>
          </a:p>
        </p:txBody>
      </p:sp>
      <p:sp>
        <p:nvSpPr>
          <p:cNvPr id="39" name="Forme libre : Forme 12">
            <a:extLst>
              <a:ext uri="{FF2B5EF4-FFF2-40B4-BE49-F238E27FC236}">
                <a16:creationId xmlns:a16="http://schemas.microsoft.com/office/drawing/2014/main" id="{C6577883-A694-450C-A2C7-C9C8A85D9915}"/>
              </a:ext>
            </a:extLst>
          </p:cNvPr>
          <p:cNvSpPr/>
          <p:nvPr/>
        </p:nvSpPr>
        <p:spPr>
          <a:xfrm flipH="1" flipV="1">
            <a:off x="-11146" y="4499266"/>
            <a:ext cx="4206240" cy="317760"/>
          </a:xfrm>
          <a:custGeom>
            <a:avLst/>
            <a:gdLst>
              <a:gd name="connsiteX0" fmla="*/ 6267450 w 6267450"/>
              <a:gd name="connsiteY0" fmla="*/ 883839 h 883839"/>
              <a:gd name="connsiteX1" fmla="*/ 0 w 6267450"/>
              <a:gd name="connsiteY1" fmla="*/ 883839 h 883839"/>
              <a:gd name="connsiteX2" fmla="*/ 220960 w 6267450"/>
              <a:gd name="connsiteY2" fmla="*/ 0 h 883839"/>
              <a:gd name="connsiteX3" fmla="*/ 6267450 w 6267450"/>
              <a:gd name="connsiteY3" fmla="*/ 0 h 88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267450" h="883839">
                <a:moveTo>
                  <a:pt x="6267450" y="883839"/>
                </a:moveTo>
                <a:lnTo>
                  <a:pt x="0" y="883839"/>
                </a:lnTo>
                <a:lnTo>
                  <a:pt x="220960" y="0"/>
                </a:lnTo>
                <a:lnTo>
                  <a:pt x="6267450" y="0"/>
                </a:lnTo>
                <a:close/>
              </a:path>
            </a:pathLst>
          </a:custGeom>
          <a:solidFill>
            <a:schemeClr val="accent1">
              <a:lumMod val="40000"/>
              <a:lumOff val="6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 rtl="0"/>
            <a:endParaRPr lang="fr-FR" dirty="0"/>
          </a:p>
        </p:txBody>
      </p:sp>
      <p:sp>
        <p:nvSpPr>
          <p:cNvPr id="40" name="Sous-titre 11">
            <a:extLst>
              <a:ext uri="{FF2B5EF4-FFF2-40B4-BE49-F238E27FC236}">
                <a16:creationId xmlns:a16="http://schemas.microsoft.com/office/drawing/2014/main" id="{A6AB5563-AD44-4883-8D3E-93E27EEDAA40}"/>
              </a:ext>
            </a:extLst>
          </p:cNvPr>
          <p:cNvSpPr txBox="1">
            <a:spLocks/>
          </p:cNvSpPr>
          <p:nvPr/>
        </p:nvSpPr>
        <p:spPr>
          <a:xfrm>
            <a:off x="1410173" y="4498857"/>
            <a:ext cx="2547533" cy="317759"/>
          </a:xfrm>
          <a:prstGeom prst="rect">
            <a:avLst/>
          </a:prstGeom>
        </p:spPr>
        <p:txBody>
          <a:bodyPr vert="horz" lIns="0" tIns="0" rIns="0" bIns="0" rtlCol="0" anchor="ctr" anchorCtr="1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en-GB" sz="20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800" dirty="0"/>
              <a:t>Estimation de l’impédance</a:t>
            </a:r>
          </a:p>
        </p:txBody>
      </p:sp>
    </p:spTree>
    <p:extLst>
      <p:ext uri="{BB962C8B-B14F-4D97-AF65-F5344CB8AC3E}">
        <p14:creationId xmlns:p14="http://schemas.microsoft.com/office/powerpoint/2010/main" val="23665782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Espace réservé pour une image  2"/>
          <p:cNvPicPr>
            <a:picLocks noGrp="1" noChangeAspect="1"/>
          </p:cNvPicPr>
          <p:nvPr>
            <p:ph type="pic" sz="quarter" idx="1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82" r="10682"/>
          <a:stretch>
            <a:fillRect/>
          </a:stretch>
        </p:blipFill>
        <p:spPr/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3</a:t>
            </a:fld>
            <a:endParaRPr lang="fr-FR" sz="1200">
              <a:solidFill>
                <a:schemeClr val="bg1"/>
              </a:solidFill>
            </a:endParaRPr>
          </a:p>
        </p:txBody>
      </p:sp>
      <p:pic>
        <p:nvPicPr>
          <p:cNvPr id="12" name="Espace réservé pour une image  11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104" b="2104"/>
          <a:stretch>
            <a:fillRect/>
          </a:stretch>
        </p:blipFill>
        <p:spPr/>
      </p:pic>
      <p:sp>
        <p:nvSpPr>
          <p:cNvPr id="14" name="ZoneTexte 13"/>
          <p:cNvSpPr txBox="1"/>
          <p:nvPr/>
        </p:nvSpPr>
        <p:spPr>
          <a:xfrm>
            <a:off x="10973397" y="6551829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>
                <a:solidFill>
                  <a:schemeClr val="bg1"/>
                </a:solidFill>
              </a:rPr>
              <a:t>Photo par </a:t>
            </a:r>
            <a:r>
              <a:rPr lang="fr-FR" sz="1100" i="1" dirty="0" err="1">
                <a:solidFill>
                  <a:schemeClr val="bg1"/>
                </a:solidFill>
              </a:rPr>
              <a:t>Javardh</a:t>
            </a:r>
            <a:endParaRPr lang="fr-FR" sz="1100" i="1" dirty="0">
              <a:solidFill>
                <a:schemeClr val="bg1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4507846" y="6499670"/>
            <a:ext cx="184698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err="1">
                <a:solidFill>
                  <a:schemeClr val="bg1"/>
                </a:solidFill>
              </a:rPr>
              <a:t>luckyboot</a:t>
            </a:r>
            <a:r>
              <a:rPr lang="fr-FR" sz="1100" i="1" dirty="0">
                <a:solidFill>
                  <a:schemeClr val="bg1"/>
                </a:solidFill>
              </a:rPr>
              <a:t>—</a:t>
            </a:r>
            <a:r>
              <a:rPr lang="fr-FR" sz="1100" i="1" dirty="0" err="1">
                <a:solidFill>
                  <a:schemeClr val="bg1"/>
                </a:solidFill>
              </a:rPr>
              <a:t>iStock</a:t>
            </a:r>
            <a:r>
              <a:rPr lang="fr-FR" sz="1100" i="1" dirty="0">
                <a:solidFill>
                  <a:schemeClr val="bg1"/>
                </a:solidFill>
              </a:rPr>
              <a:t>/</a:t>
            </a:r>
            <a:r>
              <a:rPr lang="fr-FR" sz="1100" i="1" dirty="0" err="1">
                <a:solidFill>
                  <a:schemeClr val="bg1"/>
                </a:solidFill>
              </a:rPr>
              <a:t>Thinkstock</a:t>
            </a:r>
            <a:endParaRPr lang="fr-FR" sz="1400" i="1" dirty="0">
              <a:solidFill>
                <a:schemeClr val="bg1"/>
              </a:solidFill>
            </a:endParaRPr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solidFill>
              <a:srgbClr val="0F3955">
                <a:alpha val="4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/>
              <a:t>CONTEXTE</a:t>
            </a: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674" y="3589360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/>
              <a:t>Mouvement rythmique bio-inspirée</a:t>
            </a:r>
          </a:p>
          <a:p>
            <a:pPr algn="ctr" rtl="0">
              <a:spcBef>
                <a:spcPts val="0"/>
              </a:spcBef>
            </a:pPr>
            <a:r>
              <a:rPr lang="fr-FR" sz="1800" dirty="0"/>
              <a:t>&amp;</a:t>
            </a:r>
          </a:p>
          <a:p>
            <a:pPr algn="ctr" rtl="0">
              <a:spcBef>
                <a:spcPts val="0"/>
              </a:spcBef>
            </a:pPr>
            <a:r>
              <a:rPr lang="fr-FR" sz="1800" dirty="0"/>
              <a:t>Interactions mécaniques avec des environnements incertains</a:t>
            </a:r>
          </a:p>
        </p:txBody>
      </p:sp>
    </p:spTree>
    <p:extLst>
      <p:ext uri="{BB962C8B-B14F-4D97-AF65-F5344CB8AC3E}">
        <p14:creationId xmlns:p14="http://schemas.microsoft.com/office/powerpoint/2010/main" val="3077312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183069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4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Mouvements rythmiques bio-inspirés </a:t>
            </a:r>
          </a:p>
        </p:txBody>
      </p:sp>
    </p:spTree>
    <p:extLst>
      <p:ext uri="{BB962C8B-B14F-4D97-AF65-F5344CB8AC3E}">
        <p14:creationId xmlns:p14="http://schemas.microsoft.com/office/powerpoint/2010/main" val="32071250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-37946" t="-96" r="37946" b="96"/>
          <a:stretch/>
        </p:blipFill>
        <p:spPr>
          <a:xfrm>
            <a:off x="6713621" y="3820"/>
            <a:ext cx="5478379" cy="6847626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0"/>
            <a:ext cx="9183069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fr-FR" dirty="0"/>
              <a:t>Interactions mécaniques avec des environnements incertains</a:t>
            </a:r>
          </a:p>
        </p:txBody>
      </p:sp>
    </p:spTree>
    <p:extLst>
      <p:ext uri="{BB962C8B-B14F-4D97-AF65-F5344CB8AC3E}">
        <p14:creationId xmlns:p14="http://schemas.microsoft.com/office/powerpoint/2010/main" val="26057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Espace réservé pour une image  22"/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9" t="9884" r="33644" b="240"/>
          <a:stretch/>
        </p:blipFill>
        <p:spPr>
          <a:xfrm>
            <a:off x="0" y="-18288"/>
            <a:ext cx="8087304" cy="6858000"/>
          </a:xfrm>
        </p:spPr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6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10973397" y="6551829"/>
            <a:ext cx="121860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>
                <a:solidFill>
                  <a:schemeClr val="bg1"/>
                </a:solidFill>
              </a:rPr>
              <a:t>Photo par </a:t>
            </a:r>
            <a:r>
              <a:rPr lang="fr-FR" sz="1100" i="1" dirty="0" err="1">
                <a:solidFill>
                  <a:schemeClr val="bg1"/>
                </a:solidFill>
              </a:rPr>
              <a:t>Javardh</a:t>
            </a:r>
            <a:endParaRPr lang="fr-FR" sz="1100" i="1" dirty="0">
              <a:solidFill>
                <a:schemeClr val="bg1"/>
              </a:solidFill>
            </a:endParaRPr>
          </a:p>
        </p:txBody>
      </p:sp>
      <p:sp>
        <p:nvSpPr>
          <p:cNvPr id="16" name="ZoneTexte 15"/>
          <p:cNvSpPr txBox="1"/>
          <p:nvPr/>
        </p:nvSpPr>
        <p:spPr>
          <a:xfrm>
            <a:off x="4507846" y="6499670"/>
            <a:ext cx="4956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>
                <a:solidFill>
                  <a:schemeClr val="bg1"/>
                </a:solidFill>
              </a:rPr>
              <a:t>KUKA</a:t>
            </a:r>
            <a:endParaRPr lang="fr-FR" sz="1400" i="1" dirty="0">
              <a:solidFill>
                <a:schemeClr val="bg1"/>
              </a:solidFill>
            </a:endParaRPr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  <a:solidFill>
            <a:srgbClr val="FFD966">
              <a:alpha val="40000"/>
            </a:srgbClr>
          </a:solidFill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/>
              <a:t>IMPEDANCE MECANIQUE</a:t>
            </a: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57473" y="4019128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 err="1"/>
              <a:t>subsusbsubsusb</a:t>
            </a:r>
            <a:endParaRPr lang="fr-FR" sz="1800" dirty="0"/>
          </a:p>
        </p:txBody>
      </p:sp>
      <p:pic>
        <p:nvPicPr>
          <p:cNvPr id="18" name="Espace réservé pour une image  17"/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66" t="9902" r="-135" b="120"/>
          <a:stretch/>
        </p:blipFill>
        <p:spPr/>
      </p:pic>
    </p:spTree>
    <p:extLst>
      <p:ext uri="{BB962C8B-B14F-4D97-AF65-F5344CB8AC3E}">
        <p14:creationId xmlns:p14="http://schemas.microsoft.com/office/powerpoint/2010/main" val="27600299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43386" t="-192" r="14369" b="192"/>
          <a:stretch/>
        </p:blipFill>
        <p:spPr>
          <a:xfrm>
            <a:off x="7559615" y="-25247"/>
            <a:ext cx="4644418" cy="6871215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6" y="-12032"/>
            <a:ext cx="9096337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7</a:t>
            </a:fld>
            <a:endParaRPr lang="fr-FR" sz="120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/>
              </p:cNvSpPr>
              <p:nvPr>
                <p:ph type="body" sz="quarter" idx="11"/>
              </p:nvPr>
            </p:nvSpPr>
            <p:spPr>
              <a:xfrm>
                <a:off x="596032" y="2202430"/>
                <a:ext cx="3713469" cy="3039765"/>
              </a:xfrm>
            </p:spPr>
            <p:txBody>
              <a:bodyPr rtlCol="0"/>
              <a:lstStyle/>
              <a:p>
                <a:pPr algn="just" rtl="0"/>
                <a:r>
                  <a:rPr lang="fr-FR" sz="1800" b="1" u="sng" dirty="0">
                    <a:solidFill>
                      <a:srgbClr val="EEA81C"/>
                    </a:solidFill>
                  </a:rPr>
                  <a:t>Impédance</a:t>
                </a:r>
                <a:r>
                  <a:rPr lang="fr-FR" sz="1800" dirty="0"/>
                  <a:t> : Flux en entrée (vitesse, courant…) et effort en sortie du système (force, tension…).</a:t>
                </a:r>
              </a:p>
              <a:p>
                <a:pPr rtl="0"/>
                <a:r>
                  <a:rPr lang="fr-FR" sz="1800" dirty="0"/>
                  <a:t>L’impédance mécanique, dans le cas linéaire, peut comporter 3 éléments passifs et 2 éléments actifs :</a:t>
                </a:r>
              </a:p>
              <a:p>
                <a:pPr marL="971550" lvl="1" indent="-285750"/>
                <a:r>
                  <a:rPr lang="fr-FR" sz="1800" b="1" dirty="0"/>
                  <a:t>Raideur</a:t>
                </a:r>
                <a:r>
                  <a:rPr lang="fr-FR" sz="1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</a:pPr>
                <a:r>
                  <a:rPr lang="fr-FR" sz="1800" b="1" dirty="0"/>
                  <a:t>Amortissement</a:t>
                </a:r>
                <a:r>
                  <a:rPr lang="fr-FR" sz="1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</a:pPr>
                <a:r>
                  <a:rPr lang="fr-FR" sz="1800" b="1" dirty="0"/>
                  <a:t>Inertie</a:t>
                </a:r>
                <a:r>
                  <a:rPr lang="fr-FR" sz="1800" dirty="0"/>
                  <a:t> (</a:t>
                </a:r>
                <a14:m>
                  <m:oMath xmlns:m="http://schemas.openxmlformats.org/officeDocument/2006/math">
                    <m:r>
                      <a:rPr lang="fr-FR" sz="1800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fr-FR" sz="1800" dirty="0"/>
                  <a:t> ou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</a:pPr>
                <a:r>
                  <a:rPr lang="fr-FR" sz="1800" b="1" dirty="0"/>
                  <a:t>Force</a:t>
                </a:r>
                <a:r>
                  <a:rPr lang="fr-FR" sz="18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dirty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sz="1800" b="0" i="1" dirty="0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800" dirty="0"/>
                  <a:t>)</a:t>
                </a:r>
              </a:p>
              <a:p>
                <a:pPr marL="971550" lvl="1" indent="-285750">
                  <a:spcBef>
                    <a:spcPts val="0"/>
                  </a:spcBef>
                </a:pPr>
                <a:r>
                  <a:rPr lang="fr-FR" sz="1800" b="1" dirty="0"/>
                  <a:t>Vitesse</a:t>
                </a:r>
                <a:r>
                  <a:rPr lang="fr-FR" sz="1800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8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800" i="1" dirty="0" smtClean="0">
                                <a:latin typeface="Cambria Math" panose="02040503050406030204" pitchFamily="18" charset="0"/>
                              </a:rPr>
                              <m:t>𝑑𝑥</m:t>
                            </m:r>
                          </m:num>
                          <m:den>
                            <m:r>
                              <a:rPr lang="fr-FR" sz="1800" b="0" i="1" dirty="0" smtClean="0">
                                <a:latin typeface="Cambria Math" panose="02040503050406030204" pitchFamily="18" charset="0"/>
                              </a:rPr>
                              <m:t>𝑑𝑡</m:t>
                            </m:r>
                          </m:den>
                        </m:f>
                      </m:e>
                    </m:d>
                  </m:oMath>
                </a14:m>
                <a:endParaRPr lang="fr-FR" sz="1800" dirty="0"/>
              </a:p>
            </p:txBody>
          </p:sp>
        </mc:Choice>
        <mc:Fallback>
          <p:sp>
            <p:nvSpPr>
              <p:cNvPr id="23" name="Espace réservé du texte 22">
                <a:extLst>
                  <a:ext uri="{FF2B5EF4-FFF2-40B4-BE49-F238E27FC236}">
                    <a16:creationId xmlns:a16="http://schemas.microsoft.com/office/drawing/2014/main" id="{B88939B0-5B9A-4423-AFD1-CF6B222687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quarter" idx="11"/>
              </p:nvPr>
            </p:nvSpPr>
            <p:spPr>
              <a:xfrm>
                <a:off x="596032" y="2202430"/>
                <a:ext cx="3713469" cy="3039765"/>
              </a:xfrm>
              <a:blipFill>
                <a:blip r:embed="rId4"/>
                <a:stretch>
                  <a:fillRect l="-3754" t="-1245" r="-3754" b="-414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003187" y="1433351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sz="3200" dirty="0"/>
              <a:t>Définitions de l’impédance</a:t>
            </a:r>
          </a:p>
        </p:txBody>
      </p:sp>
      <p:grpSp>
        <p:nvGrpSpPr>
          <p:cNvPr id="30" name="Groupe 29"/>
          <p:cNvGrpSpPr/>
          <p:nvPr/>
        </p:nvGrpSpPr>
        <p:grpSpPr>
          <a:xfrm>
            <a:off x="4002895" y="1397601"/>
            <a:ext cx="6250400" cy="736603"/>
            <a:chOff x="3653654" y="1657717"/>
            <a:chExt cx="5711916" cy="736603"/>
          </a:xfrm>
        </p:grpSpPr>
        <p:sp>
          <p:nvSpPr>
            <p:cNvPr id="5" name="Rectangle à coins arrondis 4"/>
            <p:cNvSpPr/>
            <p:nvPr/>
          </p:nvSpPr>
          <p:spPr>
            <a:xfrm>
              <a:off x="4694485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/>
                <a:t>Impédance</a:t>
              </a:r>
            </a:p>
            <a:p>
              <a:pPr algn="ctr"/>
              <a:r>
                <a:rPr lang="fr-FR" sz="1200" dirty="0"/>
                <a:t>(système)</a:t>
              </a:r>
            </a:p>
          </p:txBody>
        </p:sp>
        <p:sp>
          <p:nvSpPr>
            <p:cNvPr id="18" name="Rectangle à coins arrondis 17"/>
            <p:cNvSpPr/>
            <p:nvPr/>
          </p:nvSpPr>
          <p:spPr>
            <a:xfrm>
              <a:off x="7009060" y="1657717"/>
              <a:ext cx="1381125" cy="736603"/>
            </a:xfrm>
            <a:prstGeom prst="roundRect">
              <a:avLst/>
            </a:prstGeom>
            <a:solidFill>
              <a:srgbClr val="EEA81C"/>
            </a:solidFill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/>
                <a:t>Admittance</a:t>
              </a:r>
            </a:p>
            <a:p>
              <a:pPr algn="ctr"/>
              <a:r>
                <a:rPr lang="fr-FR" sz="1200" dirty="0"/>
                <a:t>(Environnement)</a:t>
              </a:r>
            </a:p>
          </p:txBody>
        </p:sp>
        <p:cxnSp>
          <p:nvCxnSpPr>
            <p:cNvPr id="8" name="Connecteur droit avec flèche 7"/>
            <p:cNvCxnSpPr>
              <a:stCxn id="5" idx="3"/>
              <a:endCxn id="18" idx="1"/>
            </p:cNvCxnSpPr>
            <p:nvPr/>
          </p:nvCxnSpPr>
          <p:spPr>
            <a:xfrm>
              <a:off x="6075610" y="2026019"/>
              <a:ext cx="933450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droit avec flèche 24"/>
            <p:cNvCxnSpPr>
              <a:endCxn id="5" idx="1"/>
            </p:cNvCxnSpPr>
            <p:nvPr/>
          </p:nvCxnSpPr>
          <p:spPr>
            <a:xfrm>
              <a:off x="3761035" y="2026018"/>
              <a:ext cx="933450" cy="1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droit avec flèche 27"/>
            <p:cNvCxnSpPr>
              <a:stCxn id="18" idx="3"/>
            </p:cNvCxnSpPr>
            <p:nvPr/>
          </p:nvCxnSpPr>
          <p:spPr>
            <a:xfrm>
              <a:off x="8390185" y="2026019"/>
              <a:ext cx="975385" cy="0"/>
            </a:xfrm>
            <a:prstGeom prst="straightConnector1">
              <a:avLst/>
            </a:prstGeom>
            <a:ln w="19050">
              <a:solidFill>
                <a:schemeClr val="accent3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ZoneTexte 25"/>
            <p:cNvSpPr txBox="1"/>
            <p:nvPr/>
          </p:nvSpPr>
          <p:spPr>
            <a:xfrm>
              <a:off x="3653654" y="1718241"/>
              <a:ext cx="9522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/>
                <a:t>mouvement</a:t>
              </a:r>
              <a:endParaRPr lang="fr-FR" b="1" dirty="0"/>
            </a:p>
          </p:txBody>
        </p:sp>
        <p:sp>
          <p:nvSpPr>
            <p:cNvPr id="31" name="ZoneTexte 30"/>
            <p:cNvSpPr txBox="1"/>
            <p:nvPr/>
          </p:nvSpPr>
          <p:spPr>
            <a:xfrm>
              <a:off x="6252211" y="1718241"/>
              <a:ext cx="497832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/>
                <a:t>force</a:t>
              </a:r>
              <a:endParaRPr lang="fr-FR" b="1" dirty="0"/>
            </a:p>
          </p:txBody>
        </p:sp>
        <p:sp>
          <p:nvSpPr>
            <p:cNvPr id="32" name="ZoneTexte 31"/>
            <p:cNvSpPr txBox="1"/>
            <p:nvPr/>
          </p:nvSpPr>
          <p:spPr>
            <a:xfrm>
              <a:off x="8359495" y="1710571"/>
              <a:ext cx="95224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400" b="1" dirty="0"/>
                <a:t>mouvement</a:t>
              </a:r>
              <a:endParaRPr lang="fr-FR" b="1" dirty="0"/>
            </a:p>
          </p:txBody>
        </p:sp>
      </p:grpSp>
      <p:pic>
        <p:nvPicPr>
          <p:cNvPr id="43" name="Image 42"/>
          <p:cNvPicPr>
            <a:picLocks noChangeAspect="1"/>
          </p:cNvPicPr>
          <p:nvPr/>
        </p:nvPicPr>
        <p:blipFill rotWithShape="1">
          <a:blip r:embed="rId7"/>
          <a:srcRect l="8957" t="18770" r="28017" b="10258"/>
          <a:stretch/>
        </p:blipFill>
        <p:spPr>
          <a:xfrm>
            <a:off x="5604546" y="2981325"/>
            <a:ext cx="3757939" cy="2644757"/>
          </a:xfrm>
          <a:prstGeom prst="rect">
            <a:avLst/>
          </a:prstGeom>
        </p:spPr>
      </p:pic>
      <p:sp>
        <p:nvSpPr>
          <p:cNvPr id="33" name="ZoneTexte 32"/>
          <p:cNvSpPr txBox="1"/>
          <p:nvPr/>
        </p:nvSpPr>
        <p:spPr>
          <a:xfrm>
            <a:off x="5743584" y="2185460"/>
            <a:ext cx="26614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Systèmes physiques, </a:t>
            </a:r>
            <a:r>
              <a:rPr lang="fr-FR" sz="1400" dirty="0" err="1"/>
              <a:t>Hogan</a:t>
            </a:r>
            <a:r>
              <a:rPr lang="fr-FR" sz="1400" dirty="0"/>
              <a:t> (1985)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/>
              <p:cNvSpPr txBox="1"/>
              <p:nvPr/>
            </p:nvSpPr>
            <p:spPr>
              <a:xfrm>
                <a:off x="535871" y="5533802"/>
                <a:ext cx="407560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𝐼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̈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𝐾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8" name="ZoneTexte 3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71" y="5533802"/>
                <a:ext cx="4075603" cy="369332"/>
              </a:xfrm>
              <a:prstGeom prst="rect">
                <a:avLst/>
              </a:prstGeom>
              <a:blipFill>
                <a:blip r:embed="rId8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ZoneTexte 40"/>
          <p:cNvSpPr txBox="1"/>
          <p:nvPr/>
        </p:nvSpPr>
        <p:spPr>
          <a:xfrm>
            <a:off x="-10708" y="5910595"/>
            <a:ext cx="554760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Equation de l’impédance, modèle KBI linéaire pour de petits déplacements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ZoneTexte 44"/>
              <p:cNvSpPr txBox="1"/>
              <p:nvPr/>
            </p:nvSpPr>
            <p:spPr>
              <a:xfrm>
                <a:off x="5559734" y="5598291"/>
                <a:ext cx="39137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sz="1400" dirty="0"/>
                  <a:t>Position virtuelle non perturbée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fr-FR" sz="1400" dirty="0"/>
                  <a:t>) et position</a:t>
                </a:r>
              </a:p>
              <a:p>
                <a:r>
                  <a:rPr lang="fr-FR" sz="1400" dirty="0"/>
                  <a:t>suite à une perturbation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fr-FR" sz="1400" dirty="0"/>
                  <a:t>), </a:t>
                </a:r>
                <a:r>
                  <a:rPr lang="fr-FR" sz="1400" dirty="0" err="1"/>
                  <a:t>Tsuji</a:t>
                </a:r>
                <a:r>
                  <a:rPr lang="fr-FR" sz="1400" dirty="0"/>
                  <a:t> &amp; Tanaka (2008) </a:t>
                </a:r>
              </a:p>
            </p:txBody>
          </p:sp>
        </mc:Choice>
        <mc:Fallback xmlns="">
          <p:sp>
            <p:nvSpPr>
              <p:cNvPr id="45" name="ZoneTexte 4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9734" y="5598291"/>
                <a:ext cx="3913764" cy="523220"/>
              </a:xfrm>
              <a:prstGeom prst="rect">
                <a:avLst/>
              </a:prstGeom>
              <a:blipFill>
                <a:blip r:embed="rId9"/>
                <a:stretch>
                  <a:fillRect l="-324" b="-119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0196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43144" r="14617"/>
          <a:stretch/>
        </p:blipFill>
        <p:spPr>
          <a:xfrm>
            <a:off x="7524750" y="0"/>
            <a:ext cx="4667251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096337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8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" name="Rectangle à coins arrondis 1">
            <a:extLst>
              <a:ext uri="{FF2B5EF4-FFF2-40B4-BE49-F238E27FC236}">
                <a16:creationId xmlns:a16="http://schemas.microsoft.com/office/drawing/2014/main" id="{FC14443F-97F9-354E-96BC-51E8272D21EF}"/>
              </a:ext>
            </a:extLst>
          </p:cNvPr>
          <p:cNvSpPr/>
          <p:nvPr/>
        </p:nvSpPr>
        <p:spPr>
          <a:xfrm>
            <a:off x="491319" y="1809176"/>
            <a:ext cx="3875965" cy="4231390"/>
          </a:xfrm>
          <a:prstGeom prst="roundRect">
            <a:avLst>
              <a:gd name="adj" fmla="val 8292"/>
            </a:avLst>
          </a:prstGeom>
          <a:solidFill>
            <a:srgbClr val="EEA81C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ysClr val="windowText" lastClr="000000"/>
              </a:solidFill>
            </a:endParaRPr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64275" y="2049429"/>
            <a:ext cx="3343701" cy="3772350"/>
          </a:xfrm>
        </p:spPr>
        <p:txBody>
          <a:bodyPr rtlCol="0"/>
          <a:lstStyle/>
          <a:p>
            <a:pPr algn="ctr" rtl="0">
              <a:spcAft>
                <a:spcPts val="600"/>
              </a:spcAft>
            </a:pPr>
            <a:r>
              <a:rPr lang="fr-FR" sz="1800" b="1" u="sng" dirty="0"/>
              <a:t>Impossibilité de mesures directes </a:t>
            </a:r>
          </a:p>
          <a:p>
            <a:pPr algn="just" rtl="0"/>
            <a:r>
              <a:rPr lang="fr-FR" sz="1800" dirty="0"/>
              <a:t>Nécessité de </a:t>
            </a:r>
            <a:r>
              <a:rPr lang="fr-FR" sz="1800" b="1" dirty="0"/>
              <a:t>perturber</a:t>
            </a:r>
            <a:r>
              <a:rPr lang="fr-FR" sz="1800" dirty="0"/>
              <a:t> le système en position</a:t>
            </a:r>
            <a:r>
              <a:rPr lang="fr-FR" sz="1800" baseline="30000" dirty="0"/>
              <a:t>1</a:t>
            </a:r>
            <a:r>
              <a:rPr lang="fr-FR" sz="1800" dirty="0"/>
              <a:t> ou en force</a:t>
            </a:r>
            <a:r>
              <a:rPr lang="fr-FR" sz="1800" baseline="30000" dirty="0"/>
              <a:t>2.</a:t>
            </a:r>
          </a:p>
          <a:p>
            <a:pPr algn="just" rtl="0"/>
            <a:r>
              <a:rPr lang="fr-FR" sz="1800" dirty="0"/>
              <a:t>On peut ensuite identifier les éléments d’impédance avec un modèle, ou de manière non paramétrique</a:t>
            </a:r>
            <a:r>
              <a:rPr lang="fr-FR" sz="1800" baseline="30000" dirty="0"/>
              <a:t>3</a:t>
            </a:r>
            <a:r>
              <a:rPr lang="fr-FR" sz="1800" dirty="0"/>
              <a:t>.</a:t>
            </a:r>
          </a:p>
          <a:p>
            <a:pPr algn="just" rtl="0"/>
            <a:r>
              <a:rPr lang="fr-FR" sz="1800" dirty="0"/>
              <a:t>L’une des difficultés de l’estimation de l’impédance pendant un mouvement, se situe dans l’estimation de la </a:t>
            </a:r>
            <a:r>
              <a:rPr lang="fr-FR" sz="1800" b="1" dirty="0"/>
              <a:t>trajectoire non perturbée.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Méthodes d’estimation de l’impédance</a:t>
            </a:r>
          </a:p>
        </p:txBody>
      </p:sp>
      <p:pic>
        <p:nvPicPr>
          <p:cNvPr id="17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6414" y="1059046"/>
            <a:ext cx="548640" cy="548640"/>
          </a:xfrm>
        </p:spPr>
      </p:pic>
      <p:pic>
        <p:nvPicPr>
          <p:cNvPr id="19" name="Espace réservé du contenu 94" descr="Microscope">
            <a:extLst>
              <a:ext uri="{FF2B5EF4-FFF2-40B4-BE49-F238E27FC236}">
                <a16:creationId xmlns:a16="http://schemas.microsoft.com/office/drawing/2014/main" id="{DF89E35F-3521-954B-82F3-91E58CE3228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80077" y="1008247"/>
            <a:ext cx="651900" cy="651900"/>
          </a:xfrm>
        </p:spPr>
      </p:pic>
      <p:sp>
        <p:nvSpPr>
          <p:cNvPr id="20" name="Rectangle à coins arrondis 19">
            <a:extLst>
              <a:ext uri="{FF2B5EF4-FFF2-40B4-BE49-F238E27FC236}">
                <a16:creationId xmlns:a16="http://schemas.microsoft.com/office/drawing/2014/main" id="{208CA74B-8DBF-3E43-8E48-07C8D432E956}"/>
              </a:ext>
            </a:extLst>
          </p:cNvPr>
          <p:cNvSpPr/>
          <p:nvPr/>
        </p:nvSpPr>
        <p:spPr>
          <a:xfrm>
            <a:off x="5527343" y="1809175"/>
            <a:ext cx="3766782" cy="4380169"/>
          </a:xfrm>
          <a:prstGeom prst="roundRect">
            <a:avLst>
              <a:gd name="adj" fmla="val 8292"/>
            </a:avLst>
          </a:prstGeom>
          <a:solidFill>
            <a:schemeClr val="accent2">
              <a:lumMod val="25000"/>
              <a:lumOff val="75000"/>
            </a:schemeClr>
          </a:solidFill>
          <a:ln>
            <a:solidFill>
              <a:schemeClr val="accent2">
                <a:lumMod val="90000"/>
                <a:lumOff val="1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b="1" u="sng" dirty="0">
                <a:solidFill>
                  <a:sysClr val="windowText" lastClr="000000"/>
                </a:solidFill>
              </a:rPr>
              <a:t>Limitations</a:t>
            </a:r>
          </a:p>
          <a:p>
            <a:pPr algn="ctr"/>
            <a:endParaRPr lang="fr-FR" b="1" u="sng" dirty="0">
              <a:solidFill>
                <a:sysClr val="windowText" lastClr="000000"/>
              </a:solidFill>
            </a:endParaRPr>
          </a:p>
          <a:p>
            <a:pPr algn="just"/>
            <a:r>
              <a:rPr lang="fr-FR" b="1" dirty="0">
                <a:solidFill>
                  <a:sysClr val="windowText" lastClr="000000"/>
                </a:solidFill>
              </a:rPr>
              <a:t>Durée</a:t>
            </a:r>
            <a:r>
              <a:rPr lang="fr-FR" dirty="0">
                <a:solidFill>
                  <a:sysClr val="windowText" lastClr="000000"/>
                </a:solidFill>
              </a:rPr>
              <a:t> utilisée pendant et après la </a:t>
            </a:r>
            <a:r>
              <a:rPr lang="fr-FR" b="1" dirty="0">
                <a:solidFill>
                  <a:sysClr val="windowText" lastClr="000000"/>
                </a:solidFill>
              </a:rPr>
              <a:t>perturbation </a:t>
            </a:r>
            <a:r>
              <a:rPr lang="fr-FR" dirty="0">
                <a:solidFill>
                  <a:sysClr val="windowText" lastClr="000000"/>
                </a:solidFill>
              </a:rPr>
              <a:t>pour une estimation fiable.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Influences des </a:t>
            </a:r>
            <a:r>
              <a:rPr lang="fr-FR" b="1" dirty="0">
                <a:solidFill>
                  <a:sysClr val="windowText" lastClr="000000"/>
                </a:solidFill>
              </a:rPr>
              <a:t>réflexes</a:t>
            </a:r>
            <a:r>
              <a:rPr lang="fr-FR" dirty="0">
                <a:solidFill>
                  <a:sysClr val="windowText" lastClr="000000"/>
                </a:solidFill>
              </a:rPr>
              <a:t> ostéo-tendineux, (non linéaire)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Influences d’action volontaire (après 100ms)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Influences de la méthode de perturbation et de sa durée</a:t>
            </a:r>
            <a:r>
              <a:rPr lang="fr-FR" baseline="30000" dirty="0">
                <a:solidFill>
                  <a:sysClr val="windowText" lastClr="000000"/>
                </a:solidFill>
              </a:rPr>
              <a:t>4</a:t>
            </a:r>
            <a:r>
              <a:rPr lang="fr-FR" dirty="0">
                <a:solidFill>
                  <a:sysClr val="windowText" lastClr="000000"/>
                </a:solidFill>
              </a:rPr>
              <a:t> </a:t>
            </a:r>
            <a:endParaRPr lang="fr-FR" dirty="0">
              <a:solidFill>
                <a:srgbClr val="C00000"/>
              </a:solidFill>
            </a:endParaRP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Estimation de la trajectoire non perturbée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Faible déplacement (&lt;1cm)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Fatigue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705712-0B50-A244-B37F-85040770B640}"/>
              </a:ext>
            </a:extLst>
          </p:cNvPr>
          <p:cNvSpPr txBox="1"/>
          <p:nvPr/>
        </p:nvSpPr>
        <p:spPr>
          <a:xfrm>
            <a:off x="9538" y="6122759"/>
            <a:ext cx="682590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1 – A </a:t>
            </a:r>
            <a:r>
              <a:rPr lang="fr-FR" sz="1050" dirty="0" err="1"/>
              <a:t>method</a:t>
            </a:r>
            <a:r>
              <a:rPr lang="fr-FR" sz="1050" dirty="0"/>
              <a:t> for </a:t>
            </a:r>
            <a:r>
              <a:rPr lang="fr-FR" sz="1050" dirty="0" err="1"/>
              <a:t>measuring</a:t>
            </a:r>
            <a:r>
              <a:rPr lang="fr-FR" sz="1050" dirty="0"/>
              <a:t> </a:t>
            </a:r>
            <a:r>
              <a:rPr lang="fr-FR" sz="1050" dirty="0" err="1"/>
              <a:t>endpoint</a:t>
            </a:r>
            <a:r>
              <a:rPr lang="fr-FR" sz="1050" dirty="0"/>
              <a:t> </a:t>
            </a:r>
            <a:r>
              <a:rPr lang="fr-FR" sz="1050" dirty="0" err="1"/>
              <a:t>stiffness</a:t>
            </a:r>
            <a:r>
              <a:rPr lang="fr-FR" sz="1050" dirty="0"/>
              <a:t> </a:t>
            </a:r>
            <a:r>
              <a:rPr lang="fr-FR" sz="1050" dirty="0" err="1"/>
              <a:t>durint</a:t>
            </a:r>
            <a:r>
              <a:rPr lang="fr-FR" sz="1050" dirty="0"/>
              <a:t> multi-joint arm </a:t>
            </a:r>
            <a:r>
              <a:rPr lang="fr-FR" sz="1050" dirty="0" err="1"/>
              <a:t>movements</a:t>
            </a:r>
            <a:r>
              <a:rPr lang="fr-FR" sz="1050" dirty="0"/>
              <a:t>, E. </a:t>
            </a:r>
            <a:r>
              <a:rPr lang="fr-FR" sz="1050" dirty="0" err="1"/>
              <a:t>Burdet</a:t>
            </a:r>
            <a:r>
              <a:rPr lang="fr-FR" sz="1050" dirty="0"/>
              <a:t> &amp; al 2000</a:t>
            </a:r>
          </a:p>
          <a:p>
            <a:r>
              <a:rPr lang="fr-FR" sz="1050" dirty="0"/>
              <a:t>2 – Hand </a:t>
            </a:r>
            <a:r>
              <a:rPr lang="fr-FR" sz="1050" dirty="0" err="1"/>
              <a:t>impedance</a:t>
            </a:r>
            <a:r>
              <a:rPr lang="fr-FR" sz="1050" dirty="0"/>
              <a:t> </a:t>
            </a:r>
            <a:r>
              <a:rPr lang="fr-FR" sz="1050" dirty="0" err="1"/>
              <a:t>measurements</a:t>
            </a:r>
            <a:r>
              <a:rPr lang="fr-FR" sz="1050" dirty="0"/>
              <a:t> </a:t>
            </a:r>
            <a:r>
              <a:rPr lang="fr-FR" sz="1050" dirty="0" err="1"/>
              <a:t>during</a:t>
            </a:r>
            <a:r>
              <a:rPr lang="fr-FR" sz="1050" dirty="0"/>
              <a:t> interactive </a:t>
            </a:r>
            <a:r>
              <a:rPr lang="fr-FR" sz="1050" dirty="0" err="1"/>
              <a:t>manual</a:t>
            </a:r>
            <a:r>
              <a:rPr lang="fr-FR" sz="1050" dirty="0"/>
              <a:t> </a:t>
            </a:r>
            <a:r>
              <a:rPr lang="fr-FR" sz="1050" dirty="0" err="1"/>
              <a:t>welding</a:t>
            </a:r>
            <a:r>
              <a:rPr lang="fr-FR" sz="1050" dirty="0"/>
              <a:t> </a:t>
            </a:r>
            <a:r>
              <a:rPr lang="fr-FR" sz="1050" dirty="0" err="1"/>
              <a:t>with</a:t>
            </a:r>
            <a:r>
              <a:rPr lang="fr-FR" sz="1050" dirty="0"/>
              <a:t> a robot, M.S. </a:t>
            </a:r>
            <a:r>
              <a:rPr lang="fr-FR" sz="1050" dirty="0" err="1"/>
              <a:t>Erden</a:t>
            </a:r>
            <a:r>
              <a:rPr lang="fr-FR" sz="1050" dirty="0"/>
              <a:t> &amp; A. Billard 2015</a:t>
            </a:r>
          </a:p>
          <a:p>
            <a:r>
              <a:rPr lang="fr-FR" sz="1050" dirty="0"/>
              <a:t>3 – </a:t>
            </a:r>
            <a:r>
              <a:rPr lang="fr-FR" sz="1050" dirty="0" err="1"/>
              <a:t>Unbiased</a:t>
            </a:r>
            <a:r>
              <a:rPr lang="fr-FR" sz="1050" dirty="0"/>
              <a:t> estimation of </a:t>
            </a:r>
            <a:r>
              <a:rPr lang="fr-FR" sz="1050" dirty="0" err="1"/>
              <a:t>Human</a:t>
            </a:r>
            <a:r>
              <a:rPr lang="fr-FR" sz="1050" dirty="0"/>
              <a:t> joint </a:t>
            </a:r>
            <a:r>
              <a:rPr lang="fr-FR" sz="1050" dirty="0" err="1"/>
              <a:t>intrinsic</a:t>
            </a:r>
            <a:r>
              <a:rPr lang="fr-FR" sz="1050" dirty="0"/>
              <a:t> </a:t>
            </a:r>
            <a:r>
              <a:rPr lang="fr-FR" sz="1050" dirty="0" err="1"/>
              <a:t>mechanical</a:t>
            </a:r>
            <a:r>
              <a:rPr lang="fr-FR" sz="1050" dirty="0"/>
              <a:t> </a:t>
            </a:r>
            <a:r>
              <a:rPr lang="fr-FR" sz="1050" dirty="0" err="1"/>
              <a:t>properties</a:t>
            </a:r>
            <a:r>
              <a:rPr lang="fr-FR" sz="1050" dirty="0"/>
              <a:t> </a:t>
            </a:r>
            <a:r>
              <a:rPr lang="fr-FR" sz="1050" dirty="0" err="1"/>
              <a:t>during</a:t>
            </a:r>
            <a:r>
              <a:rPr lang="fr-FR" sz="1050" dirty="0"/>
              <a:t> </a:t>
            </a:r>
            <a:r>
              <a:rPr lang="fr-FR" sz="1050" dirty="0" err="1"/>
              <a:t>movement</a:t>
            </a:r>
            <a:r>
              <a:rPr lang="fr-FR" sz="1050" dirty="0"/>
              <a:t>, D.L </a:t>
            </a:r>
            <a:r>
              <a:rPr lang="fr-FR" sz="1050" dirty="0" err="1"/>
              <a:t>Guarin</a:t>
            </a:r>
            <a:r>
              <a:rPr lang="fr-FR" sz="1050" dirty="0"/>
              <a:t> &amp; R.E. Kearney 2018</a:t>
            </a:r>
          </a:p>
          <a:p>
            <a:r>
              <a:rPr lang="fr-FR" sz="1050" dirty="0"/>
              <a:t>4 – </a:t>
            </a:r>
            <a:r>
              <a:rPr lang="fr-FR" sz="1050" dirty="0" err="1"/>
              <a:t>Elbow</a:t>
            </a:r>
            <a:r>
              <a:rPr lang="fr-FR" sz="1050" dirty="0"/>
              <a:t> </a:t>
            </a:r>
            <a:r>
              <a:rPr lang="fr-FR" sz="1050" dirty="0" err="1"/>
              <a:t>impedance</a:t>
            </a:r>
            <a:r>
              <a:rPr lang="fr-FR" sz="1050" dirty="0"/>
              <a:t> </a:t>
            </a:r>
            <a:r>
              <a:rPr lang="fr-FR" sz="1050" dirty="0" err="1"/>
              <a:t>during</a:t>
            </a:r>
            <a:r>
              <a:rPr lang="fr-FR" sz="1050" dirty="0"/>
              <a:t> goal-</a:t>
            </a:r>
            <a:r>
              <a:rPr lang="fr-FR" sz="1050" dirty="0" err="1"/>
              <a:t>directed</a:t>
            </a:r>
            <a:r>
              <a:rPr lang="fr-FR" sz="1050" dirty="0"/>
              <a:t> </a:t>
            </a:r>
            <a:r>
              <a:rPr lang="fr-FR" sz="1050" dirty="0" err="1"/>
              <a:t>movements</a:t>
            </a:r>
            <a:r>
              <a:rPr lang="fr-FR" sz="1050" dirty="0"/>
              <a:t>, F. </a:t>
            </a:r>
            <a:r>
              <a:rPr lang="fr-FR" sz="1050" dirty="0" err="1"/>
              <a:t>Popescu</a:t>
            </a:r>
            <a:r>
              <a:rPr lang="fr-FR" sz="1050" dirty="0"/>
              <a:t> &amp; al 2003</a:t>
            </a:r>
          </a:p>
        </p:txBody>
      </p:sp>
    </p:spTree>
    <p:extLst>
      <p:ext uri="{BB962C8B-B14F-4D97-AF65-F5344CB8AC3E}">
        <p14:creationId xmlns:p14="http://schemas.microsoft.com/office/powerpoint/2010/main" val="9441679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43144" r="14617"/>
          <a:stretch/>
        </p:blipFill>
        <p:spPr>
          <a:xfrm>
            <a:off x="7524750" y="0"/>
            <a:ext cx="4667251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096337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9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Méthodes d’estimation de l’impédance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2C6DDE0-9606-5A48-A578-A7BB88187CF2}"/>
              </a:ext>
            </a:extLst>
          </p:cNvPr>
          <p:cNvSpPr txBox="1"/>
          <p:nvPr/>
        </p:nvSpPr>
        <p:spPr>
          <a:xfrm>
            <a:off x="1660358" y="3657600"/>
            <a:ext cx="6614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</a:rPr>
              <a:t>Schéma ?? Pour expliciter les explications données précédemment ??</a:t>
            </a:r>
          </a:p>
        </p:txBody>
      </p:sp>
    </p:spTree>
    <p:extLst>
      <p:ext uri="{BB962C8B-B14F-4D97-AF65-F5344CB8AC3E}">
        <p14:creationId xmlns:p14="http://schemas.microsoft.com/office/powerpoint/2010/main" val="20448067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43144" r="14617"/>
          <a:stretch/>
        </p:blipFill>
        <p:spPr>
          <a:xfrm>
            <a:off x="7524750" y="0"/>
            <a:ext cx="4667251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096337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10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fr-FR" dirty="0"/>
              <a:t>Evolution des paramètres d’impédance</a:t>
            </a:r>
          </a:p>
        </p:txBody>
      </p:sp>
      <p:pic>
        <p:nvPicPr>
          <p:cNvPr id="17" name="Espace réservé du contenu 82" descr="Cloche">
            <a:extLst>
              <a:ext uri="{FF2B5EF4-FFF2-40B4-BE49-F238E27FC236}">
                <a16:creationId xmlns:a16="http://schemas.microsoft.com/office/drawing/2014/main" id="{F244E2B5-934E-564D-9CC0-90720BE38973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136414" y="1059046"/>
            <a:ext cx="548640" cy="548640"/>
          </a:xfrm>
        </p:spPr>
      </p:pic>
      <p:pic>
        <p:nvPicPr>
          <p:cNvPr id="19" name="Espace réservé du contenu 94" descr="Microscope">
            <a:extLst>
              <a:ext uri="{FF2B5EF4-FFF2-40B4-BE49-F238E27FC236}">
                <a16:creationId xmlns:a16="http://schemas.microsoft.com/office/drawing/2014/main" id="{DF89E35F-3521-954B-82F3-91E58CE32282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2080077" y="1008247"/>
            <a:ext cx="651900" cy="651900"/>
          </a:xfrm>
        </p:spPr>
      </p:pic>
      <p:sp>
        <p:nvSpPr>
          <p:cNvPr id="20" name="Rectangle à coins arrondis 19">
            <a:extLst>
              <a:ext uri="{FF2B5EF4-FFF2-40B4-BE49-F238E27FC236}">
                <a16:creationId xmlns:a16="http://schemas.microsoft.com/office/drawing/2014/main" id="{208CA74B-8DBF-3E43-8E48-07C8D432E956}"/>
              </a:ext>
            </a:extLst>
          </p:cNvPr>
          <p:cNvSpPr/>
          <p:nvPr/>
        </p:nvSpPr>
        <p:spPr>
          <a:xfrm>
            <a:off x="5274677" y="1809176"/>
            <a:ext cx="4302458" cy="2556829"/>
          </a:xfrm>
          <a:prstGeom prst="roundRect">
            <a:avLst>
              <a:gd name="adj" fmla="val 8292"/>
            </a:avLst>
          </a:prstGeom>
          <a:solidFill>
            <a:schemeClr val="accent2">
              <a:lumMod val="25000"/>
              <a:lumOff val="75000"/>
            </a:schemeClr>
          </a:solidFill>
          <a:ln>
            <a:solidFill>
              <a:schemeClr val="accent2">
                <a:lumMod val="90000"/>
                <a:lumOff val="1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>
              <a:spcAft>
                <a:spcPts val="600"/>
              </a:spcAft>
            </a:pPr>
            <a:r>
              <a:rPr lang="fr-FR" b="1" u="sng" dirty="0">
                <a:solidFill>
                  <a:sysClr val="windowText" lastClr="000000"/>
                </a:solidFill>
              </a:rPr>
              <a:t>Tâches isométriques VS mouvement</a:t>
            </a:r>
          </a:p>
          <a:p>
            <a:pPr algn="just">
              <a:spcBef>
                <a:spcPts val="1000"/>
              </a:spcBef>
            </a:pPr>
            <a:r>
              <a:rPr lang="fr-FR" dirty="0">
                <a:solidFill>
                  <a:sysClr val="windowText" lastClr="000000"/>
                </a:solidFill>
              </a:rPr>
              <a:t>Comparaison entre tâches isométriques et tâches en mouvement pour des positions équivalentes, résultats divergents…</a:t>
            </a:r>
          </a:p>
          <a:p>
            <a:pPr marL="285750" indent="-285750" algn="just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Diminution (</a:t>
            </a:r>
            <a:r>
              <a:rPr lang="fr-FR" dirty="0" err="1">
                <a:solidFill>
                  <a:sysClr val="windowText" lastClr="000000"/>
                </a:solidFill>
              </a:rPr>
              <a:t>ref</a:t>
            </a:r>
            <a:r>
              <a:rPr lang="fr-FR" dirty="0">
                <a:solidFill>
                  <a:sysClr val="windowText" lastClr="000000"/>
                </a:solidFill>
              </a:rPr>
              <a:t>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Augmentation (</a:t>
            </a:r>
            <a:r>
              <a:rPr lang="fr-FR" dirty="0" err="1">
                <a:solidFill>
                  <a:sysClr val="windowText" lastClr="000000"/>
                </a:solidFill>
              </a:rPr>
              <a:t>ref</a:t>
            </a:r>
            <a:r>
              <a:rPr lang="fr-FR" dirty="0">
                <a:solidFill>
                  <a:sysClr val="windowText" lastClr="000000"/>
                </a:solidFill>
              </a:rPr>
              <a:t>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fr-FR" dirty="0">
                <a:solidFill>
                  <a:sysClr val="windowText" lastClr="000000"/>
                </a:solidFill>
              </a:rPr>
              <a:t>Identique (</a:t>
            </a:r>
            <a:r>
              <a:rPr lang="fr-FR" dirty="0" err="1">
                <a:solidFill>
                  <a:sysClr val="windowText" lastClr="000000"/>
                </a:solidFill>
              </a:rPr>
              <a:t>ref</a:t>
            </a:r>
            <a:r>
              <a:rPr lang="fr-FR" dirty="0">
                <a:solidFill>
                  <a:sysClr val="windowText" lastClr="000000"/>
                </a:solidFill>
              </a:rPr>
              <a:t>)</a:t>
            </a:r>
          </a:p>
        </p:txBody>
      </p:sp>
      <p:sp>
        <p:nvSpPr>
          <p:cNvPr id="21" name="Rectangle à coins arrondis 20">
            <a:extLst>
              <a:ext uri="{FF2B5EF4-FFF2-40B4-BE49-F238E27FC236}">
                <a16:creationId xmlns:a16="http://schemas.microsoft.com/office/drawing/2014/main" id="{4E36E93A-C30C-D944-9C41-5B7021C5DE54}"/>
              </a:ext>
            </a:extLst>
          </p:cNvPr>
          <p:cNvSpPr/>
          <p:nvPr/>
        </p:nvSpPr>
        <p:spPr>
          <a:xfrm>
            <a:off x="520946" y="1809176"/>
            <a:ext cx="4120569" cy="1788265"/>
          </a:xfrm>
          <a:prstGeom prst="roundRect">
            <a:avLst>
              <a:gd name="adj" fmla="val 8292"/>
            </a:avLst>
          </a:prstGeom>
          <a:solidFill>
            <a:srgbClr val="EEA81C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>
              <a:spcAft>
                <a:spcPts val="600"/>
              </a:spcAft>
            </a:pPr>
            <a:r>
              <a:rPr lang="fr-FR" b="1" u="sng" dirty="0">
                <a:solidFill>
                  <a:sysClr val="windowText" lastClr="000000"/>
                </a:solidFill>
              </a:rPr>
              <a:t>Apprentissage</a:t>
            </a:r>
          </a:p>
          <a:p>
            <a:pPr algn="just">
              <a:spcBef>
                <a:spcPts val="1000"/>
              </a:spcBef>
            </a:pPr>
            <a:r>
              <a:rPr lang="fr-FR" dirty="0">
                <a:solidFill>
                  <a:sysClr val="windowText" lastClr="000000"/>
                </a:solidFill>
              </a:rPr>
              <a:t>Adaptation des paramètres d’impédance entre des sujets novices et « experts » pour une tâche donnée</a:t>
            </a:r>
            <a:r>
              <a:rPr lang="fr-FR" baseline="30000" dirty="0">
                <a:solidFill>
                  <a:sysClr val="windowText" lastClr="000000"/>
                </a:solidFill>
              </a:rPr>
              <a:t>1</a:t>
            </a:r>
            <a:r>
              <a:rPr lang="fr-FR" dirty="0">
                <a:solidFill>
                  <a:sysClr val="windowText" lastClr="000000"/>
                </a:solidFill>
              </a:rPr>
              <a:t>, afin d’atteindre un optimal</a:t>
            </a:r>
            <a:r>
              <a:rPr lang="fr-FR" baseline="30000" dirty="0">
                <a:solidFill>
                  <a:sysClr val="windowText" lastClr="000000"/>
                </a:solidFill>
              </a:rPr>
              <a:t>2</a:t>
            </a:r>
            <a:r>
              <a:rPr lang="fr-FR" dirty="0">
                <a:solidFill>
                  <a:sysClr val="windowText" lastClr="000000"/>
                </a:solidFill>
              </a:rPr>
              <a:t>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38493C1-8FA5-ED4C-87C0-187F95FC606F}"/>
              </a:ext>
            </a:extLst>
          </p:cNvPr>
          <p:cNvSpPr txBox="1"/>
          <p:nvPr/>
        </p:nvSpPr>
        <p:spPr>
          <a:xfrm>
            <a:off x="-1" y="6411817"/>
            <a:ext cx="8334333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dirty="0"/>
              <a:t>1 – Hand </a:t>
            </a:r>
            <a:r>
              <a:rPr lang="fr-FR" sz="1050" dirty="0" err="1"/>
              <a:t>impedance</a:t>
            </a:r>
            <a:r>
              <a:rPr lang="fr-FR" sz="1050" dirty="0"/>
              <a:t> </a:t>
            </a:r>
            <a:r>
              <a:rPr lang="fr-FR" sz="1050" dirty="0" err="1"/>
              <a:t>measurements</a:t>
            </a:r>
            <a:r>
              <a:rPr lang="fr-FR" sz="1050" dirty="0"/>
              <a:t> </a:t>
            </a:r>
            <a:r>
              <a:rPr lang="fr-FR" sz="1050" dirty="0" err="1"/>
              <a:t>during</a:t>
            </a:r>
            <a:r>
              <a:rPr lang="fr-FR" sz="1050" dirty="0"/>
              <a:t> interactive </a:t>
            </a:r>
            <a:r>
              <a:rPr lang="fr-FR" sz="1050" dirty="0" err="1"/>
              <a:t>manual</a:t>
            </a:r>
            <a:r>
              <a:rPr lang="fr-FR" sz="1050" dirty="0"/>
              <a:t> </a:t>
            </a:r>
            <a:r>
              <a:rPr lang="fr-FR" sz="1050" dirty="0" err="1"/>
              <a:t>welding</a:t>
            </a:r>
            <a:r>
              <a:rPr lang="fr-FR" sz="1050" dirty="0"/>
              <a:t> </a:t>
            </a:r>
            <a:r>
              <a:rPr lang="fr-FR" sz="1050" dirty="0" err="1"/>
              <a:t>with</a:t>
            </a:r>
            <a:r>
              <a:rPr lang="fr-FR" sz="1050" dirty="0"/>
              <a:t> a robot, M.S. </a:t>
            </a:r>
            <a:r>
              <a:rPr lang="fr-FR" sz="1050" dirty="0" err="1"/>
              <a:t>Erden</a:t>
            </a:r>
            <a:r>
              <a:rPr lang="fr-FR" sz="1050" dirty="0"/>
              <a:t> &amp; A. Billard 2015</a:t>
            </a:r>
          </a:p>
          <a:p>
            <a:r>
              <a:rPr lang="fr-FR" sz="1050" dirty="0"/>
              <a:t>2 – The </a:t>
            </a:r>
            <a:r>
              <a:rPr lang="fr-FR" sz="1050" dirty="0" err="1"/>
              <a:t>nervous</a:t>
            </a:r>
            <a:r>
              <a:rPr lang="fr-FR" sz="1050" dirty="0"/>
              <a:t> system </a:t>
            </a:r>
            <a:r>
              <a:rPr lang="fr-FR" sz="1050" dirty="0" err="1"/>
              <a:t>stabilizes</a:t>
            </a:r>
            <a:r>
              <a:rPr lang="fr-FR" sz="1050" dirty="0"/>
              <a:t> </a:t>
            </a:r>
            <a:r>
              <a:rPr lang="fr-FR" sz="1050" dirty="0" err="1"/>
              <a:t>unstable</a:t>
            </a:r>
            <a:r>
              <a:rPr lang="fr-FR" sz="1050" dirty="0"/>
              <a:t> </a:t>
            </a:r>
            <a:r>
              <a:rPr lang="fr-FR" sz="1050" dirty="0" err="1"/>
              <a:t>dynamics</a:t>
            </a:r>
            <a:r>
              <a:rPr lang="fr-FR" sz="1050" dirty="0"/>
              <a:t> by </a:t>
            </a:r>
            <a:r>
              <a:rPr lang="fr-FR" sz="1050" dirty="0" err="1"/>
              <a:t>learning</a:t>
            </a:r>
            <a:r>
              <a:rPr lang="fr-FR" sz="1050" dirty="0"/>
              <a:t> optimal </a:t>
            </a:r>
            <a:r>
              <a:rPr lang="fr-FR" sz="1050" dirty="0" err="1"/>
              <a:t>impedance</a:t>
            </a:r>
            <a:r>
              <a:rPr lang="fr-FR" sz="1050" dirty="0"/>
              <a:t> E. </a:t>
            </a:r>
            <a:r>
              <a:rPr lang="fr-FR" sz="1050" dirty="0" err="1"/>
              <a:t>Burdet</a:t>
            </a:r>
            <a:r>
              <a:rPr lang="fr-FR" sz="1050" dirty="0"/>
              <a:t> &amp; al. 2001</a:t>
            </a:r>
          </a:p>
          <a:p>
            <a:r>
              <a:rPr lang="fr-FR" sz="1050" dirty="0"/>
              <a:t>3 – Modulation of </a:t>
            </a:r>
            <a:r>
              <a:rPr lang="fr-FR" sz="1050" dirty="0" err="1"/>
              <a:t>elbow</a:t>
            </a:r>
            <a:r>
              <a:rPr lang="fr-FR" sz="1050" dirty="0"/>
              <a:t> joint </a:t>
            </a:r>
            <a:r>
              <a:rPr lang="fr-FR" sz="1050" dirty="0" err="1"/>
              <a:t>stiffness</a:t>
            </a:r>
            <a:r>
              <a:rPr lang="fr-FR" sz="1050" dirty="0"/>
              <a:t> in a vertical plane </a:t>
            </a:r>
            <a:r>
              <a:rPr lang="fr-FR" sz="1050" dirty="0" err="1"/>
              <a:t>during</a:t>
            </a:r>
            <a:r>
              <a:rPr lang="fr-FR" sz="1050" dirty="0"/>
              <a:t> </a:t>
            </a:r>
            <a:r>
              <a:rPr lang="fr-FR" sz="1050" dirty="0" err="1"/>
              <a:t>cyclic</a:t>
            </a:r>
            <a:r>
              <a:rPr lang="fr-FR" sz="1050" dirty="0"/>
              <a:t> </a:t>
            </a:r>
            <a:r>
              <a:rPr lang="fr-FR" sz="1050" dirty="0" err="1"/>
              <a:t>movement</a:t>
            </a:r>
            <a:r>
              <a:rPr lang="fr-FR" sz="1050" dirty="0"/>
              <a:t> at </a:t>
            </a:r>
            <a:r>
              <a:rPr lang="fr-FR" sz="1050" dirty="0" err="1"/>
              <a:t>lower</a:t>
            </a:r>
            <a:r>
              <a:rPr lang="fr-FR" sz="1050" dirty="0"/>
              <a:t> or </a:t>
            </a:r>
            <a:r>
              <a:rPr lang="fr-FR" sz="1050" dirty="0" err="1"/>
              <a:t>higher</a:t>
            </a:r>
            <a:r>
              <a:rPr lang="fr-FR" sz="1050" dirty="0"/>
              <a:t> </a:t>
            </a:r>
            <a:r>
              <a:rPr lang="fr-FR" sz="1050" dirty="0" err="1"/>
              <a:t>frequencies</a:t>
            </a:r>
            <a:r>
              <a:rPr lang="fr-FR" sz="1050" dirty="0"/>
              <a:t> </a:t>
            </a:r>
            <a:r>
              <a:rPr lang="fr-FR" sz="1050" dirty="0" err="1"/>
              <a:t>than</a:t>
            </a:r>
            <a:r>
              <a:rPr lang="fr-FR" sz="1050" dirty="0"/>
              <a:t> </a:t>
            </a:r>
            <a:r>
              <a:rPr lang="fr-FR" sz="1050" dirty="0" err="1"/>
              <a:t>natural</a:t>
            </a:r>
            <a:r>
              <a:rPr lang="fr-FR" sz="1050" dirty="0"/>
              <a:t> </a:t>
            </a:r>
            <a:r>
              <a:rPr lang="fr-FR" sz="1050" dirty="0" err="1"/>
              <a:t>frequency</a:t>
            </a:r>
            <a:r>
              <a:rPr lang="fr-FR" sz="1050" dirty="0"/>
              <a:t>, M.O Abe 2003</a:t>
            </a:r>
          </a:p>
        </p:txBody>
      </p:sp>
      <p:sp>
        <p:nvSpPr>
          <p:cNvPr id="24" name="Rectangle à coins arrondis 23">
            <a:extLst>
              <a:ext uri="{FF2B5EF4-FFF2-40B4-BE49-F238E27FC236}">
                <a16:creationId xmlns:a16="http://schemas.microsoft.com/office/drawing/2014/main" id="{7B13091C-940F-C949-9751-244D38278746}"/>
              </a:ext>
            </a:extLst>
          </p:cNvPr>
          <p:cNvSpPr/>
          <p:nvPr/>
        </p:nvSpPr>
        <p:spPr>
          <a:xfrm>
            <a:off x="520945" y="3823437"/>
            <a:ext cx="4120570" cy="2457481"/>
          </a:xfrm>
          <a:prstGeom prst="roundRect">
            <a:avLst>
              <a:gd name="adj" fmla="val 8292"/>
            </a:avLst>
          </a:prstGeom>
          <a:solidFill>
            <a:srgbClr val="EEA81C"/>
          </a:solidFill>
          <a:ln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>
              <a:spcAft>
                <a:spcPts val="600"/>
              </a:spcAft>
            </a:pPr>
            <a:r>
              <a:rPr lang="fr-FR" b="1" u="sng" dirty="0">
                <a:solidFill>
                  <a:sysClr val="windowText" lastClr="000000"/>
                </a:solidFill>
              </a:rPr>
              <a:t>Au cours du mouvement</a:t>
            </a:r>
          </a:p>
          <a:p>
            <a:pPr algn="just">
              <a:spcBef>
                <a:spcPts val="1000"/>
              </a:spcBef>
            </a:pPr>
            <a:r>
              <a:rPr lang="fr-FR" dirty="0">
                <a:solidFill>
                  <a:sysClr val="windowText" lastClr="000000"/>
                </a:solidFill>
              </a:rPr>
              <a:t>Lors d’un mouvement cyclique, la raideur a un comportement quadratique avec un minimum à la fréquence naturelle</a:t>
            </a:r>
            <a:r>
              <a:rPr lang="fr-FR" baseline="30000" dirty="0">
                <a:solidFill>
                  <a:sysClr val="windowText" lastClr="000000"/>
                </a:solidFill>
              </a:rPr>
              <a:t>3</a:t>
            </a:r>
            <a:r>
              <a:rPr lang="fr-FR" dirty="0">
                <a:solidFill>
                  <a:sysClr val="windowText" lastClr="000000"/>
                </a:solidFill>
              </a:rPr>
              <a:t>. </a:t>
            </a:r>
          </a:p>
          <a:p>
            <a:pPr algn="just">
              <a:spcBef>
                <a:spcPts val="1000"/>
              </a:spcBef>
            </a:pPr>
            <a:r>
              <a:rPr lang="fr-FR" dirty="0">
                <a:solidFill>
                  <a:srgbClr val="C00000"/>
                </a:solidFill>
              </a:rPr>
              <a:t>Exemple d’évolution de la raideur, de l’amortissement et de l’inertie dans la publication de Bennett ??</a:t>
            </a:r>
          </a:p>
        </p:txBody>
      </p:sp>
    </p:spTree>
    <p:extLst>
      <p:ext uri="{BB962C8B-B14F-4D97-AF65-F5344CB8AC3E}">
        <p14:creationId xmlns:p14="http://schemas.microsoft.com/office/powerpoint/2010/main" val="136589344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pour une image  5"/>
          <p:cNvPicPr>
            <a:picLocks noGrp="1" noChangeAspect="1"/>
          </p:cNvPicPr>
          <p:nvPr>
            <p:ph type="pic" sz="quarter" idx="13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95" r="25"/>
          <a:stretch/>
        </p:blipFill>
        <p:spPr/>
      </p:pic>
      <p:pic>
        <p:nvPicPr>
          <p:cNvPr id="5" name="Espace réservé pour une image  4"/>
          <p:cNvPicPr>
            <a:picLocks noGrp="1" noChangeAspect="1"/>
          </p:cNvPicPr>
          <p:nvPr>
            <p:ph type="pic" sz="quarter" idx="1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" t="-139" r="33632" b="139"/>
          <a:stretch/>
        </p:blipFill>
        <p:spPr/>
      </p:pic>
      <p:sp>
        <p:nvSpPr>
          <p:cNvPr id="8" name="Rectangle 7" descr="élément décoratif">
            <a:extLst>
              <a:ext uri="{FF2B5EF4-FFF2-40B4-BE49-F238E27FC236}">
                <a16:creationId xmlns:a16="http://schemas.microsoft.com/office/drawing/2014/main" id="{4E4A96D9-2D70-4D9E-B61C-9B23F3FD5161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D65CFEB2-BC19-4647-937B-40854EE88A8C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11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14" name="ZoneTexte 13"/>
          <p:cNvSpPr txBox="1"/>
          <p:nvPr/>
        </p:nvSpPr>
        <p:spPr>
          <a:xfrm>
            <a:off x="6583680" y="6556013"/>
            <a:ext cx="57099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100" i="1" dirty="0" err="1"/>
              <a:t>Staübli</a:t>
            </a:r>
            <a:endParaRPr lang="fr-FR" sz="1100" i="1" dirty="0"/>
          </a:p>
        </p:txBody>
      </p:sp>
      <p:grpSp>
        <p:nvGrpSpPr>
          <p:cNvPr id="19" name="Groupe 18" descr="élément décoratif">
            <a:extLst>
              <a:ext uri="{FF2B5EF4-FFF2-40B4-BE49-F238E27FC236}">
                <a16:creationId xmlns:a16="http://schemas.microsoft.com/office/drawing/2014/main" id="{E7969C14-1078-4610-9BC5-74119C9B87BE}"/>
              </a:ext>
            </a:extLst>
          </p:cNvPr>
          <p:cNvGrpSpPr/>
          <p:nvPr/>
        </p:nvGrpSpPr>
        <p:grpSpPr>
          <a:xfrm>
            <a:off x="0" y="2481400"/>
            <a:ext cx="7717536" cy="2639239"/>
            <a:chOff x="0" y="3808320"/>
            <a:chExt cx="7833208" cy="2547440"/>
          </a:xfrm>
          <a:solidFill>
            <a:srgbClr val="E28C89">
              <a:alpha val="40000"/>
            </a:srgbClr>
          </a:solidFill>
        </p:grpSpPr>
        <p:sp>
          <p:nvSpPr>
            <p:cNvPr id="20" name="Forme libre : Forme 9">
              <a:extLst>
                <a:ext uri="{FF2B5EF4-FFF2-40B4-BE49-F238E27FC236}">
                  <a16:creationId xmlns:a16="http://schemas.microsoft.com/office/drawing/2014/main" id="{E531D018-EFA3-4346-AB80-7CE436393D9E}"/>
                </a:ext>
              </a:extLst>
            </p:cNvPr>
            <p:cNvSpPr/>
            <p:nvPr/>
          </p:nvSpPr>
          <p:spPr>
            <a:xfrm>
              <a:off x="0" y="3808320"/>
              <a:ext cx="7833208" cy="2547440"/>
            </a:xfrm>
            <a:custGeom>
              <a:avLst/>
              <a:gdLst>
                <a:gd name="connsiteX0" fmla="*/ 0 w 7833208"/>
                <a:gd name="connsiteY0" fmla="*/ 0 h 2547440"/>
                <a:gd name="connsiteX1" fmla="*/ 7833208 w 7833208"/>
                <a:gd name="connsiteY1" fmla="*/ 0 h 2547440"/>
                <a:gd name="connsiteX2" fmla="*/ 7135846 w 7833208"/>
                <a:gd name="connsiteY2" fmla="*/ 2547440 h 2547440"/>
                <a:gd name="connsiteX3" fmla="*/ 0 w 7833208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33208" h="2547440">
                  <a:moveTo>
                    <a:pt x="0" y="0"/>
                  </a:moveTo>
                  <a:lnTo>
                    <a:pt x="7833208" y="0"/>
                  </a:lnTo>
                  <a:lnTo>
                    <a:pt x="7135846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1" name="Forme libre : Forme 10">
              <a:extLst>
                <a:ext uri="{FF2B5EF4-FFF2-40B4-BE49-F238E27FC236}">
                  <a16:creationId xmlns:a16="http://schemas.microsoft.com/office/drawing/2014/main" id="{FA9D7AC8-80D5-49DC-A585-FCFFA6CA4B66}"/>
                </a:ext>
              </a:extLst>
            </p:cNvPr>
            <p:cNvSpPr/>
            <p:nvPr/>
          </p:nvSpPr>
          <p:spPr>
            <a:xfrm>
              <a:off x="1" y="3808320"/>
              <a:ext cx="7692571" cy="2547440"/>
            </a:xfrm>
            <a:custGeom>
              <a:avLst/>
              <a:gdLst>
                <a:gd name="connsiteX0" fmla="*/ 0 w 7692571"/>
                <a:gd name="connsiteY0" fmla="*/ 0 h 2547440"/>
                <a:gd name="connsiteX1" fmla="*/ 7692571 w 7692571"/>
                <a:gd name="connsiteY1" fmla="*/ 0 h 2547440"/>
                <a:gd name="connsiteX2" fmla="*/ 6995209 w 7692571"/>
                <a:gd name="connsiteY2" fmla="*/ 2547440 h 2547440"/>
                <a:gd name="connsiteX3" fmla="*/ 0 w 7692571"/>
                <a:gd name="connsiteY3" fmla="*/ 2547440 h 2547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692571" h="2547440">
                  <a:moveTo>
                    <a:pt x="0" y="0"/>
                  </a:moveTo>
                  <a:lnTo>
                    <a:pt x="7692571" y="0"/>
                  </a:lnTo>
                  <a:lnTo>
                    <a:pt x="6995209" y="2547440"/>
                  </a:lnTo>
                  <a:lnTo>
                    <a:pt x="0" y="2547440"/>
                  </a:ln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sp>
        <p:nvSpPr>
          <p:cNvPr id="33" name="Titre 32">
            <a:extLst>
              <a:ext uri="{FF2B5EF4-FFF2-40B4-BE49-F238E27FC236}">
                <a16:creationId xmlns:a16="http://schemas.microsoft.com/office/drawing/2014/main" id="{18CDD97B-6E25-4FB4-B239-493E54AA0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6682" y="2766400"/>
            <a:ext cx="5005614" cy="822960"/>
          </a:xfrm>
        </p:spPr>
        <p:txBody>
          <a:bodyPr rtlCol="0"/>
          <a:lstStyle/>
          <a:p>
            <a:pPr algn="ctr" rtl="0"/>
            <a:r>
              <a:rPr lang="fr-FR" sz="4400" dirty="0"/>
              <a:t>EXPERIENCE</a:t>
            </a:r>
          </a:p>
        </p:txBody>
      </p:sp>
      <p:sp>
        <p:nvSpPr>
          <p:cNvPr id="34" name="Espace réservé du texte 33">
            <a:extLst>
              <a:ext uri="{FF2B5EF4-FFF2-40B4-BE49-F238E27FC236}">
                <a16:creationId xmlns:a16="http://schemas.microsoft.com/office/drawing/2014/main" id="{859D862E-AE8E-482F-9E23-3C096FF03E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6674" y="3589360"/>
            <a:ext cx="6237006" cy="1005840"/>
          </a:xfrm>
        </p:spPr>
        <p:txBody>
          <a:bodyPr rtlCol="0"/>
          <a:lstStyle/>
          <a:p>
            <a:pPr algn="ctr" rtl="0"/>
            <a:r>
              <a:rPr lang="fr-FR" sz="1800" dirty="0"/>
              <a:t>Estimation de l’impédance humain au cours d’une tâche rythmique</a:t>
            </a:r>
          </a:p>
        </p:txBody>
      </p:sp>
      <p:sp>
        <p:nvSpPr>
          <p:cNvPr id="9" name="Rectangle 8"/>
          <p:cNvSpPr/>
          <p:nvPr/>
        </p:nvSpPr>
        <p:spPr>
          <a:xfrm rot="19559597">
            <a:off x="8797826" y="3168470"/>
            <a:ext cx="520105" cy="161210"/>
          </a:xfrm>
          <a:prstGeom prst="rect">
            <a:avLst/>
          </a:prstGeom>
          <a:gradFill flip="none" rotWithShape="1">
            <a:gsLst>
              <a:gs pos="0">
                <a:srgbClr val="EEA81C"/>
              </a:gs>
              <a:gs pos="100000">
                <a:srgbClr val="E7992F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47537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207132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 dirty="0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12</a:t>
            </a:fld>
            <a:endParaRPr lang="fr-FR" sz="1200">
              <a:solidFill>
                <a:schemeClr val="bg1"/>
              </a:solidFill>
            </a:endParaRPr>
          </a:p>
        </p:txBody>
      </p:sp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21675" y="1684846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dirty="0"/>
              <a:t>KUKA </a:t>
            </a:r>
            <a:r>
              <a:rPr lang="fr-FR" dirty="0" err="1"/>
              <a:t>YouBot</a:t>
            </a:r>
            <a:endParaRPr lang="fr-FR" dirty="0"/>
          </a:p>
        </p:txBody>
      </p: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EC2502CC-C485-B14B-9809-D7E571C386DE}"/>
              </a:ext>
            </a:extLst>
          </p:cNvPr>
          <p:cNvGrpSpPr/>
          <p:nvPr/>
        </p:nvGrpSpPr>
        <p:grpSpPr>
          <a:xfrm>
            <a:off x="2851500" y="3281477"/>
            <a:ext cx="619528" cy="425742"/>
            <a:chOff x="7022592" y="3486030"/>
            <a:chExt cx="619528" cy="425742"/>
          </a:xfrm>
          <a:solidFill>
            <a:schemeClr val="bg1">
              <a:lumMod val="50000"/>
            </a:schemeClr>
          </a:solidFill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8C5B7E10-489E-3745-B8FA-3D754BFFB118}"/>
                </a:ext>
              </a:extLst>
            </p:cNvPr>
            <p:cNvSpPr/>
            <p:nvPr/>
          </p:nvSpPr>
          <p:spPr>
            <a:xfrm rot="5400000">
              <a:off x="7236344" y="3595884"/>
              <a:ext cx="146304" cy="212871"/>
            </a:xfrm>
            <a:prstGeom prst="rect">
              <a:avLst/>
            </a:prstGeom>
            <a:grp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Ellipse 19">
              <a:extLst>
                <a:ext uri="{FF2B5EF4-FFF2-40B4-BE49-F238E27FC236}">
                  <a16:creationId xmlns:a16="http://schemas.microsoft.com/office/drawing/2014/main" id="{C7310D9B-F38C-2740-89CC-6F4578632818}"/>
                </a:ext>
              </a:extLst>
            </p:cNvPr>
            <p:cNvSpPr/>
            <p:nvPr/>
          </p:nvSpPr>
          <p:spPr>
            <a:xfrm>
              <a:off x="7367800" y="3571276"/>
              <a:ext cx="274320" cy="274320"/>
            </a:xfrm>
            <a:prstGeom prst="ellipse">
              <a:avLst/>
            </a:prstGeom>
            <a:grp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0629ECAA-9880-A742-BA8F-A20CCD58228F}"/>
                </a:ext>
              </a:extLst>
            </p:cNvPr>
            <p:cNvSpPr/>
            <p:nvPr/>
          </p:nvSpPr>
          <p:spPr>
            <a:xfrm>
              <a:off x="7022592" y="3486030"/>
              <a:ext cx="228600" cy="425742"/>
            </a:xfrm>
            <a:prstGeom prst="rect">
              <a:avLst/>
            </a:prstGeom>
            <a:grp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5B598145-77C2-0B4F-B7B2-DF32449A6ACB}"/>
              </a:ext>
            </a:extLst>
          </p:cNvPr>
          <p:cNvGrpSpPr/>
          <p:nvPr/>
        </p:nvGrpSpPr>
        <p:grpSpPr>
          <a:xfrm>
            <a:off x="633186" y="3090454"/>
            <a:ext cx="2338143" cy="2033821"/>
            <a:chOff x="2541232" y="3302638"/>
            <a:chExt cx="2338143" cy="2033821"/>
          </a:xfrm>
          <a:solidFill>
            <a:srgbClr val="E7992F"/>
          </a:solidFill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FE0ACB6-13D0-BD46-99AC-42C5AD799967}"/>
                </a:ext>
              </a:extLst>
            </p:cNvPr>
            <p:cNvSpPr/>
            <p:nvPr/>
          </p:nvSpPr>
          <p:spPr>
            <a:xfrm>
              <a:off x="2798064" y="5111497"/>
              <a:ext cx="950975" cy="224962"/>
            </a:xfrm>
            <a:prstGeom prst="rect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2A3066CD-A820-0549-A169-1295B7FB25E0}"/>
                </a:ext>
              </a:extLst>
            </p:cNvPr>
            <p:cNvSpPr/>
            <p:nvPr/>
          </p:nvSpPr>
          <p:spPr>
            <a:xfrm rot="13787616">
              <a:off x="2620561" y="4467163"/>
              <a:ext cx="902046" cy="364472"/>
            </a:xfrm>
            <a:prstGeom prst="rect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DDF62B4-F929-7940-91DF-45C4739885B0}"/>
                </a:ext>
              </a:extLst>
            </p:cNvPr>
            <p:cNvSpPr/>
            <p:nvPr/>
          </p:nvSpPr>
          <p:spPr>
            <a:xfrm rot="19750510">
              <a:off x="2638674" y="3671163"/>
              <a:ext cx="1358573" cy="364472"/>
            </a:xfrm>
            <a:prstGeom prst="rect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EB26E58-1F63-4746-991C-F360E1BE12BD}"/>
                </a:ext>
              </a:extLst>
            </p:cNvPr>
            <p:cNvSpPr/>
            <p:nvPr/>
          </p:nvSpPr>
          <p:spPr>
            <a:xfrm rot="1109954">
              <a:off x="3896159" y="3446931"/>
              <a:ext cx="677727" cy="364472"/>
            </a:xfrm>
            <a:prstGeom prst="rect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530A69AE-1A18-F84B-A65F-9A6C6C5F2757}"/>
                </a:ext>
              </a:extLst>
            </p:cNvPr>
            <p:cNvSpPr/>
            <p:nvPr/>
          </p:nvSpPr>
          <p:spPr>
            <a:xfrm>
              <a:off x="2541232" y="3939204"/>
              <a:ext cx="530352" cy="530352"/>
            </a:xfrm>
            <a:prstGeom prst="ellipse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A4F43755-53EC-FB48-89C2-212DEE9CDF6E}"/>
                </a:ext>
              </a:extLst>
            </p:cNvPr>
            <p:cNvSpPr/>
            <p:nvPr/>
          </p:nvSpPr>
          <p:spPr>
            <a:xfrm>
              <a:off x="3006711" y="4735288"/>
              <a:ext cx="530352" cy="530352"/>
            </a:xfrm>
            <a:prstGeom prst="ellipse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949840F9-D9E3-C141-924C-BDC1D6E80D00}"/>
                </a:ext>
              </a:extLst>
            </p:cNvPr>
            <p:cNvSpPr/>
            <p:nvPr/>
          </p:nvSpPr>
          <p:spPr>
            <a:xfrm>
              <a:off x="3608392" y="3302638"/>
              <a:ext cx="530352" cy="530352"/>
            </a:xfrm>
            <a:prstGeom prst="ellipse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Ellipse 32">
              <a:extLst>
                <a:ext uri="{FF2B5EF4-FFF2-40B4-BE49-F238E27FC236}">
                  <a16:creationId xmlns:a16="http://schemas.microsoft.com/office/drawing/2014/main" id="{F04DCE65-2A17-FF4C-BC7A-83C34DA093AD}"/>
                </a:ext>
              </a:extLst>
            </p:cNvPr>
            <p:cNvSpPr/>
            <p:nvPr/>
          </p:nvSpPr>
          <p:spPr>
            <a:xfrm>
              <a:off x="4349023" y="3445775"/>
              <a:ext cx="530352" cy="530352"/>
            </a:xfrm>
            <a:prstGeom prst="ellipse">
              <a:avLst/>
            </a:prstGeom>
            <a:grpFill/>
            <a:ln>
              <a:solidFill>
                <a:srgbClr val="AB6E32"/>
              </a:solidFill>
            </a:ln>
          </p:spPr>
          <p:style>
            <a:lnRef idx="2">
              <a:schemeClr val="accent3">
                <a:shade val="50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4" name="Rectangle 33">
            <a:extLst>
              <a:ext uri="{FF2B5EF4-FFF2-40B4-BE49-F238E27FC236}">
                <a16:creationId xmlns:a16="http://schemas.microsoft.com/office/drawing/2014/main" id="{D2C6E9AD-41A8-CE4D-B217-4BA97A9378D3}"/>
              </a:ext>
            </a:extLst>
          </p:cNvPr>
          <p:cNvSpPr/>
          <p:nvPr/>
        </p:nvSpPr>
        <p:spPr>
          <a:xfrm>
            <a:off x="756843" y="5137046"/>
            <a:ext cx="1229471" cy="328172"/>
          </a:xfrm>
          <a:prstGeom prst="rect">
            <a:avLst/>
          </a:prstGeom>
          <a:solidFill>
            <a:schemeClr val="bg2">
              <a:lumMod val="25000"/>
            </a:schemeClr>
          </a:solidFill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8" name="Rectangle à coins arrondis 37">
            <a:extLst>
              <a:ext uri="{FF2B5EF4-FFF2-40B4-BE49-F238E27FC236}">
                <a16:creationId xmlns:a16="http://schemas.microsoft.com/office/drawing/2014/main" id="{19EFC910-4AA8-C94A-9650-004DAE5343D2}"/>
              </a:ext>
            </a:extLst>
          </p:cNvPr>
          <p:cNvSpPr/>
          <p:nvPr/>
        </p:nvSpPr>
        <p:spPr>
          <a:xfrm>
            <a:off x="309911" y="2424263"/>
            <a:ext cx="3841574" cy="474444"/>
          </a:xfrm>
          <a:prstGeom prst="roundRect">
            <a:avLst>
              <a:gd name="adj" fmla="val 8292"/>
            </a:avLst>
          </a:prstGeom>
          <a:solidFill>
            <a:schemeClr val="accent2">
              <a:lumMod val="25000"/>
              <a:lumOff val="75000"/>
            </a:schemeClr>
          </a:solidFill>
          <a:ln>
            <a:solidFill>
              <a:schemeClr val="accent2">
                <a:lumMod val="90000"/>
                <a:lumOff val="1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Hardware control (moteurs, capteurs…)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914C8F1-584D-6A47-B6AD-C6634280DD02}"/>
              </a:ext>
            </a:extLst>
          </p:cNvPr>
          <p:cNvSpPr/>
          <p:nvPr/>
        </p:nvSpPr>
        <p:spPr>
          <a:xfrm>
            <a:off x="3413827" y="5927319"/>
            <a:ext cx="1158173" cy="345233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2" name="Forme libre 41">
            <a:extLst>
              <a:ext uri="{FF2B5EF4-FFF2-40B4-BE49-F238E27FC236}">
                <a16:creationId xmlns:a16="http://schemas.microsoft.com/office/drawing/2014/main" id="{109AF74F-B8CF-AA42-AB7A-D4EEA5AB122B}"/>
              </a:ext>
            </a:extLst>
          </p:cNvPr>
          <p:cNvSpPr/>
          <p:nvPr/>
        </p:nvSpPr>
        <p:spPr>
          <a:xfrm flipV="1">
            <a:off x="1098665" y="5465217"/>
            <a:ext cx="2315162" cy="786610"/>
          </a:xfrm>
          <a:custGeom>
            <a:avLst/>
            <a:gdLst>
              <a:gd name="connsiteX0" fmla="*/ 1689519 w 1689519"/>
              <a:gd name="connsiteY0" fmla="*/ 0 h 2706624"/>
              <a:gd name="connsiteX1" fmla="*/ 1058583 w 1689519"/>
              <a:gd name="connsiteY1" fmla="*/ 164592 h 2706624"/>
              <a:gd name="connsiteX2" fmla="*/ 1049439 w 1689519"/>
              <a:gd name="connsiteY2" fmla="*/ 868680 h 2706624"/>
              <a:gd name="connsiteX3" fmla="*/ 509943 w 1689519"/>
              <a:gd name="connsiteY3" fmla="*/ 1106424 h 2706624"/>
              <a:gd name="connsiteX4" fmla="*/ 500799 w 1689519"/>
              <a:gd name="connsiteY4" fmla="*/ 1810512 h 2706624"/>
              <a:gd name="connsiteX5" fmla="*/ 16167 w 1689519"/>
              <a:gd name="connsiteY5" fmla="*/ 2011680 h 2706624"/>
              <a:gd name="connsiteX6" fmla="*/ 162471 w 1689519"/>
              <a:gd name="connsiteY6" fmla="*/ 2706624 h 2706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9519" h="2706624">
                <a:moveTo>
                  <a:pt x="1689519" y="0"/>
                </a:moveTo>
                <a:cubicBezTo>
                  <a:pt x="1427391" y="9906"/>
                  <a:pt x="1165263" y="19812"/>
                  <a:pt x="1058583" y="164592"/>
                </a:cubicBezTo>
                <a:cubicBezTo>
                  <a:pt x="951903" y="309372"/>
                  <a:pt x="1140879" y="711708"/>
                  <a:pt x="1049439" y="868680"/>
                </a:cubicBezTo>
                <a:cubicBezTo>
                  <a:pt x="957999" y="1025652"/>
                  <a:pt x="601383" y="949452"/>
                  <a:pt x="509943" y="1106424"/>
                </a:cubicBezTo>
                <a:cubicBezTo>
                  <a:pt x="418503" y="1263396"/>
                  <a:pt x="583095" y="1659636"/>
                  <a:pt x="500799" y="1810512"/>
                </a:cubicBezTo>
                <a:cubicBezTo>
                  <a:pt x="418503" y="1961388"/>
                  <a:pt x="72555" y="1862328"/>
                  <a:pt x="16167" y="2011680"/>
                </a:cubicBezTo>
                <a:cubicBezTo>
                  <a:pt x="-40221" y="2161032"/>
                  <a:pt x="61125" y="2433828"/>
                  <a:pt x="162471" y="2706624"/>
                </a:cubicBezTo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63B5C9E5-B78F-2D40-A74A-542AE71618BA}"/>
              </a:ext>
            </a:extLst>
          </p:cNvPr>
          <p:cNvSpPr/>
          <p:nvPr/>
        </p:nvSpPr>
        <p:spPr>
          <a:xfrm>
            <a:off x="3702253" y="6012084"/>
            <a:ext cx="59504" cy="59504"/>
          </a:xfrm>
          <a:prstGeom prst="ellips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5" name="Ellipse 44">
            <a:extLst>
              <a:ext uri="{FF2B5EF4-FFF2-40B4-BE49-F238E27FC236}">
                <a16:creationId xmlns:a16="http://schemas.microsoft.com/office/drawing/2014/main" id="{298A471E-2E95-C546-96AA-EFE5D0C663D0}"/>
              </a:ext>
            </a:extLst>
          </p:cNvPr>
          <p:cNvSpPr/>
          <p:nvPr/>
        </p:nvSpPr>
        <p:spPr>
          <a:xfrm>
            <a:off x="3838297" y="6021228"/>
            <a:ext cx="59504" cy="59504"/>
          </a:xfrm>
          <a:prstGeom prst="ellipse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17" name="Connecteur droit 16">
            <a:extLst>
              <a:ext uri="{FF2B5EF4-FFF2-40B4-BE49-F238E27FC236}">
                <a16:creationId xmlns:a16="http://schemas.microsoft.com/office/drawing/2014/main" id="{D463E2AD-1D5B-A749-BF07-511040ACE7AC}"/>
              </a:ext>
            </a:extLst>
          </p:cNvPr>
          <p:cNvCxnSpPr>
            <a:cxnSpLocks/>
          </p:cNvCxnSpPr>
          <p:nvPr/>
        </p:nvCxnSpPr>
        <p:spPr>
          <a:xfrm>
            <a:off x="4307305" y="2045368"/>
            <a:ext cx="0" cy="4485040"/>
          </a:xfrm>
          <a:prstGeom prst="line">
            <a:avLst/>
          </a:prstGeom>
          <a:ln w="28575"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à coins arrondis 46">
            <a:extLst>
              <a:ext uri="{FF2B5EF4-FFF2-40B4-BE49-F238E27FC236}">
                <a16:creationId xmlns:a16="http://schemas.microsoft.com/office/drawing/2014/main" id="{29E1BB07-6704-474F-9033-D1217B9DC097}"/>
              </a:ext>
            </a:extLst>
          </p:cNvPr>
          <p:cNvSpPr/>
          <p:nvPr/>
        </p:nvSpPr>
        <p:spPr>
          <a:xfrm>
            <a:off x="3750381" y="3995873"/>
            <a:ext cx="1122526" cy="718560"/>
          </a:xfrm>
          <a:prstGeom prst="roundRect">
            <a:avLst>
              <a:gd name="adj" fmla="val 8292"/>
            </a:avLst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dirty="0" err="1">
                <a:solidFill>
                  <a:sysClr val="windowText" lastClr="000000"/>
                </a:solidFill>
              </a:rPr>
              <a:t>Ethercat</a:t>
            </a:r>
            <a:endParaRPr lang="fr-FR" dirty="0">
              <a:solidFill>
                <a:sysClr val="windowText" lastClr="000000"/>
              </a:solidFill>
            </a:endParaRPr>
          </a:p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Interface</a:t>
            </a:r>
          </a:p>
        </p:txBody>
      </p:sp>
      <p:sp>
        <p:nvSpPr>
          <p:cNvPr id="49" name="Rectangle à coins arrondis 48">
            <a:extLst>
              <a:ext uri="{FF2B5EF4-FFF2-40B4-BE49-F238E27FC236}">
                <a16:creationId xmlns:a16="http://schemas.microsoft.com/office/drawing/2014/main" id="{0944367E-E1F8-B346-B2D9-B8CA8207407F}"/>
              </a:ext>
            </a:extLst>
          </p:cNvPr>
          <p:cNvSpPr/>
          <p:nvPr/>
        </p:nvSpPr>
        <p:spPr>
          <a:xfrm>
            <a:off x="6436895" y="3620806"/>
            <a:ext cx="1419726" cy="1278507"/>
          </a:xfrm>
          <a:prstGeom prst="roundRect">
            <a:avLst/>
          </a:prstGeom>
          <a:solidFill>
            <a:schemeClr val="bg2"/>
          </a:solidFill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0" name="Trapèze 49">
            <a:extLst>
              <a:ext uri="{FF2B5EF4-FFF2-40B4-BE49-F238E27FC236}">
                <a16:creationId xmlns:a16="http://schemas.microsoft.com/office/drawing/2014/main" id="{12497842-412E-0141-A47F-BA9E4DA64559}"/>
              </a:ext>
            </a:extLst>
          </p:cNvPr>
          <p:cNvSpPr/>
          <p:nvPr/>
        </p:nvSpPr>
        <p:spPr>
          <a:xfrm>
            <a:off x="6858000" y="4947265"/>
            <a:ext cx="601579" cy="371333"/>
          </a:xfrm>
          <a:prstGeom prst="trapezoi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1" name="Trapèze 50">
            <a:extLst>
              <a:ext uri="{FF2B5EF4-FFF2-40B4-BE49-F238E27FC236}">
                <a16:creationId xmlns:a16="http://schemas.microsoft.com/office/drawing/2014/main" id="{44854E56-DD53-0F4B-BC38-EC3D3059D8EB}"/>
              </a:ext>
            </a:extLst>
          </p:cNvPr>
          <p:cNvSpPr/>
          <p:nvPr/>
        </p:nvSpPr>
        <p:spPr>
          <a:xfrm>
            <a:off x="6426485" y="5366550"/>
            <a:ext cx="1435201" cy="423305"/>
          </a:xfrm>
          <a:prstGeom prst="trapezoid">
            <a:avLst/>
          </a:prstGeom>
          <a:ln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53" name="Connecteur droit 52">
            <a:extLst>
              <a:ext uri="{FF2B5EF4-FFF2-40B4-BE49-F238E27FC236}">
                <a16:creationId xmlns:a16="http://schemas.microsoft.com/office/drawing/2014/main" id="{90E7A496-9026-A54A-82F7-B9279D0F43DF}"/>
              </a:ext>
            </a:extLst>
          </p:cNvPr>
          <p:cNvCxnSpPr>
            <a:cxnSpLocks/>
          </p:cNvCxnSpPr>
          <p:nvPr/>
        </p:nvCxnSpPr>
        <p:spPr>
          <a:xfrm>
            <a:off x="6509561" y="5465217"/>
            <a:ext cx="1272909" cy="1042"/>
          </a:xfrm>
          <a:prstGeom prst="line">
            <a:avLst/>
          </a:prstGeom>
          <a:ln>
            <a:solidFill>
              <a:srgbClr val="0B2B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eur droit 57">
            <a:extLst>
              <a:ext uri="{FF2B5EF4-FFF2-40B4-BE49-F238E27FC236}">
                <a16:creationId xmlns:a16="http://schemas.microsoft.com/office/drawing/2014/main" id="{DCA63C41-8F7E-E044-A24E-37494F174E18}"/>
              </a:ext>
            </a:extLst>
          </p:cNvPr>
          <p:cNvCxnSpPr>
            <a:cxnSpLocks/>
          </p:cNvCxnSpPr>
          <p:nvPr/>
        </p:nvCxnSpPr>
        <p:spPr>
          <a:xfrm flipV="1">
            <a:off x="6492777" y="5538767"/>
            <a:ext cx="1309834" cy="2314"/>
          </a:xfrm>
          <a:prstGeom prst="line">
            <a:avLst/>
          </a:prstGeom>
          <a:ln>
            <a:solidFill>
              <a:srgbClr val="0B2B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59">
            <a:extLst>
              <a:ext uri="{FF2B5EF4-FFF2-40B4-BE49-F238E27FC236}">
                <a16:creationId xmlns:a16="http://schemas.microsoft.com/office/drawing/2014/main" id="{F9C27994-BB9D-5F45-8A15-4EA0D38E4AAD}"/>
              </a:ext>
            </a:extLst>
          </p:cNvPr>
          <p:cNvCxnSpPr>
            <a:cxnSpLocks/>
          </p:cNvCxnSpPr>
          <p:nvPr/>
        </p:nvCxnSpPr>
        <p:spPr>
          <a:xfrm>
            <a:off x="6476664" y="5617618"/>
            <a:ext cx="1342060" cy="1712"/>
          </a:xfrm>
          <a:prstGeom prst="line">
            <a:avLst/>
          </a:prstGeom>
          <a:ln>
            <a:solidFill>
              <a:srgbClr val="0B2B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61">
            <a:extLst>
              <a:ext uri="{FF2B5EF4-FFF2-40B4-BE49-F238E27FC236}">
                <a16:creationId xmlns:a16="http://schemas.microsoft.com/office/drawing/2014/main" id="{C9BC5A15-370C-F246-989E-396588E7A643}"/>
              </a:ext>
            </a:extLst>
          </p:cNvPr>
          <p:cNvCxnSpPr>
            <a:cxnSpLocks/>
          </p:cNvCxnSpPr>
          <p:nvPr/>
        </p:nvCxnSpPr>
        <p:spPr>
          <a:xfrm>
            <a:off x="6452149" y="5698281"/>
            <a:ext cx="1390744" cy="1613"/>
          </a:xfrm>
          <a:prstGeom prst="line">
            <a:avLst/>
          </a:prstGeom>
          <a:ln>
            <a:solidFill>
              <a:srgbClr val="0B2B4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Forme libre 66">
            <a:extLst>
              <a:ext uri="{FF2B5EF4-FFF2-40B4-BE49-F238E27FC236}">
                <a16:creationId xmlns:a16="http://schemas.microsoft.com/office/drawing/2014/main" id="{2500E259-CA34-0C4B-847C-2041E65DEBDF}"/>
              </a:ext>
            </a:extLst>
          </p:cNvPr>
          <p:cNvSpPr/>
          <p:nvPr/>
        </p:nvSpPr>
        <p:spPr>
          <a:xfrm flipH="1" flipV="1">
            <a:off x="4584120" y="5803826"/>
            <a:ext cx="3608904" cy="432805"/>
          </a:xfrm>
          <a:custGeom>
            <a:avLst/>
            <a:gdLst>
              <a:gd name="connsiteX0" fmla="*/ 1689519 w 1689519"/>
              <a:gd name="connsiteY0" fmla="*/ 0 h 2706624"/>
              <a:gd name="connsiteX1" fmla="*/ 1058583 w 1689519"/>
              <a:gd name="connsiteY1" fmla="*/ 164592 h 2706624"/>
              <a:gd name="connsiteX2" fmla="*/ 1049439 w 1689519"/>
              <a:gd name="connsiteY2" fmla="*/ 868680 h 2706624"/>
              <a:gd name="connsiteX3" fmla="*/ 509943 w 1689519"/>
              <a:gd name="connsiteY3" fmla="*/ 1106424 h 2706624"/>
              <a:gd name="connsiteX4" fmla="*/ 500799 w 1689519"/>
              <a:gd name="connsiteY4" fmla="*/ 1810512 h 2706624"/>
              <a:gd name="connsiteX5" fmla="*/ 16167 w 1689519"/>
              <a:gd name="connsiteY5" fmla="*/ 2011680 h 2706624"/>
              <a:gd name="connsiteX6" fmla="*/ 162471 w 1689519"/>
              <a:gd name="connsiteY6" fmla="*/ 2706624 h 270662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9519" h="2706624">
                <a:moveTo>
                  <a:pt x="1689519" y="0"/>
                </a:moveTo>
                <a:cubicBezTo>
                  <a:pt x="1427391" y="9906"/>
                  <a:pt x="1165263" y="19812"/>
                  <a:pt x="1058583" y="164592"/>
                </a:cubicBezTo>
                <a:cubicBezTo>
                  <a:pt x="951903" y="309372"/>
                  <a:pt x="1140879" y="711708"/>
                  <a:pt x="1049439" y="868680"/>
                </a:cubicBezTo>
                <a:cubicBezTo>
                  <a:pt x="957999" y="1025652"/>
                  <a:pt x="601383" y="949452"/>
                  <a:pt x="509943" y="1106424"/>
                </a:cubicBezTo>
                <a:cubicBezTo>
                  <a:pt x="418503" y="1263396"/>
                  <a:pt x="583095" y="1659636"/>
                  <a:pt x="500799" y="1810512"/>
                </a:cubicBezTo>
                <a:cubicBezTo>
                  <a:pt x="418503" y="1961388"/>
                  <a:pt x="72555" y="1862328"/>
                  <a:pt x="16167" y="2011680"/>
                </a:cubicBezTo>
                <a:cubicBezTo>
                  <a:pt x="-40221" y="2161032"/>
                  <a:pt x="61125" y="2433828"/>
                  <a:pt x="162471" y="2706624"/>
                </a:cubicBezTo>
              </a:path>
            </a:pathLst>
          </a:cu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8" name="Rectangle à coins arrondis 67">
            <a:extLst>
              <a:ext uri="{FF2B5EF4-FFF2-40B4-BE49-F238E27FC236}">
                <a16:creationId xmlns:a16="http://schemas.microsoft.com/office/drawing/2014/main" id="{4830FF57-421D-364B-9574-5A977AE13049}"/>
              </a:ext>
            </a:extLst>
          </p:cNvPr>
          <p:cNvSpPr/>
          <p:nvPr/>
        </p:nvSpPr>
        <p:spPr>
          <a:xfrm>
            <a:off x="4777477" y="2424263"/>
            <a:ext cx="1910377" cy="474444"/>
          </a:xfrm>
          <a:prstGeom prst="roundRect">
            <a:avLst>
              <a:gd name="adj" fmla="val 8292"/>
            </a:avLst>
          </a:prstGeom>
          <a:solidFill>
            <a:schemeClr val="accent2">
              <a:lumMod val="25000"/>
              <a:lumOff val="75000"/>
            </a:schemeClr>
          </a:solidFill>
          <a:ln>
            <a:solidFill>
              <a:schemeClr val="accent2">
                <a:lumMod val="90000"/>
                <a:lumOff val="1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dirty="0" err="1">
                <a:solidFill>
                  <a:sysClr val="windowText" lastClr="000000"/>
                </a:solidFill>
              </a:rPr>
              <a:t>YouBot</a:t>
            </a:r>
            <a:r>
              <a:rPr lang="fr-FR" dirty="0">
                <a:solidFill>
                  <a:sysClr val="windowText" lastClr="000000"/>
                </a:solidFill>
              </a:rPr>
              <a:t> API (C++)</a:t>
            </a:r>
          </a:p>
        </p:txBody>
      </p:sp>
      <p:cxnSp>
        <p:nvCxnSpPr>
          <p:cNvPr id="69" name="Connecteur droit 68">
            <a:extLst>
              <a:ext uri="{FF2B5EF4-FFF2-40B4-BE49-F238E27FC236}">
                <a16:creationId xmlns:a16="http://schemas.microsoft.com/office/drawing/2014/main" id="{8C32D15F-CC0D-C04B-A4A6-2927B0525A7F}"/>
              </a:ext>
            </a:extLst>
          </p:cNvPr>
          <p:cNvCxnSpPr>
            <a:cxnSpLocks/>
          </p:cNvCxnSpPr>
          <p:nvPr/>
        </p:nvCxnSpPr>
        <p:spPr>
          <a:xfrm>
            <a:off x="7152105" y="2045368"/>
            <a:ext cx="0" cy="4485040"/>
          </a:xfrm>
          <a:prstGeom prst="line">
            <a:avLst/>
          </a:prstGeom>
          <a:ln w="28575"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à coins arrondis 69">
            <a:extLst>
              <a:ext uri="{FF2B5EF4-FFF2-40B4-BE49-F238E27FC236}">
                <a16:creationId xmlns:a16="http://schemas.microsoft.com/office/drawing/2014/main" id="{FC5EFE13-5D56-C245-B794-53E46C94FD0E}"/>
              </a:ext>
            </a:extLst>
          </p:cNvPr>
          <p:cNvSpPr/>
          <p:nvPr/>
        </p:nvSpPr>
        <p:spPr>
          <a:xfrm>
            <a:off x="7547566" y="2424263"/>
            <a:ext cx="2449339" cy="729306"/>
          </a:xfrm>
          <a:prstGeom prst="roundRect">
            <a:avLst>
              <a:gd name="adj" fmla="val 8292"/>
            </a:avLst>
          </a:prstGeom>
          <a:solidFill>
            <a:schemeClr val="accent2">
              <a:lumMod val="25000"/>
              <a:lumOff val="75000"/>
            </a:schemeClr>
          </a:solidFill>
          <a:ln>
            <a:solidFill>
              <a:schemeClr val="accent2">
                <a:lumMod val="90000"/>
                <a:lumOff val="10000"/>
              </a:schemeClr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ROS </a:t>
            </a:r>
            <a:r>
              <a:rPr lang="fr-FR" dirty="0" err="1">
                <a:solidFill>
                  <a:sysClr val="windowText" lastClr="000000"/>
                </a:solidFill>
              </a:rPr>
              <a:t>nodes</a:t>
            </a:r>
            <a:r>
              <a:rPr lang="fr-FR" dirty="0">
                <a:solidFill>
                  <a:sysClr val="windowText" lastClr="000000"/>
                </a:solidFill>
              </a:rPr>
              <a:t> (simulation, transparence…)</a:t>
            </a:r>
          </a:p>
        </p:txBody>
      </p:sp>
      <p:sp>
        <p:nvSpPr>
          <p:cNvPr id="71" name="Rectangle à coins arrondis 70">
            <a:extLst>
              <a:ext uri="{FF2B5EF4-FFF2-40B4-BE49-F238E27FC236}">
                <a16:creationId xmlns:a16="http://schemas.microsoft.com/office/drawing/2014/main" id="{5BC4F41F-0061-964B-9AD3-9D9921C983C6}"/>
              </a:ext>
            </a:extLst>
          </p:cNvPr>
          <p:cNvSpPr/>
          <p:nvPr/>
        </p:nvSpPr>
        <p:spPr>
          <a:xfrm>
            <a:off x="6589349" y="3881541"/>
            <a:ext cx="1122526" cy="718560"/>
          </a:xfrm>
          <a:prstGeom prst="roundRect">
            <a:avLst>
              <a:gd name="adj" fmla="val 8292"/>
            </a:avLst>
          </a:prstGeom>
          <a:ln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0000" tIns="90000" bIns="90000" rtlCol="0" anchor="t"/>
          <a:lstStyle/>
          <a:p>
            <a:pPr algn="ctr"/>
            <a:r>
              <a:rPr lang="fr-FR" dirty="0">
                <a:solidFill>
                  <a:sysClr val="windowText" lastClr="000000"/>
                </a:solidFill>
              </a:rPr>
              <a:t>ROS interface</a:t>
            </a:r>
          </a:p>
        </p:txBody>
      </p:sp>
      <p:sp>
        <p:nvSpPr>
          <p:cNvPr id="72" name="ZoneTexte 71">
            <a:extLst>
              <a:ext uri="{FF2B5EF4-FFF2-40B4-BE49-F238E27FC236}">
                <a16:creationId xmlns:a16="http://schemas.microsoft.com/office/drawing/2014/main" id="{AAEFE7A3-A3E4-D14E-9D44-3E0FF891773C}"/>
              </a:ext>
            </a:extLst>
          </p:cNvPr>
          <p:cNvSpPr txBox="1"/>
          <p:nvPr/>
        </p:nvSpPr>
        <p:spPr>
          <a:xfrm>
            <a:off x="1310803" y="3975115"/>
            <a:ext cx="1705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5 axes actionnés</a:t>
            </a:r>
          </a:p>
        </p:txBody>
      </p:sp>
      <p:sp>
        <p:nvSpPr>
          <p:cNvPr id="75" name="ZoneTexte 74">
            <a:extLst>
              <a:ext uri="{FF2B5EF4-FFF2-40B4-BE49-F238E27FC236}">
                <a16:creationId xmlns:a16="http://schemas.microsoft.com/office/drawing/2014/main" id="{67D63A7F-321F-6043-9A99-24F4F0D03312}"/>
              </a:ext>
            </a:extLst>
          </p:cNvPr>
          <p:cNvSpPr txBox="1"/>
          <p:nvPr/>
        </p:nvSpPr>
        <p:spPr>
          <a:xfrm>
            <a:off x="8695078" y="4305872"/>
            <a:ext cx="689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1 kHz</a:t>
            </a:r>
          </a:p>
        </p:txBody>
      </p:sp>
      <p:sp>
        <p:nvSpPr>
          <p:cNvPr id="76" name="Flèche en arc 75">
            <a:extLst>
              <a:ext uri="{FF2B5EF4-FFF2-40B4-BE49-F238E27FC236}">
                <a16:creationId xmlns:a16="http://schemas.microsoft.com/office/drawing/2014/main" id="{C46D0242-10F7-824B-8280-9553DC8A4582}"/>
              </a:ext>
            </a:extLst>
          </p:cNvPr>
          <p:cNvSpPr/>
          <p:nvPr/>
        </p:nvSpPr>
        <p:spPr>
          <a:xfrm>
            <a:off x="8556577" y="3881541"/>
            <a:ext cx="978408" cy="978408"/>
          </a:xfrm>
          <a:prstGeom prst="circular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7" name="Flèche en arc 76">
            <a:extLst>
              <a:ext uri="{FF2B5EF4-FFF2-40B4-BE49-F238E27FC236}">
                <a16:creationId xmlns:a16="http://schemas.microsoft.com/office/drawing/2014/main" id="{0EEDA836-15E6-2642-9E7C-0B0E48BCD08A}"/>
              </a:ext>
            </a:extLst>
          </p:cNvPr>
          <p:cNvSpPr/>
          <p:nvPr/>
        </p:nvSpPr>
        <p:spPr>
          <a:xfrm rot="10800000">
            <a:off x="8556577" y="4097454"/>
            <a:ext cx="978408" cy="978408"/>
          </a:xfrm>
          <a:prstGeom prst="circular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>
              <a:solidFill>
                <a:schemeClr val="tx1"/>
              </a:solidFill>
            </a:endParaRPr>
          </a:p>
        </p:txBody>
      </p:sp>
      <p:sp>
        <p:nvSpPr>
          <p:cNvPr id="78" name="ZoneTexte 77">
            <a:extLst>
              <a:ext uri="{FF2B5EF4-FFF2-40B4-BE49-F238E27FC236}">
                <a16:creationId xmlns:a16="http://schemas.microsoft.com/office/drawing/2014/main" id="{42A8B3F0-2233-C847-8549-DF241B620090}"/>
              </a:ext>
            </a:extLst>
          </p:cNvPr>
          <p:cNvSpPr txBox="1"/>
          <p:nvPr/>
        </p:nvSpPr>
        <p:spPr>
          <a:xfrm>
            <a:off x="3548406" y="6295606"/>
            <a:ext cx="8880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dirty="0"/>
              <a:t>routeur</a:t>
            </a:r>
          </a:p>
        </p:txBody>
      </p:sp>
    </p:spTree>
    <p:extLst>
      <p:ext uri="{BB962C8B-B14F-4D97-AF65-F5344CB8AC3E}">
        <p14:creationId xmlns:p14="http://schemas.microsoft.com/office/powerpoint/2010/main" val="1140785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207132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13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3186" y="557439"/>
            <a:ext cx="8790214" cy="830997"/>
          </a:xfrm>
        </p:spPr>
        <p:txBody>
          <a:bodyPr rtlCol="0"/>
          <a:lstStyle/>
          <a:p>
            <a:r>
              <a:rPr lang="fr-FR" dirty="0"/>
              <a:t>Commande de robot pour une interaction collaborative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94E4CB7-465F-354F-BE18-E1932A2D6DB8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036" t="31667" r="16999" b="23012"/>
          <a:stretch/>
        </p:blipFill>
        <p:spPr>
          <a:xfrm>
            <a:off x="636054" y="1350794"/>
            <a:ext cx="9245802" cy="4764713"/>
          </a:xfrm>
          <a:prstGeom prst="rect">
            <a:avLst/>
          </a:prstGeom>
        </p:spPr>
      </p:pic>
      <p:sp>
        <p:nvSpPr>
          <p:cNvPr id="20" name="Rectangle à coins arrondis 19">
            <a:extLst>
              <a:ext uri="{FF2B5EF4-FFF2-40B4-BE49-F238E27FC236}">
                <a16:creationId xmlns:a16="http://schemas.microsoft.com/office/drawing/2014/main" id="{2553C628-E97B-3D46-BC8A-A6B560C56CCD}"/>
              </a:ext>
            </a:extLst>
          </p:cNvPr>
          <p:cNvSpPr/>
          <p:nvPr/>
        </p:nvSpPr>
        <p:spPr>
          <a:xfrm>
            <a:off x="146298" y="3197600"/>
            <a:ext cx="510125" cy="382594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600" dirty="0">
                <a:solidFill>
                  <a:schemeClr val="tx1"/>
                </a:solidFill>
                <a:latin typeface="Arial"/>
                <a:cs typeface="Arial"/>
              </a:rPr>
              <a:t>PI</a:t>
            </a:r>
          </a:p>
        </p:txBody>
      </p: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E9E22CEB-0E14-0C48-9AA7-6BC7DBA958DC}"/>
              </a:ext>
            </a:extLst>
          </p:cNvPr>
          <p:cNvCxnSpPr>
            <a:stCxn id="25" idx="0"/>
            <a:endCxn id="20" idx="2"/>
          </p:cNvCxnSpPr>
          <p:nvPr/>
        </p:nvCxnSpPr>
        <p:spPr>
          <a:xfrm flipH="1" flipV="1">
            <a:off x="401361" y="3580194"/>
            <a:ext cx="5606" cy="706832"/>
          </a:xfrm>
          <a:prstGeom prst="straightConnector1">
            <a:avLst/>
          </a:prstGeom>
          <a:ln w="19050" cmpd="sng">
            <a:solidFill>
              <a:srgbClr val="00009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à coins arrondis 24">
            <a:extLst>
              <a:ext uri="{FF2B5EF4-FFF2-40B4-BE49-F238E27FC236}">
                <a16:creationId xmlns:a16="http://schemas.microsoft.com/office/drawing/2014/main" id="{F1A4412C-1691-3C42-91A3-1EE38BEB1750}"/>
              </a:ext>
            </a:extLst>
          </p:cNvPr>
          <p:cNvSpPr/>
          <p:nvPr/>
        </p:nvSpPr>
        <p:spPr>
          <a:xfrm>
            <a:off x="151904" y="4287026"/>
            <a:ext cx="510125" cy="510125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dirty="0">
                <a:solidFill>
                  <a:schemeClr val="tx1"/>
                </a:solidFill>
                <a:latin typeface="Apple Chancery"/>
                <a:cs typeface="Apple Chancery"/>
              </a:rPr>
              <a:t>J</a:t>
            </a:r>
            <a:r>
              <a:rPr lang="fr-FR" sz="1600" baseline="30000" dirty="0">
                <a:solidFill>
                  <a:schemeClr val="tx1"/>
                </a:solidFill>
                <a:latin typeface="Arial"/>
                <a:cs typeface="Arial"/>
              </a:rPr>
              <a:t>T</a:t>
            </a:r>
          </a:p>
        </p:txBody>
      </p:sp>
      <p:cxnSp>
        <p:nvCxnSpPr>
          <p:cNvPr id="26" name="Connecteur en angle 25">
            <a:extLst>
              <a:ext uri="{FF2B5EF4-FFF2-40B4-BE49-F238E27FC236}">
                <a16:creationId xmlns:a16="http://schemas.microsoft.com/office/drawing/2014/main" id="{9167FF29-6DCB-5E4F-A4B4-F57F512EF447}"/>
              </a:ext>
            </a:extLst>
          </p:cNvPr>
          <p:cNvCxnSpPr>
            <a:cxnSpLocks/>
            <a:stCxn id="27" idx="1"/>
            <a:endCxn id="25" idx="2"/>
          </p:cNvCxnSpPr>
          <p:nvPr/>
        </p:nvCxnSpPr>
        <p:spPr>
          <a:xfrm rot="10800000">
            <a:off x="406968" y="4797152"/>
            <a:ext cx="8127433" cy="432711"/>
          </a:xfrm>
          <a:prstGeom prst="bentConnector2">
            <a:avLst/>
          </a:prstGeom>
          <a:ln w="19050" cmpd="sng">
            <a:solidFill>
              <a:srgbClr val="00009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à coins arrondis 26">
            <a:extLst>
              <a:ext uri="{FF2B5EF4-FFF2-40B4-BE49-F238E27FC236}">
                <a16:creationId xmlns:a16="http://schemas.microsoft.com/office/drawing/2014/main" id="{35AF9081-5812-5F4F-913B-A906324F17AD}"/>
              </a:ext>
            </a:extLst>
          </p:cNvPr>
          <p:cNvSpPr/>
          <p:nvPr/>
        </p:nvSpPr>
        <p:spPr>
          <a:xfrm>
            <a:off x="8534400" y="5011423"/>
            <a:ext cx="1131923" cy="436878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800" dirty="0">
                <a:solidFill>
                  <a:schemeClr val="tx1"/>
                </a:solidFill>
                <a:latin typeface="Calibri"/>
                <a:cs typeface="Calibri"/>
              </a:rPr>
              <a:t>F/</a:t>
            </a:r>
            <a:r>
              <a:rPr lang="fr-FR" sz="1800" dirty="0" err="1">
                <a:solidFill>
                  <a:schemeClr val="tx1"/>
                </a:solidFill>
                <a:latin typeface="Calibri"/>
                <a:cs typeface="Calibri"/>
              </a:rPr>
              <a:t>T</a:t>
            </a:r>
            <a:r>
              <a:rPr lang="fr-FR" sz="180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fr-FR" sz="1800" dirty="0" err="1">
                <a:solidFill>
                  <a:schemeClr val="tx1"/>
                </a:solidFill>
                <a:latin typeface="Calibri"/>
                <a:cs typeface="Calibri"/>
              </a:rPr>
              <a:t>sensor</a:t>
            </a:r>
            <a:endParaRPr lang="fr-FR" sz="1200" baseline="30000" dirty="0">
              <a:solidFill>
                <a:schemeClr val="tx1"/>
              </a:solidFill>
              <a:latin typeface="Calibri"/>
              <a:cs typeface="Calibri"/>
            </a:endParaRPr>
          </a:p>
        </p:txBody>
      </p:sp>
      <p:sp>
        <p:nvSpPr>
          <p:cNvPr id="28" name="Flèche à angle droit 27">
            <a:extLst>
              <a:ext uri="{FF2B5EF4-FFF2-40B4-BE49-F238E27FC236}">
                <a16:creationId xmlns:a16="http://schemas.microsoft.com/office/drawing/2014/main" id="{1B64B87C-8A2A-DA4F-AFD7-4852B3A3D495}"/>
              </a:ext>
            </a:extLst>
          </p:cNvPr>
          <p:cNvSpPr/>
          <p:nvPr/>
        </p:nvSpPr>
        <p:spPr>
          <a:xfrm rot="10800000" flipH="1">
            <a:off x="4908244" y="1733876"/>
            <a:ext cx="701422" cy="1530376"/>
          </a:xfrm>
          <a:prstGeom prst="bentUpArrow">
            <a:avLst>
              <a:gd name="adj1" fmla="val 16201"/>
              <a:gd name="adj2" fmla="val 18546"/>
              <a:gd name="adj3" fmla="val 29156"/>
            </a:avLst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9" name="Rectangle à coins arrondis 28">
            <a:extLst>
              <a:ext uri="{FF2B5EF4-FFF2-40B4-BE49-F238E27FC236}">
                <a16:creationId xmlns:a16="http://schemas.microsoft.com/office/drawing/2014/main" id="{3A097771-0EFA-BB41-904A-6BBE9BE1A4E5}"/>
              </a:ext>
            </a:extLst>
          </p:cNvPr>
          <p:cNvSpPr/>
          <p:nvPr/>
        </p:nvSpPr>
        <p:spPr>
          <a:xfrm>
            <a:off x="3975725" y="1609188"/>
            <a:ext cx="956485" cy="382594"/>
          </a:xfrm>
          <a:prstGeom prst="roundRect">
            <a:avLst/>
          </a:prstGeom>
          <a:solidFill>
            <a:schemeClr val="accent4">
              <a:lumMod val="75000"/>
            </a:schemeClr>
          </a:solidFill>
          <a:ln>
            <a:solidFill>
              <a:schemeClr val="accent4">
                <a:lumMod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 anchorCtr="1"/>
          <a:lstStyle/>
          <a:p>
            <a:pPr algn="ctr"/>
            <a:r>
              <a:rPr lang="fr-FR" sz="1200" dirty="0"/>
              <a:t>perturbations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8866" y="1473985"/>
            <a:ext cx="548640" cy="548640"/>
          </a:xfrm>
        </p:spPr>
      </p:pic>
    </p:spTree>
    <p:extLst>
      <p:ext uri="{BB962C8B-B14F-4D97-AF65-F5344CB8AC3E}">
        <p14:creationId xmlns:p14="http://schemas.microsoft.com/office/powerpoint/2010/main" val="894976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space réservé d’image 6">
            <a:extLst>
              <a:ext uri="{FF2B5EF4-FFF2-40B4-BE49-F238E27FC236}">
                <a16:creationId xmlns:a16="http://schemas.microsoft.com/office/drawing/2014/main" id="{3C2A7DCB-B005-424A-8446-ACA533D0BC8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/>
          <a:srcRect l="60955" r="5896"/>
          <a:stretch/>
        </p:blipFill>
        <p:spPr>
          <a:xfrm>
            <a:off x="8125416" y="0"/>
            <a:ext cx="4066584" cy="6858000"/>
          </a:xfrm>
        </p:spPr>
      </p:pic>
      <p:grpSp>
        <p:nvGrpSpPr>
          <p:cNvPr id="11" name="Groupe 10" descr="élément décoratif">
            <a:extLst>
              <a:ext uri="{FF2B5EF4-FFF2-40B4-BE49-F238E27FC236}">
                <a16:creationId xmlns:a16="http://schemas.microsoft.com/office/drawing/2014/main" id="{AB025618-C830-4992-9CD3-D9E49BC79E67}"/>
              </a:ext>
            </a:extLst>
          </p:cNvPr>
          <p:cNvGrpSpPr/>
          <p:nvPr/>
        </p:nvGrpSpPr>
        <p:grpSpPr>
          <a:xfrm>
            <a:off x="2595847" y="0"/>
            <a:ext cx="9207132" cy="6858000"/>
            <a:chOff x="1826589" y="0"/>
            <a:chExt cx="7388298" cy="6858000"/>
          </a:xfrm>
        </p:grpSpPr>
        <p:sp>
          <p:nvSpPr>
            <p:cNvPr id="10" name="Parallélogramme 9">
              <a:extLst>
                <a:ext uri="{FF2B5EF4-FFF2-40B4-BE49-F238E27FC236}">
                  <a16:creationId xmlns:a16="http://schemas.microsoft.com/office/drawing/2014/main" id="{11E692D4-6AEA-4652-A7AE-A02328258A55}"/>
                </a:ext>
              </a:extLst>
            </p:cNvPr>
            <p:cNvSpPr/>
            <p:nvPr/>
          </p:nvSpPr>
          <p:spPr>
            <a:xfrm>
              <a:off x="2618099" y="0"/>
              <a:ext cx="6596788" cy="6858000"/>
            </a:xfrm>
            <a:prstGeom prst="parallelogram">
              <a:avLst/>
            </a:pr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9" name="Parallélogramme 8">
              <a:extLst>
                <a:ext uri="{FF2B5EF4-FFF2-40B4-BE49-F238E27FC236}">
                  <a16:creationId xmlns:a16="http://schemas.microsoft.com/office/drawing/2014/main" id="{A134AA32-2418-4A09-9BA8-ED7207AC0D74}"/>
                </a:ext>
              </a:extLst>
            </p:cNvPr>
            <p:cNvSpPr/>
            <p:nvPr/>
          </p:nvSpPr>
          <p:spPr>
            <a:xfrm>
              <a:off x="2340861" y="0"/>
              <a:ext cx="6596788" cy="6858000"/>
            </a:xfrm>
            <a:prstGeom prst="parallelogram">
              <a:avLst/>
            </a:pr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22" name="Parallélogramme 21">
              <a:extLst>
                <a:ext uri="{FF2B5EF4-FFF2-40B4-BE49-F238E27FC236}">
                  <a16:creationId xmlns:a16="http://schemas.microsoft.com/office/drawing/2014/main" id="{0051AD99-BC4A-487F-BE1C-486FC5B8E9F2}"/>
                </a:ext>
              </a:extLst>
            </p:cNvPr>
            <p:cNvSpPr/>
            <p:nvPr/>
          </p:nvSpPr>
          <p:spPr>
            <a:xfrm>
              <a:off x="1826589" y="0"/>
              <a:ext cx="6596788" cy="6858000"/>
            </a:xfrm>
            <a:prstGeom prst="parallelogram">
              <a:avLst/>
            </a:prstGeom>
            <a:solidFill>
              <a:schemeClr val="bg1">
                <a:alpha val="84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4" name="Rectangle 13" descr="élément décoratif">
            <a:extLst>
              <a:ext uri="{FF2B5EF4-FFF2-40B4-BE49-F238E27FC236}">
                <a16:creationId xmlns:a16="http://schemas.microsoft.com/office/drawing/2014/main" id="{C862BC4D-BD7A-417E-A34A-59CE4D4A6AC8}"/>
              </a:ext>
            </a:extLst>
          </p:cNvPr>
          <p:cNvSpPr/>
          <p:nvPr/>
        </p:nvSpPr>
        <p:spPr>
          <a:xfrm>
            <a:off x="0" y="6355760"/>
            <a:ext cx="12192000" cy="914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15" name="Ovale 14" descr="élément décoratif">
            <a:extLst>
              <a:ext uri="{FF2B5EF4-FFF2-40B4-BE49-F238E27FC236}">
                <a16:creationId xmlns:a16="http://schemas.microsoft.com/office/drawing/2014/main" id="{652937FB-CDE3-46B3-8481-AB5DB8C4BABA}"/>
              </a:ext>
            </a:extLst>
          </p:cNvPr>
          <p:cNvSpPr/>
          <p:nvPr/>
        </p:nvSpPr>
        <p:spPr>
          <a:xfrm>
            <a:off x="11091210" y="6086479"/>
            <a:ext cx="600974" cy="600974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4" name="Espace réservé du numéro de diapositive 5">
            <a:extLst>
              <a:ext uri="{FF2B5EF4-FFF2-40B4-BE49-F238E27FC236}">
                <a16:creationId xmlns:a16="http://schemas.microsoft.com/office/drawing/2014/main" id="{11457662-C1A5-4B93-8E30-88025E27C462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14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24" name="Espace réservé du texte 23">
            <a:extLst>
              <a:ext uri="{FF2B5EF4-FFF2-40B4-BE49-F238E27FC236}">
                <a16:creationId xmlns:a16="http://schemas.microsoft.com/office/drawing/2014/main" id="{C3930A4E-1302-4AC9-86A3-C4E8AF186ED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23" name="Espace réservé du texte 22">
            <a:extLst>
              <a:ext uri="{FF2B5EF4-FFF2-40B4-BE49-F238E27FC236}">
                <a16:creationId xmlns:a16="http://schemas.microsoft.com/office/drawing/2014/main" id="{B88939B0-5B9A-4423-AFD1-CF6B2226879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 dirty="0" err="1"/>
              <a:t>Lorem</a:t>
            </a:r>
            <a:r>
              <a:rPr lang="fr-FR" dirty="0"/>
              <a:t> </a:t>
            </a:r>
            <a:r>
              <a:rPr lang="fr-FR" dirty="0" err="1"/>
              <a:t>ipsum</a:t>
            </a:r>
            <a:r>
              <a:rPr lang="fr-FR" dirty="0"/>
              <a:t> </a:t>
            </a:r>
            <a:r>
              <a:rPr lang="fr-FR" dirty="0" err="1"/>
              <a:t>dolor</a:t>
            </a:r>
            <a:r>
              <a:rPr lang="fr-FR" dirty="0"/>
              <a:t>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r>
              <a:rPr lang="fr-FR" dirty="0"/>
              <a:t>, </a:t>
            </a:r>
            <a:r>
              <a:rPr lang="fr-FR" dirty="0" err="1"/>
              <a:t>consectetuer</a:t>
            </a:r>
            <a:r>
              <a:rPr lang="fr-FR" dirty="0"/>
              <a:t> </a:t>
            </a:r>
            <a:r>
              <a:rPr lang="fr-FR" dirty="0" err="1"/>
              <a:t>adipiscing</a:t>
            </a:r>
            <a:r>
              <a:rPr lang="fr-FR" dirty="0"/>
              <a:t> </a:t>
            </a:r>
            <a:r>
              <a:rPr lang="fr-FR" dirty="0" err="1"/>
              <a:t>elit</a:t>
            </a:r>
            <a:r>
              <a:rPr lang="fr-FR" dirty="0"/>
              <a:t>. </a:t>
            </a:r>
            <a:r>
              <a:rPr lang="fr-FR" dirty="0" err="1"/>
              <a:t>Maecenas</a:t>
            </a:r>
            <a:r>
              <a:rPr lang="fr-FR" dirty="0"/>
              <a:t> </a:t>
            </a:r>
            <a:r>
              <a:rPr lang="fr-FR" dirty="0" err="1"/>
              <a:t>porttitor</a:t>
            </a:r>
            <a:r>
              <a:rPr lang="fr-FR" dirty="0"/>
              <a:t> </a:t>
            </a:r>
            <a:r>
              <a:rPr lang="fr-FR" dirty="0" err="1"/>
              <a:t>congue</a:t>
            </a:r>
            <a:r>
              <a:rPr lang="fr-FR" dirty="0"/>
              <a:t> massa. </a:t>
            </a:r>
            <a:r>
              <a:rPr lang="fr-FR" dirty="0" err="1"/>
              <a:t>Fusce</a:t>
            </a:r>
            <a:r>
              <a:rPr lang="fr-FR" dirty="0"/>
              <a:t> </a:t>
            </a:r>
            <a:r>
              <a:rPr lang="fr-FR" dirty="0" err="1"/>
              <a:t>posuere</a:t>
            </a:r>
            <a:r>
              <a:rPr lang="fr-FR" dirty="0"/>
              <a:t>, magna </a:t>
            </a:r>
            <a:r>
              <a:rPr lang="fr-FR" dirty="0" err="1"/>
              <a:t>sed</a:t>
            </a:r>
            <a:r>
              <a:rPr lang="fr-FR" dirty="0"/>
              <a:t> </a:t>
            </a:r>
            <a:r>
              <a:rPr lang="fr-FR" dirty="0" err="1"/>
              <a:t>pulvinar</a:t>
            </a:r>
            <a:r>
              <a:rPr lang="fr-FR" dirty="0"/>
              <a:t> </a:t>
            </a:r>
            <a:r>
              <a:rPr lang="fr-FR" dirty="0" err="1"/>
              <a:t>ultricies</a:t>
            </a:r>
            <a:r>
              <a:rPr lang="fr-FR" dirty="0"/>
              <a:t>, </a:t>
            </a:r>
            <a:r>
              <a:rPr lang="fr-FR" dirty="0" err="1"/>
              <a:t>purus</a:t>
            </a:r>
            <a:r>
              <a:rPr lang="fr-FR" dirty="0"/>
              <a:t> </a:t>
            </a:r>
            <a:r>
              <a:rPr lang="fr-FR" dirty="0" err="1"/>
              <a:t>lectus</a:t>
            </a:r>
            <a:r>
              <a:rPr lang="fr-FR" dirty="0"/>
              <a:t> </a:t>
            </a:r>
            <a:r>
              <a:rPr lang="fr-FR" dirty="0" err="1"/>
              <a:t>malesuada</a:t>
            </a:r>
            <a:r>
              <a:rPr lang="fr-FR" dirty="0"/>
              <a:t> libero, </a:t>
            </a:r>
            <a:r>
              <a:rPr lang="fr-FR" dirty="0" err="1"/>
              <a:t>sit</a:t>
            </a:r>
            <a:r>
              <a:rPr lang="fr-FR" dirty="0"/>
              <a:t> </a:t>
            </a:r>
            <a:r>
              <a:rPr lang="fr-FR" dirty="0" err="1"/>
              <a:t>amet</a:t>
            </a:r>
            <a:r>
              <a:rPr lang="fr-FR" dirty="0"/>
              <a:t> </a:t>
            </a:r>
            <a:r>
              <a:rPr lang="fr-FR" dirty="0" err="1"/>
              <a:t>commodo</a:t>
            </a:r>
            <a:r>
              <a:rPr lang="fr-FR" dirty="0"/>
              <a:t> magna </a:t>
            </a:r>
            <a:r>
              <a:rPr lang="fr-FR" dirty="0" err="1"/>
              <a:t>eros</a:t>
            </a:r>
            <a:r>
              <a:rPr lang="fr-FR" dirty="0"/>
              <a:t> </a:t>
            </a:r>
            <a:r>
              <a:rPr lang="fr-FR" dirty="0" err="1"/>
              <a:t>quis</a:t>
            </a:r>
            <a:r>
              <a:rPr lang="fr-FR" dirty="0"/>
              <a:t> </a:t>
            </a:r>
            <a:r>
              <a:rPr lang="fr-FR" dirty="0" err="1"/>
              <a:t>urna</a:t>
            </a:r>
            <a:r>
              <a:rPr lang="fr-FR" dirty="0"/>
              <a:t>.</a:t>
            </a:r>
          </a:p>
          <a:p>
            <a:pPr rtl="0"/>
            <a:r>
              <a:rPr lang="fr-FR" dirty="0"/>
              <a:t>Nunc </a:t>
            </a:r>
            <a:r>
              <a:rPr lang="fr-FR" dirty="0" err="1"/>
              <a:t>viverra</a:t>
            </a:r>
            <a:r>
              <a:rPr lang="fr-FR" dirty="0"/>
              <a:t> </a:t>
            </a:r>
            <a:r>
              <a:rPr lang="fr-FR" dirty="0" err="1"/>
              <a:t>imperdiet</a:t>
            </a:r>
            <a:r>
              <a:rPr lang="fr-FR" dirty="0"/>
              <a:t> </a:t>
            </a:r>
            <a:r>
              <a:rPr lang="fr-FR" dirty="0" err="1"/>
              <a:t>enim</a:t>
            </a:r>
            <a:r>
              <a:rPr lang="fr-FR" dirty="0"/>
              <a:t>. </a:t>
            </a:r>
            <a:r>
              <a:rPr lang="fr-FR" dirty="0" err="1"/>
              <a:t>Fusce</a:t>
            </a:r>
            <a:r>
              <a:rPr lang="fr-FR" dirty="0"/>
              <a:t> est. </a:t>
            </a:r>
            <a:r>
              <a:rPr lang="fr-FR" dirty="0" err="1"/>
              <a:t>Vivamus</a:t>
            </a:r>
            <a:r>
              <a:rPr lang="fr-FR" dirty="0"/>
              <a:t> a </a:t>
            </a:r>
            <a:r>
              <a:rPr lang="fr-FR" dirty="0" err="1"/>
              <a:t>tellus</a:t>
            </a:r>
            <a:r>
              <a:rPr lang="fr-FR" dirty="0"/>
              <a:t>.</a:t>
            </a:r>
          </a:p>
          <a:p>
            <a:pPr rtl="0"/>
            <a:r>
              <a:rPr lang="fr-FR" dirty="0" err="1"/>
              <a:t>Pellentesque</a:t>
            </a:r>
            <a:r>
              <a:rPr lang="fr-FR" dirty="0"/>
              <a:t> habitant </a:t>
            </a:r>
            <a:r>
              <a:rPr lang="fr-FR" dirty="0" err="1"/>
              <a:t>morbi</a:t>
            </a:r>
            <a:r>
              <a:rPr lang="fr-FR" dirty="0"/>
              <a:t> tristique </a:t>
            </a:r>
            <a:r>
              <a:rPr lang="fr-FR" dirty="0" err="1"/>
              <a:t>senectus</a:t>
            </a:r>
            <a:r>
              <a:rPr lang="fr-FR" dirty="0"/>
              <a:t> et </a:t>
            </a:r>
            <a:r>
              <a:rPr lang="fr-FR" dirty="0" err="1"/>
              <a:t>netus</a:t>
            </a:r>
            <a:r>
              <a:rPr lang="fr-FR" dirty="0"/>
              <a:t> et </a:t>
            </a:r>
            <a:r>
              <a:rPr lang="fr-FR" dirty="0" err="1"/>
              <a:t>malesuada</a:t>
            </a:r>
            <a:r>
              <a:rPr lang="fr-FR" dirty="0"/>
              <a:t> </a:t>
            </a:r>
            <a:r>
              <a:rPr lang="fr-FR" dirty="0" err="1"/>
              <a:t>fames</a:t>
            </a:r>
            <a:r>
              <a:rPr lang="fr-FR" dirty="0"/>
              <a:t> </a:t>
            </a:r>
            <a:r>
              <a:rPr lang="fr-FR" dirty="0" err="1"/>
              <a:t>ac</a:t>
            </a:r>
            <a:r>
              <a:rPr lang="fr-FR" dirty="0"/>
              <a:t> </a:t>
            </a:r>
            <a:r>
              <a:rPr lang="fr-FR" dirty="0" err="1"/>
              <a:t>turpis</a:t>
            </a:r>
            <a:r>
              <a:rPr lang="fr-FR" dirty="0"/>
              <a:t> </a:t>
            </a:r>
            <a:r>
              <a:rPr lang="fr-FR" dirty="0" err="1"/>
              <a:t>egestas</a:t>
            </a:r>
            <a:r>
              <a:rPr lang="fr-FR" dirty="0"/>
              <a:t>. </a:t>
            </a:r>
            <a:r>
              <a:rPr lang="fr-FR" dirty="0" err="1"/>
              <a:t>Proin</a:t>
            </a:r>
            <a:r>
              <a:rPr lang="fr-FR" dirty="0"/>
              <a:t> </a:t>
            </a:r>
            <a:r>
              <a:rPr lang="fr-FR" dirty="0" err="1"/>
              <a:t>pharetra</a:t>
            </a:r>
            <a:r>
              <a:rPr lang="fr-FR" dirty="0"/>
              <a:t> </a:t>
            </a:r>
            <a:r>
              <a:rPr lang="fr-FR" dirty="0" err="1"/>
              <a:t>nonummy</a:t>
            </a:r>
            <a:r>
              <a:rPr lang="fr-FR" dirty="0"/>
              <a:t> </a:t>
            </a:r>
            <a:r>
              <a:rPr lang="fr-FR" dirty="0" err="1"/>
              <a:t>pede</a:t>
            </a:r>
            <a:r>
              <a:rPr lang="fr-FR" dirty="0"/>
              <a:t>. </a:t>
            </a:r>
            <a:r>
              <a:rPr lang="fr-FR" dirty="0" err="1"/>
              <a:t>Mauris</a:t>
            </a:r>
            <a:r>
              <a:rPr lang="fr-FR" dirty="0"/>
              <a:t> et </a:t>
            </a:r>
            <a:r>
              <a:rPr lang="fr-FR" dirty="0" err="1"/>
              <a:t>orci</a:t>
            </a:r>
            <a:r>
              <a:rPr lang="fr-FR" dirty="0"/>
              <a:t>.</a:t>
            </a:r>
          </a:p>
        </p:txBody>
      </p:sp>
      <p:pic>
        <p:nvPicPr>
          <p:cNvPr id="35" name="Espace réservé du contenu 34" descr="Livre ouvert">
            <a:extLst>
              <a:ext uri="{FF2B5EF4-FFF2-40B4-BE49-F238E27FC236}">
                <a16:creationId xmlns:a16="http://schemas.microsoft.com/office/drawing/2014/main" id="{56174A3F-A7B3-40BE-88BD-1796890E4B4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797886" y="1981200"/>
            <a:ext cx="548640" cy="548640"/>
          </a:xfrm>
        </p:spPr>
      </p:pic>
      <p:pic>
        <p:nvPicPr>
          <p:cNvPr id="36" name="Espace réservé du contenu 35" descr="Médaille">
            <a:extLst>
              <a:ext uri="{FF2B5EF4-FFF2-40B4-BE49-F238E27FC236}">
                <a16:creationId xmlns:a16="http://schemas.microsoft.com/office/drawing/2014/main" id="{A960174C-A9DE-472D-BF1C-B13108BD70B7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9558" y="1981200"/>
            <a:ext cx="548640" cy="548640"/>
          </a:xfrm>
        </p:spPr>
      </p:pic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r>
              <a:rPr lang="fr-FR" dirty="0"/>
              <a:t>Estimation de l’impédance au cours d’une tâche rythmique</a:t>
            </a:r>
          </a:p>
        </p:txBody>
      </p:sp>
    </p:spTree>
    <p:extLst>
      <p:ext uri="{BB962C8B-B14F-4D97-AF65-F5344CB8AC3E}">
        <p14:creationId xmlns:p14="http://schemas.microsoft.com/office/powerpoint/2010/main" val="27913197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Livre ouvert">
            <a:extLst>
              <a:ext uri="{FF2B5EF4-FFF2-40B4-BE49-F238E27FC236}">
                <a16:creationId xmlns:a16="http://schemas.microsoft.com/office/drawing/2014/main" id="{A799F565-1DAB-4AD3-BCE4-5DAC8012F35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29" name="Rectangle 28" descr="élément décoratif">
            <a:extLst>
              <a:ext uri="{FF2B5EF4-FFF2-40B4-BE49-F238E27FC236}">
                <a16:creationId xmlns:a16="http://schemas.microsoft.com/office/drawing/2014/main" id="{5C2DDD60-EB1C-44D8-84E1-D86EB3558F11}"/>
              </a:ext>
            </a:extLst>
          </p:cNvPr>
          <p:cNvSpPr/>
          <p:nvPr/>
        </p:nvSpPr>
        <p:spPr>
          <a:xfrm>
            <a:off x="0" y="0"/>
            <a:ext cx="12192000" cy="6863626"/>
          </a:xfrm>
          <a:prstGeom prst="rect">
            <a:avLst/>
          </a:prstGeom>
          <a:solidFill>
            <a:schemeClr val="tx1">
              <a:alpha val="6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9" name="Espace réservé du numéro de diapositive 5">
            <a:extLst>
              <a:ext uri="{FF2B5EF4-FFF2-40B4-BE49-F238E27FC236}">
                <a16:creationId xmlns:a16="http://schemas.microsoft.com/office/drawing/2014/main" id="{DB02A950-05E3-4691-9BC9-47B314EEA715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15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83" name="Espace réservé du contenu 82" descr="Cloche">
            <a:extLst>
              <a:ext uri="{FF2B5EF4-FFF2-40B4-BE49-F238E27FC236}">
                <a16:creationId xmlns:a16="http://schemas.microsoft.com/office/drawing/2014/main" id="{604095CF-E62F-46A4-A86C-5F465AE6E235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/>
      </p:pic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4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03775" y="1981993"/>
            <a:ext cx="547688" cy="547688"/>
          </a:xfrm>
        </p:spPr>
      </p:pic>
      <p:pic>
        <p:nvPicPr>
          <p:cNvPr id="97" name="Espace réservé du contenu 96" descr="Crayon">
            <a:extLst>
              <a:ext uri="{FF2B5EF4-FFF2-40B4-BE49-F238E27FC236}">
                <a16:creationId xmlns:a16="http://schemas.microsoft.com/office/drawing/2014/main" id="{40D9C27B-A51D-4036-B3F9-56081BD60AB9}"/>
              </a:ext>
            </a:extLst>
          </p:cNvPr>
          <p:cNvPicPr>
            <a:picLocks noGrp="1" noChangeAspect="1"/>
          </p:cNvPicPr>
          <p:nvPr>
            <p:ph sz="quarter" idx="16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  <p:sp>
        <p:nvSpPr>
          <p:cNvPr id="90" name="Espace réservé du texte 89">
            <a:extLst>
              <a:ext uri="{FF2B5EF4-FFF2-40B4-BE49-F238E27FC236}">
                <a16:creationId xmlns:a16="http://schemas.microsoft.com/office/drawing/2014/main" id="{AC38A326-FA47-4BD6-B27D-DEB6A4485A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</a:t>
            </a:r>
          </a:p>
        </p:txBody>
      </p:sp>
    </p:spTree>
    <p:extLst>
      <p:ext uri="{BB962C8B-B14F-4D97-AF65-F5344CB8AC3E}">
        <p14:creationId xmlns:p14="http://schemas.microsoft.com/office/powerpoint/2010/main" val="31910146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groupe d’étudiants jetant leur chapeau de diplômés dans les airs au coucher du soleil">
            <a:extLst>
              <a:ext uri="{FF2B5EF4-FFF2-40B4-BE49-F238E27FC236}">
                <a16:creationId xmlns:a16="http://schemas.microsoft.com/office/drawing/2014/main" id="{039BFAD7-131E-407E-8A28-E4CF6B8977F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/>
      </p:pic>
      <p:sp>
        <p:nvSpPr>
          <p:cNvPr id="31" name="Rectangle 30" descr="élément décoratif">
            <a:extLst>
              <a:ext uri="{FF2B5EF4-FFF2-40B4-BE49-F238E27FC236}">
                <a16:creationId xmlns:a16="http://schemas.microsoft.com/office/drawing/2014/main" id="{340A7491-C312-4D36-BA63-6F859CD81D66}"/>
              </a:ext>
            </a:extLst>
          </p:cNvPr>
          <p:cNvSpPr/>
          <p:nvPr/>
        </p:nvSpPr>
        <p:spPr>
          <a:xfrm>
            <a:off x="0" y="11252"/>
            <a:ext cx="12191999" cy="6852374"/>
          </a:xfrm>
          <a:prstGeom prst="rect">
            <a:avLst/>
          </a:prstGeom>
          <a:solidFill>
            <a:schemeClr val="tx1">
              <a:alpha val="4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 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8" name="Espace réservé du numéro de diapositive 5">
            <a:extLst>
              <a:ext uri="{FF2B5EF4-FFF2-40B4-BE49-F238E27FC236}">
                <a16:creationId xmlns:a16="http://schemas.microsoft.com/office/drawing/2014/main" id="{118AA3A9-97EA-409C-AD65-3CD3B0A58871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16</a:t>
            </a:fld>
            <a:endParaRPr lang="fr-FR" sz="1200">
              <a:solidFill>
                <a:schemeClr val="bg1"/>
              </a:solidFill>
            </a:endParaRP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1F4C9CA2-B224-40CD-8DB2-CAE478D2361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</p:txBody>
      </p:sp>
      <p:pic>
        <p:nvPicPr>
          <p:cNvPr id="80" name="Espace réservé du contenu 79" descr="Livre ouvert">
            <a:extLst>
              <a:ext uri="{FF2B5EF4-FFF2-40B4-BE49-F238E27FC236}">
                <a16:creationId xmlns:a16="http://schemas.microsoft.com/office/drawing/2014/main" id="{1198805C-69FE-4129-96D0-B3F35CB6416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48493" y="2305050"/>
            <a:ext cx="547688" cy="547688"/>
          </a:xfrm>
        </p:spPr>
      </p:pic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D01EBAE5-B81D-4150-B62C-F56241C5556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pic>
        <p:nvPicPr>
          <p:cNvPr id="95" name="Espace réservé du contenu 94" descr="Microscope">
            <a:extLst>
              <a:ext uri="{FF2B5EF4-FFF2-40B4-BE49-F238E27FC236}">
                <a16:creationId xmlns:a16="http://schemas.microsoft.com/office/drawing/2014/main" id="{96991F60-484C-4906-ADB8-676435D3D6E3}"/>
              </a:ext>
            </a:extLst>
          </p:cNvPr>
          <p:cNvPicPr>
            <a:picLocks noGrp="1" noChangeAspect="1"/>
          </p:cNvPicPr>
          <p:nvPr>
            <p:ph sz="quarter" idx="15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8493" y="4505325"/>
            <a:ext cx="547688" cy="547688"/>
          </a:xfrm>
        </p:spPr>
      </p:pic>
      <p:cxnSp>
        <p:nvCxnSpPr>
          <p:cNvPr id="65" name="Connecteur droit 64" descr="élément décoratif">
            <a:extLst>
              <a:ext uri="{FF2B5EF4-FFF2-40B4-BE49-F238E27FC236}">
                <a16:creationId xmlns:a16="http://schemas.microsoft.com/office/drawing/2014/main" id="{A4132B5C-BDF2-4C9A-B21E-BDD2CD03A542}"/>
              </a:ext>
            </a:extLst>
          </p:cNvPr>
          <p:cNvCxnSpPr/>
          <p:nvPr/>
        </p:nvCxnSpPr>
        <p:spPr>
          <a:xfrm>
            <a:off x="2080210" y="3553688"/>
            <a:ext cx="7498080" cy="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12196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ce réservé d’image 8" descr="Deux garçons regardant de l’autre côté d’un pont.">
            <a:extLst>
              <a:ext uri="{FF2B5EF4-FFF2-40B4-BE49-F238E27FC236}">
                <a16:creationId xmlns:a16="http://schemas.microsoft.com/office/drawing/2014/main" id="{B4DB50D3-94C9-4471-8076-F037B6C11D8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1" y="0"/>
            <a:ext cx="12192000" cy="6858000"/>
          </a:xfrm>
        </p:spPr>
      </p:pic>
      <p:sp>
        <p:nvSpPr>
          <p:cNvPr id="31" name="Espace réservé du texte 30">
            <a:extLst>
              <a:ext uri="{FF2B5EF4-FFF2-40B4-BE49-F238E27FC236}">
                <a16:creationId xmlns:a16="http://schemas.microsoft.com/office/drawing/2014/main" id="{A7DE1A1C-1BA0-439B-99B1-C80C5806DEF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endParaRPr lang="fr-FR"/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endParaRPr lang="fr-FR"/>
          </a:p>
          <a:p>
            <a:pPr rtl="0"/>
            <a:r>
              <a:rPr lang="fr-FR"/>
              <a:t>Pellentesque habitant morbi tristique senectus et netus et malesuada fames ac turpis egestas. Proin pharetra nonummy pede. </a:t>
            </a:r>
          </a:p>
          <a:p>
            <a:pPr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40" name="Espace réservé du contenu 79" descr="Livre ouvert">
            <a:extLst>
              <a:ext uri="{FF2B5EF4-FFF2-40B4-BE49-F238E27FC236}">
                <a16:creationId xmlns:a16="http://schemas.microsoft.com/office/drawing/2014/main" id="{C997398D-3BA0-47F4-93CE-55576CE45E21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/>
      </p:pic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70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2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3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bg1">
                <a:alpha val="6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bg1">
                <a:alpha val="8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  <p:grpSp>
        <p:nvGrpSpPr>
          <p:cNvPr id="5" name="Groupe 4" descr="élément décoratif">
            <a:extLst>
              <a:ext uri="{FF2B5EF4-FFF2-40B4-BE49-F238E27FC236}">
                <a16:creationId xmlns:a16="http://schemas.microsoft.com/office/drawing/2014/main" id="{1A141F7B-AE96-45F9-BC57-F7C86174910A}"/>
              </a:ext>
            </a:extLst>
          </p:cNvPr>
          <p:cNvGrpSpPr/>
          <p:nvPr/>
        </p:nvGrpSpPr>
        <p:grpSpPr>
          <a:xfrm>
            <a:off x="0" y="6086479"/>
            <a:ext cx="12192000" cy="600974"/>
            <a:chOff x="0" y="6086479"/>
            <a:chExt cx="12192000" cy="600974"/>
          </a:xfrm>
        </p:grpSpPr>
        <p:sp>
          <p:nvSpPr>
            <p:cNvPr id="14" name="Rectangle 13">
              <a:extLst>
                <a:ext uri="{FF2B5EF4-FFF2-40B4-BE49-F238E27FC236}">
                  <a16:creationId xmlns:a16="http://schemas.microsoft.com/office/drawing/2014/main" id="{C862BC4D-BD7A-417E-A34A-59CE4D4A6AC8}"/>
                </a:ext>
              </a:extLst>
            </p:cNvPr>
            <p:cNvSpPr/>
            <p:nvPr/>
          </p:nvSpPr>
          <p:spPr>
            <a:xfrm>
              <a:off x="0" y="6355760"/>
              <a:ext cx="12192000" cy="9144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" name="Ovale 14">
              <a:extLst>
                <a:ext uri="{FF2B5EF4-FFF2-40B4-BE49-F238E27FC236}">
                  <a16:creationId xmlns:a16="http://schemas.microsoft.com/office/drawing/2014/main" id="{652937FB-CDE3-46B3-8481-AB5DB8C4BABA}"/>
                </a:ext>
              </a:extLst>
            </p:cNvPr>
            <p:cNvSpPr/>
            <p:nvPr/>
          </p:nvSpPr>
          <p:spPr>
            <a:xfrm>
              <a:off x="11091210" y="6086479"/>
              <a:ext cx="600974" cy="600974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sp>
        <p:nvSpPr>
          <p:cNvPr id="16" name="Espace réservé du numéro de diapositive 5">
            <a:extLst>
              <a:ext uri="{FF2B5EF4-FFF2-40B4-BE49-F238E27FC236}">
                <a16:creationId xmlns:a16="http://schemas.microsoft.com/office/drawing/2014/main" id="{0FD571BD-7BCF-4777-BAD5-51B3EB30BBF7}"/>
              </a:ext>
            </a:extLst>
          </p:cNvPr>
          <p:cNvSpPr txBox="1">
            <a:spLocks/>
          </p:cNvSpPr>
          <p:nvPr/>
        </p:nvSpPr>
        <p:spPr>
          <a:xfrm>
            <a:off x="11091210" y="6189345"/>
            <a:ext cx="600974" cy="395243"/>
          </a:xfrm>
          <a:prstGeom prst="rect">
            <a:avLst/>
          </a:prstGeom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r" defTabSz="914400" rtl="0" eaLnBrk="1" latinLnBrk="0" hangingPunct="1">
              <a:defRPr sz="11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/>
            <a:fld id="{247A4EEE-49CE-4F6C-BF32-B7FCC5EBBF45}" type="slidenum">
              <a:rPr lang="fr-FR" sz="1200" smtClean="0">
                <a:solidFill>
                  <a:schemeClr val="bg1"/>
                </a:solidFill>
              </a:rPr>
              <a:pPr algn="ctr" rtl="0"/>
              <a:t>17</a:t>
            </a:fld>
            <a:endParaRPr lang="fr-FR" sz="12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267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Espace réservé du texte 15">
            <a:extLst>
              <a:ext uri="{FF2B5EF4-FFF2-40B4-BE49-F238E27FC236}">
                <a16:creationId xmlns:a16="http://schemas.microsoft.com/office/drawing/2014/main" id="{5336101E-D654-46D8-A983-BF46C5D8658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r>
              <a:rPr lang="fr-FR"/>
              <a:t>Lorem ipsum dolor sit amet, consectetuer adipiscing elit. Maecenas porttitor congue massa. Fusce posuere, magna sed pulvinar ultricies, purus lectus malesuada libero, sit amet commodo magna eros quis urna.</a:t>
            </a:r>
          </a:p>
          <a:p>
            <a:pPr rtl="0"/>
            <a:r>
              <a:rPr lang="fr-FR"/>
              <a:t>Nunc viverra imperdiet enim. Fusce est. Vivamus a tellus.</a:t>
            </a:r>
          </a:p>
          <a:p>
            <a:pPr rtl="0"/>
            <a:r>
              <a:rPr lang="fr-FR"/>
              <a:t>Pellentesque habitant morbi tristique senectus et netus et malesuada fames ac turpis egestas. Proin pharetra nonummy pede. Mauris et orci.</a:t>
            </a:r>
          </a:p>
          <a:p>
            <a:pPr rtl="0"/>
            <a:endParaRPr lang="fr-FR"/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pic>
        <p:nvPicPr>
          <p:cNvPr id="27" name="Espace réservé du contenu 79" descr="Livre ouvert">
            <a:extLst>
              <a:ext uri="{FF2B5EF4-FFF2-40B4-BE49-F238E27FC236}">
                <a16:creationId xmlns:a16="http://schemas.microsoft.com/office/drawing/2014/main" id="{EBEE0E99-191F-4498-9399-4BA8BCD3E66F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064734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DFF36EE7-AE57-42F4-ACA9-A328C1F4E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/>
              <a:t>LOREM IPSUM DOLOR SIT AMET, CONSECTETUER ADIPISCING ELIT. 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5018DA92-5FF3-4104-A4AD-2CBC58FC3B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6227750"/>
              </p:ext>
            </p:extLst>
          </p:nvPr>
        </p:nvGraphicFramePr>
        <p:xfrm>
          <a:off x="633186" y="1512416"/>
          <a:ext cx="10949215" cy="3820747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2189843">
                  <a:extLst>
                    <a:ext uri="{9D8B030D-6E8A-4147-A177-3AD203B41FA5}">
                      <a16:colId xmlns:a16="http://schemas.microsoft.com/office/drawing/2014/main" val="2752061506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3057165699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932898841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1832443924"/>
                    </a:ext>
                  </a:extLst>
                </a:gridCol>
                <a:gridCol w="2189843">
                  <a:extLst>
                    <a:ext uri="{9D8B030D-6E8A-4147-A177-3AD203B41FA5}">
                      <a16:colId xmlns:a16="http://schemas.microsoft.com/office/drawing/2014/main" val="1078784030"/>
                    </a:ext>
                  </a:extLst>
                </a:gridCol>
              </a:tblGrid>
              <a:tr h="545821">
                <a:tc>
                  <a:txBody>
                    <a:bodyPr/>
                    <a:lstStyle/>
                    <a:p>
                      <a:pPr algn="ctr" rtl="0"/>
                      <a:r>
                        <a:rPr lang="fr-FR" noProof="0" dirty="0">
                          <a:solidFill>
                            <a:schemeClr val="bg1"/>
                          </a:solidFill>
                          <a:latin typeface="+mj-lt"/>
                        </a:rPr>
                        <a:t>Titre</a:t>
                      </a:r>
                      <a:endParaRPr lang="fr-FR" b="1" noProof="0" dirty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800" b="1" kern="1200" noProof="0" dirty="0">
                          <a:solidFill>
                            <a:schemeClr val="bg1"/>
                          </a:solidFill>
                          <a:latin typeface="+mj-lt"/>
                          <a:ea typeface="+mn-ea"/>
                          <a:cs typeface="+mn-cs"/>
                        </a:rPr>
                        <a:t>Titre</a:t>
                      </a: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/>
                      <a:r>
                        <a:rPr lang="fr-FR" sz="1800" u="none" strike="noStrike" kern="1200" cap="none" spc="0" normalizeH="0" noProof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+mj-lt"/>
                        </a:rPr>
                        <a:t>Titre</a:t>
                      </a:r>
                      <a:endParaRPr lang="fr-FR" noProof="0">
                        <a:solidFill>
                          <a:schemeClr val="bg1"/>
                        </a:solidFill>
                        <a:latin typeface="+mj-lt"/>
                      </a:endParaRPr>
                    </a:p>
                  </a:txBody>
                  <a:tcPr anchor="ctr"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6578168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76539862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435978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6075193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9034183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1849101"/>
                  </a:ext>
                </a:extLst>
              </a:tr>
              <a:tr h="545821"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rtl="0"/>
                      <a:endParaRPr lang="fr-FR" sz="14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1015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27599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Espace réservé d’image 5" descr="Un groupe de personnes assises autour d’une table en bois&#10;">
            <a:extLst>
              <a:ext uri="{FF2B5EF4-FFF2-40B4-BE49-F238E27FC236}">
                <a16:creationId xmlns:a16="http://schemas.microsoft.com/office/drawing/2014/main" id="{D48306FF-9A46-43AC-BC11-DE5D9F2D183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" y="0"/>
            <a:ext cx="12192000" cy="6858000"/>
          </a:xfrm>
        </p:spPr>
      </p:pic>
      <p:sp>
        <p:nvSpPr>
          <p:cNvPr id="52" name="Rectangle 51" descr="élément décoratif">
            <a:extLst>
              <a:ext uri="{FF2B5EF4-FFF2-40B4-BE49-F238E27FC236}">
                <a16:creationId xmlns:a16="http://schemas.microsoft.com/office/drawing/2014/main" id="{31664CF3-C0D1-4769-8E59-8694AF07951A}"/>
              </a:ext>
            </a:extLst>
          </p:cNvPr>
          <p:cNvSpPr/>
          <p:nvPr/>
        </p:nvSpPr>
        <p:spPr>
          <a:xfrm>
            <a:off x="0" y="0"/>
            <a:ext cx="12191999" cy="6857999"/>
          </a:xfrm>
          <a:prstGeom prst="rect">
            <a:avLst/>
          </a:prstGeom>
          <a:solidFill>
            <a:schemeClr val="tx1">
              <a:alpha val="62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fr-FR"/>
          </a:p>
        </p:txBody>
      </p:sp>
      <p:sp>
        <p:nvSpPr>
          <p:cNvPr id="42" name="Titre 41">
            <a:extLst>
              <a:ext uri="{FF2B5EF4-FFF2-40B4-BE49-F238E27FC236}">
                <a16:creationId xmlns:a16="http://schemas.microsoft.com/office/drawing/2014/main" id="{72FCEAE4-FA74-4446-B2F5-9AFA2DA139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91080" y="2142271"/>
            <a:ext cx="5578995" cy="879928"/>
          </a:xfrm>
        </p:spPr>
        <p:txBody>
          <a:bodyPr rtlCol="0"/>
          <a:lstStyle/>
          <a:p>
            <a:pPr rtl="0"/>
            <a:r>
              <a:rPr lang="fr-FR" b="0"/>
              <a:t>MERCI</a:t>
            </a:r>
          </a:p>
        </p:txBody>
      </p:sp>
      <p:sp>
        <p:nvSpPr>
          <p:cNvPr id="80" name="Espace réservé du texte 79">
            <a:extLst>
              <a:ext uri="{FF2B5EF4-FFF2-40B4-BE49-F238E27FC236}">
                <a16:creationId xmlns:a16="http://schemas.microsoft.com/office/drawing/2014/main" id="{40F0AA8D-0756-4350-8005-9BCD0DDB3B9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 rtlCol="0"/>
          <a:lstStyle/>
          <a:p>
            <a:pPr rtl="0"/>
            <a:r>
              <a:rPr lang="fr-FR"/>
              <a:t>Nom</a:t>
            </a:r>
          </a:p>
        </p:txBody>
      </p:sp>
      <p:sp>
        <p:nvSpPr>
          <p:cNvPr id="86" name="Espace réservé du texte 85">
            <a:extLst>
              <a:ext uri="{FF2B5EF4-FFF2-40B4-BE49-F238E27FC236}">
                <a16:creationId xmlns:a16="http://schemas.microsoft.com/office/drawing/2014/main" id="{60CCF183-9FEB-4677-9379-BC01A7251D2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 rtlCol="0"/>
          <a:lstStyle/>
          <a:p>
            <a:pPr rtl="0"/>
            <a:r>
              <a:rPr lang="fr-FR"/>
              <a:t>Téléphone</a:t>
            </a:r>
          </a:p>
        </p:txBody>
      </p:sp>
      <p:sp>
        <p:nvSpPr>
          <p:cNvPr id="87" name="Espace réservé du texte 86">
            <a:extLst>
              <a:ext uri="{FF2B5EF4-FFF2-40B4-BE49-F238E27FC236}">
                <a16:creationId xmlns:a16="http://schemas.microsoft.com/office/drawing/2014/main" id="{DF3FE72B-F9BD-472F-A413-71BEEF95F43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 rtlCol="0"/>
          <a:lstStyle/>
          <a:p>
            <a:pPr rtl="0"/>
            <a:r>
              <a:rPr lang="fr-FR"/>
              <a:t>Adresse électronique</a:t>
            </a:r>
          </a:p>
        </p:txBody>
      </p:sp>
      <p:sp>
        <p:nvSpPr>
          <p:cNvPr id="88" name="Espace réservé du texte 87">
            <a:extLst>
              <a:ext uri="{FF2B5EF4-FFF2-40B4-BE49-F238E27FC236}">
                <a16:creationId xmlns:a16="http://schemas.microsoft.com/office/drawing/2014/main" id="{3717E33B-5954-4CDC-B30A-BD21BED6DD4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 rtlCol="0"/>
          <a:lstStyle/>
          <a:p>
            <a:pPr rtl="0"/>
            <a:r>
              <a:rPr lang="fr-FR"/>
              <a:t>Site web</a:t>
            </a:r>
          </a:p>
        </p:txBody>
      </p:sp>
      <p:pic>
        <p:nvPicPr>
          <p:cNvPr id="96" name="Espace réservé du contenu 95" descr="Destinataire">
            <a:extLst>
              <a:ext uri="{FF2B5EF4-FFF2-40B4-BE49-F238E27FC236}">
                <a16:creationId xmlns:a16="http://schemas.microsoft.com/office/drawing/2014/main" id="{106CDB5A-A67F-441C-894F-3EDD7AD64C9A}"/>
              </a:ext>
            </a:extLst>
          </p:cNvPr>
          <p:cNvPicPr>
            <a:picLocks noGrp="1" noChangeAspect="1"/>
          </p:cNvPicPr>
          <p:nvPr>
            <p:ph sz="quarter" idx="19"/>
          </p:nvPr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/>
      </p:pic>
      <p:pic>
        <p:nvPicPr>
          <p:cNvPr id="98" name="Espace réservé du contenu 97" descr="Enveloppe">
            <a:extLst>
              <a:ext uri="{FF2B5EF4-FFF2-40B4-BE49-F238E27FC236}">
                <a16:creationId xmlns:a16="http://schemas.microsoft.com/office/drawing/2014/main" id="{0B9C03E0-6367-44D9-A740-AA6436F075E8}"/>
              </a:ext>
            </a:extLst>
          </p:cNvPr>
          <p:cNvPicPr>
            <a:picLocks noGrp="1" noChangeAspect="1"/>
          </p:cNvPicPr>
          <p:nvPr>
            <p:ph sz="quarter" idx="20"/>
          </p:nvPr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/>
      </p:pic>
      <p:pic>
        <p:nvPicPr>
          <p:cNvPr id="100" name="Espace réservé du contenu 99" descr="Lien">
            <a:extLst>
              <a:ext uri="{FF2B5EF4-FFF2-40B4-BE49-F238E27FC236}">
                <a16:creationId xmlns:a16="http://schemas.microsoft.com/office/drawing/2014/main" id="{420E824D-10A7-42CB-A7E8-5298E3E84F02}"/>
              </a:ext>
            </a:extLst>
          </p:cNvPr>
          <p:cNvPicPr>
            <a:picLocks noGrp="1" noChangeAspect="1"/>
          </p:cNvPicPr>
          <p:nvPr>
            <p:ph sz="quarter" idx="21"/>
          </p:nvPr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/>
      </p:pic>
      <p:pic>
        <p:nvPicPr>
          <p:cNvPr id="94" name="Espace réservé du contenu 93" descr="Utilisateur">
            <a:extLst>
              <a:ext uri="{FF2B5EF4-FFF2-40B4-BE49-F238E27FC236}">
                <a16:creationId xmlns:a16="http://schemas.microsoft.com/office/drawing/2014/main" id="{5AC6F288-703B-45A1-9B56-079BD755B2CB}"/>
              </a:ext>
            </a:extLst>
          </p:cNvPr>
          <p:cNvPicPr>
            <a:picLocks noGrp="1" noChangeAspect="1"/>
          </p:cNvPicPr>
          <p:nvPr>
            <p:ph sz="quarter" idx="22"/>
          </p:nvPr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/>
      </p:pic>
      <p:cxnSp>
        <p:nvCxnSpPr>
          <p:cNvPr id="131" name="Connecteur droit 130" descr="élément décoratif">
            <a:extLst>
              <a:ext uri="{FF2B5EF4-FFF2-40B4-BE49-F238E27FC236}">
                <a16:creationId xmlns:a16="http://schemas.microsoft.com/office/drawing/2014/main" id="{8695A66A-1D9E-4D4E-9067-DC97380D3FDF}"/>
              </a:ext>
            </a:extLst>
          </p:cNvPr>
          <p:cNvCxnSpPr/>
          <p:nvPr/>
        </p:nvCxnSpPr>
        <p:spPr>
          <a:xfrm>
            <a:off x="756601" y="41430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eur droit 131" descr="élément décoratif">
            <a:extLst>
              <a:ext uri="{FF2B5EF4-FFF2-40B4-BE49-F238E27FC236}">
                <a16:creationId xmlns:a16="http://schemas.microsoft.com/office/drawing/2014/main" id="{529648F7-20E3-4312-823A-D8265A94AF23}"/>
              </a:ext>
            </a:extLst>
          </p:cNvPr>
          <p:cNvCxnSpPr/>
          <p:nvPr/>
        </p:nvCxnSpPr>
        <p:spPr>
          <a:xfrm>
            <a:off x="756601" y="48669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eur droit 132" descr="élément décoratif">
            <a:extLst>
              <a:ext uri="{FF2B5EF4-FFF2-40B4-BE49-F238E27FC236}">
                <a16:creationId xmlns:a16="http://schemas.microsoft.com/office/drawing/2014/main" id="{8F841485-6093-48AB-9892-0FB58675C726}"/>
              </a:ext>
            </a:extLst>
          </p:cNvPr>
          <p:cNvCxnSpPr/>
          <p:nvPr/>
        </p:nvCxnSpPr>
        <p:spPr>
          <a:xfrm>
            <a:off x="756601" y="5616258"/>
            <a:ext cx="4297680" cy="0"/>
          </a:xfrm>
          <a:prstGeom prst="line">
            <a:avLst/>
          </a:prstGeom>
          <a:ln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Groupe 153" descr="élément décoratif">
            <a:extLst>
              <a:ext uri="{FF2B5EF4-FFF2-40B4-BE49-F238E27FC236}">
                <a16:creationId xmlns:a16="http://schemas.microsoft.com/office/drawing/2014/main" id="{FF17C705-3351-4B11-BD28-D0CACC12D311}"/>
              </a:ext>
            </a:extLst>
          </p:cNvPr>
          <p:cNvGrpSpPr/>
          <p:nvPr/>
        </p:nvGrpSpPr>
        <p:grpSpPr>
          <a:xfrm>
            <a:off x="822755" y="2930325"/>
            <a:ext cx="469807" cy="79404"/>
            <a:chOff x="9330846" y="5054600"/>
            <a:chExt cx="676275" cy="114300"/>
          </a:xfrm>
          <a:solidFill>
            <a:schemeClr val="bg1"/>
          </a:solidFill>
        </p:grpSpPr>
        <p:sp>
          <p:nvSpPr>
            <p:cNvPr id="155" name="Ovale 154">
              <a:extLst>
                <a:ext uri="{FF2B5EF4-FFF2-40B4-BE49-F238E27FC236}">
                  <a16:creationId xmlns:a16="http://schemas.microsoft.com/office/drawing/2014/main" id="{925FEBFE-A26D-4E0B-B884-7E186CD878E5}"/>
                </a:ext>
              </a:extLst>
            </p:cNvPr>
            <p:cNvSpPr/>
            <p:nvPr/>
          </p:nvSpPr>
          <p:spPr>
            <a:xfrm>
              <a:off x="933084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6" name="Ellipse 155">
              <a:extLst>
                <a:ext uri="{FF2B5EF4-FFF2-40B4-BE49-F238E27FC236}">
                  <a16:creationId xmlns:a16="http://schemas.microsoft.com/office/drawing/2014/main" id="{2A24665D-D5CF-4F18-A88A-8E4471800E8D}"/>
                </a:ext>
              </a:extLst>
            </p:cNvPr>
            <p:cNvSpPr/>
            <p:nvPr/>
          </p:nvSpPr>
          <p:spPr>
            <a:xfrm>
              <a:off x="951817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7" name="Ellipse 156">
              <a:extLst>
                <a:ext uri="{FF2B5EF4-FFF2-40B4-BE49-F238E27FC236}">
                  <a16:creationId xmlns:a16="http://schemas.microsoft.com/office/drawing/2014/main" id="{39F2203F-31BF-4705-AC57-E197602982AA}"/>
                </a:ext>
              </a:extLst>
            </p:cNvPr>
            <p:cNvSpPr/>
            <p:nvPr/>
          </p:nvSpPr>
          <p:spPr>
            <a:xfrm>
              <a:off x="9705496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  <p:sp>
          <p:nvSpPr>
            <p:cNvPr id="158" name="Ovale 157">
              <a:extLst>
                <a:ext uri="{FF2B5EF4-FFF2-40B4-BE49-F238E27FC236}">
                  <a16:creationId xmlns:a16="http://schemas.microsoft.com/office/drawing/2014/main" id="{D4734E32-080E-49F2-89F3-16F0DBB5D130}"/>
                </a:ext>
              </a:extLst>
            </p:cNvPr>
            <p:cNvSpPr/>
            <p:nvPr/>
          </p:nvSpPr>
          <p:spPr>
            <a:xfrm>
              <a:off x="9892821" y="5054600"/>
              <a:ext cx="114300" cy="114300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rtl="0"/>
              <a:endParaRPr lang="fr-FR"/>
            </a:p>
          </p:txBody>
        </p:sp>
      </p:grpSp>
      <p:grpSp>
        <p:nvGrpSpPr>
          <p:cNvPr id="7" name="Groupe 6" descr="élément décoratif">
            <a:extLst>
              <a:ext uri="{FF2B5EF4-FFF2-40B4-BE49-F238E27FC236}">
                <a16:creationId xmlns:a16="http://schemas.microsoft.com/office/drawing/2014/main" id="{F5325EDA-7343-463C-83EC-5D799E8B8195}"/>
              </a:ext>
            </a:extLst>
          </p:cNvPr>
          <p:cNvGrpSpPr/>
          <p:nvPr/>
        </p:nvGrpSpPr>
        <p:grpSpPr>
          <a:xfrm>
            <a:off x="9621169" y="0"/>
            <a:ext cx="2570831" cy="6858001"/>
            <a:chOff x="9621170" y="0"/>
            <a:chExt cx="2570831" cy="6858001"/>
          </a:xfrm>
        </p:grpSpPr>
        <p:sp>
          <p:nvSpPr>
            <p:cNvPr id="32" name="Forme libre : Forme 31">
              <a:extLst>
                <a:ext uri="{FF2B5EF4-FFF2-40B4-BE49-F238E27FC236}">
                  <a16:creationId xmlns:a16="http://schemas.microsoft.com/office/drawing/2014/main" id="{25DFF88D-A516-4508-BC03-10D68E4034CF}"/>
                </a:ext>
              </a:extLst>
            </p:cNvPr>
            <p:cNvSpPr/>
            <p:nvPr/>
          </p:nvSpPr>
          <p:spPr>
            <a:xfrm>
              <a:off x="9621170" y="0"/>
              <a:ext cx="2570831" cy="6858000"/>
            </a:xfrm>
            <a:custGeom>
              <a:avLst/>
              <a:gdLst>
                <a:gd name="connsiteX0" fmla="*/ 1649197 w 2570831"/>
                <a:gd name="connsiteY0" fmla="*/ 0 h 6858000"/>
                <a:gd name="connsiteX1" fmla="*/ 2570831 w 2570831"/>
                <a:gd name="connsiteY1" fmla="*/ 0 h 6858000"/>
                <a:gd name="connsiteX2" fmla="*/ 2570831 w 2570831"/>
                <a:gd name="connsiteY2" fmla="*/ 6858000 h 6858000"/>
                <a:gd name="connsiteX3" fmla="*/ 0 w 2570831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70831" h="6858000">
                  <a:moveTo>
                    <a:pt x="1649197" y="0"/>
                  </a:moveTo>
                  <a:lnTo>
                    <a:pt x="2570831" y="0"/>
                  </a:lnTo>
                  <a:lnTo>
                    <a:pt x="2570831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30" name="Forme libre : Forme 29">
              <a:extLst>
                <a:ext uri="{FF2B5EF4-FFF2-40B4-BE49-F238E27FC236}">
                  <a16:creationId xmlns:a16="http://schemas.microsoft.com/office/drawing/2014/main" id="{F990A05A-2B0C-4EA2-8A33-D5A7D8C1BC4F}"/>
                </a:ext>
              </a:extLst>
            </p:cNvPr>
            <p:cNvSpPr/>
            <p:nvPr/>
          </p:nvSpPr>
          <p:spPr>
            <a:xfrm>
              <a:off x="9754598" y="0"/>
              <a:ext cx="2437402" cy="6858000"/>
            </a:xfrm>
            <a:custGeom>
              <a:avLst/>
              <a:gdLst>
                <a:gd name="connsiteX0" fmla="*/ 1649197 w 2437402"/>
                <a:gd name="connsiteY0" fmla="*/ 0 h 6858000"/>
                <a:gd name="connsiteX1" fmla="*/ 2437402 w 2437402"/>
                <a:gd name="connsiteY1" fmla="*/ 0 h 6858000"/>
                <a:gd name="connsiteX2" fmla="*/ 2437402 w 2437402"/>
                <a:gd name="connsiteY2" fmla="*/ 6858000 h 6858000"/>
                <a:gd name="connsiteX3" fmla="*/ 0 w 2437402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437402" h="6858000">
                  <a:moveTo>
                    <a:pt x="1649197" y="0"/>
                  </a:moveTo>
                  <a:lnTo>
                    <a:pt x="2437402" y="0"/>
                  </a:lnTo>
                  <a:lnTo>
                    <a:pt x="243740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alpha val="2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8" name="Forme libre : Forme 27">
              <a:extLst>
                <a:ext uri="{FF2B5EF4-FFF2-40B4-BE49-F238E27FC236}">
                  <a16:creationId xmlns:a16="http://schemas.microsoft.com/office/drawing/2014/main" id="{79BF84DA-56CC-4319-9B18-B6303F93EF5A}"/>
                </a:ext>
              </a:extLst>
            </p:cNvPr>
            <p:cNvSpPr/>
            <p:nvPr/>
          </p:nvSpPr>
          <p:spPr>
            <a:xfrm>
              <a:off x="10011320" y="0"/>
              <a:ext cx="2180680" cy="6858000"/>
            </a:xfrm>
            <a:custGeom>
              <a:avLst/>
              <a:gdLst>
                <a:gd name="connsiteX0" fmla="*/ 1649197 w 2180680"/>
                <a:gd name="connsiteY0" fmla="*/ 0 h 6858000"/>
                <a:gd name="connsiteX1" fmla="*/ 2180680 w 2180680"/>
                <a:gd name="connsiteY1" fmla="*/ 0 h 6858000"/>
                <a:gd name="connsiteX2" fmla="*/ 2180680 w 2180680"/>
                <a:gd name="connsiteY2" fmla="*/ 6858000 h 6858000"/>
                <a:gd name="connsiteX3" fmla="*/ 0 w 2180680"/>
                <a:gd name="connsiteY3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180680" h="6858000">
                  <a:moveTo>
                    <a:pt x="1649197" y="0"/>
                  </a:moveTo>
                  <a:lnTo>
                    <a:pt x="2180680" y="0"/>
                  </a:lnTo>
                  <a:lnTo>
                    <a:pt x="2180680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chemeClr val="accent1">
                <a:lumMod val="75000"/>
                <a:alpha val="36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6" name="Forme libre : Forme 25">
              <a:extLst>
                <a:ext uri="{FF2B5EF4-FFF2-40B4-BE49-F238E27FC236}">
                  <a16:creationId xmlns:a16="http://schemas.microsoft.com/office/drawing/2014/main" id="{3FE4855B-D7C3-4EA7-8050-5BDDB9E3A78A}"/>
                </a:ext>
              </a:extLst>
            </p:cNvPr>
            <p:cNvSpPr/>
            <p:nvPr/>
          </p:nvSpPr>
          <p:spPr>
            <a:xfrm>
              <a:off x="10544156" y="5626"/>
              <a:ext cx="1647844" cy="6852374"/>
            </a:xfrm>
            <a:custGeom>
              <a:avLst/>
              <a:gdLst>
                <a:gd name="connsiteX0" fmla="*/ 1647844 w 1647844"/>
                <a:gd name="connsiteY0" fmla="*/ 0 h 6852374"/>
                <a:gd name="connsiteX1" fmla="*/ 1647844 w 1647844"/>
                <a:gd name="connsiteY1" fmla="*/ 6852374 h 6852374"/>
                <a:gd name="connsiteX2" fmla="*/ 0 w 1647844"/>
                <a:gd name="connsiteY2" fmla="*/ 6852374 h 6852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647844" h="6852374">
                  <a:moveTo>
                    <a:pt x="1647844" y="0"/>
                  </a:moveTo>
                  <a:lnTo>
                    <a:pt x="1647844" y="6852374"/>
                  </a:lnTo>
                  <a:lnTo>
                    <a:pt x="0" y="6852374"/>
                  </a:lnTo>
                  <a:close/>
                </a:path>
              </a:pathLst>
            </a:custGeom>
            <a:solidFill>
              <a:schemeClr val="accent1">
                <a:lumMod val="75000"/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  <p:sp>
          <p:nvSpPr>
            <p:cNvPr id="24" name="Forme libre : Forme 23">
              <a:extLst>
                <a:ext uri="{FF2B5EF4-FFF2-40B4-BE49-F238E27FC236}">
                  <a16:creationId xmlns:a16="http://schemas.microsoft.com/office/drawing/2014/main" id="{EC066EC5-6C2C-4006-B87D-E6C5CFDEF302}"/>
                </a:ext>
              </a:extLst>
            </p:cNvPr>
            <p:cNvSpPr/>
            <p:nvPr/>
          </p:nvSpPr>
          <p:spPr>
            <a:xfrm>
              <a:off x="10803086" y="1082358"/>
              <a:ext cx="1388914" cy="5775643"/>
            </a:xfrm>
            <a:custGeom>
              <a:avLst/>
              <a:gdLst>
                <a:gd name="connsiteX0" fmla="*/ 1388914 w 1388914"/>
                <a:gd name="connsiteY0" fmla="*/ 0 h 5775643"/>
                <a:gd name="connsiteX1" fmla="*/ 1388914 w 1388914"/>
                <a:gd name="connsiteY1" fmla="*/ 5775643 h 5775643"/>
                <a:gd name="connsiteX2" fmla="*/ 0 w 1388914"/>
                <a:gd name="connsiteY2" fmla="*/ 5775643 h 57756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388914" h="5775643">
                  <a:moveTo>
                    <a:pt x="1388914" y="0"/>
                  </a:moveTo>
                  <a:lnTo>
                    <a:pt x="1388914" y="5775643"/>
                  </a:lnTo>
                  <a:lnTo>
                    <a:pt x="0" y="5775643"/>
                  </a:lnTo>
                  <a:close/>
                </a:path>
              </a:pathLst>
            </a:custGeom>
            <a:solidFill>
              <a:schemeClr val="accent1">
                <a:lumMod val="75000"/>
                <a:alpha val="8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 rtl="0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2674200297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MSFT_04_Educatio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2606E"/>
      </a:accent1>
      <a:accent2>
        <a:srgbClr val="0F3955"/>
      </a:accent2>
      <a:accent3>
        <a:srgbClr val="FFC000"/>
      </a:accent3>
      <a:accent4>
        <a:srgbClr val="BF678E"/>
      </a:accent4>
      <a:accent5>
        <a:srgbClr val="731F1C"/>
      </a:accent5>
      <a:accent6>
        <a:srgbClr val="7A9E56"/>
      </a:accent6>
      <a:hlink>
        <a:srgbClr val="00B0F0"/>
      </a:hlink>
      <a:folHlink>
        <a:srgbClr val="595959"/>
      </a:folHlink>
    </a:clrScheme>
    <a:fontScheme name="MSFT_04_Education">
      <a:majorFont>
        <a:latin typeface="Corbel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22_TF00475556" id="{1773F893-1B64-4C50-B449-C7130E3DEDFD}" vid="{AA1B2606-3863-43D4-81FC-E4C93E7D8FDE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EA25CC0A0AC24199CDC46C25B8B0BC" ma:contentTypeVersion="10" ma:contentTypeDescription="Create a new document." ma:contentTypeScope="" ma:versionID="e3b47856d4cf355c0dacb39e1084d14f">
  <xsd:schema xmlns:xsd="http://www.w3.org/2001/XMLSchema" xmlns:xs="http://www.w3.org/2001/XMLSchema" xmlns:p="http://schemas.microsoft.com/office/2006/metadata/properties" xmlns:ns1="http://schemas.microsoft.com/sharepoint/v3" xmlns:ns2="6dc4bcd6-49db-4c07-9060-8acfc67cef9f" xmlns:ns3="fb0879af-3eba-417a-a55a-ffe6dcd6ca77" targetNamespace="http://schemas.microsoft.com/office/2006/metadata/properties" ma:root="true" ma:fieldsID="a845a615265fdb1f7b12cc65ac20ecbd" ns1:_="" ns2:_="" ns3:_="">
    <xsd:import namespace="http://schemas.microsoft.com/sharepoint/v3"/>
    <xsd:import namespace="6dc4bcd6-49db-4c07-9060-8acfc67cef9f"/>
    <xsd:import namespace="fb0879af-3eba-417a-a55a-ffe6dcd6ca7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3:SharedWithUsers" minOccurs="0"/>
                <xsd:element ref="ns3:SharedWithDetails" minOccurs="0"/>
                <xsd:element ref="ns3:LastSharedByUser" minOccurs="0"/>
                <xsd:element ref="ns3:LastSharedByTime" minOccurs="0"/>
                <xsd:element ref="ns1:_ip_UnifiedCompliancePolicyProperties" minOccurs="0"/>
                <xsd:element ref="ns1:_ip_UnifiedCompliancePolicyUIAction" minOccurs="0"/>
                <xsd:element ref="ns2:MediaServiceAuto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5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6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c4bcd6-49db-4c07-9060-8acfc67cef9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7" nillable="true" ma:displayName="MediaServiceAutoTags" ma:internalName="MediaServiceAutoTag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0879af-3eba-417a-a55a-ffe6dcd6ca77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3" nillable="true" ma:displayName="Last Shared By User" ma:hidden="true" ma:internalName="LastSharedByUser" ma:readOnly="true">
      <xsd:simpleType>
        <xsd:restriction base="dms:Note"/>
      </xsd:simpleType>
    </xsd:element>
    <xsd:element name="LastSharedByTime" ma:index="14" nillable="true" ma:displayName="Last Shared By Time" ma:hidden="true" ma:internalName="LastSharedByTime" ma:readOnly="true">
      <xsd:simpleType>
        <xsd:restriction base="dms:DateTim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941CEA3-A3B3-4568-9E84-C4619CC82DF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549A191-EC8C-4AA6-9C64-D32B5F04743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customXml/itemProps3.xml><?xml version="1.0" encoding="utf-8"?>
<ds:datastoreItem xmlns:ds="http://schemas.openxmlformats.org/officeDocument/2006/customXml" ds:itemID="{BA4148EB-7DAD-48FA-A275-D42F48043C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6dc4bcd6-49db-4c07-9060-8acfc67cef9f"/>
    <ds:schemaRef ds:uri="fb0879af-3eba-417a-a55a-ffe6dcd6ca7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Présentation pédagogique</Template>
  <TotalTime>0</TotalTime>
  <Words>1788</Words>
  <Application>Microsoft Macintosh PowerPoint</Application>
  <PresentationFormat>Grand écran</PresentationFormat>
  <Paragraphs>198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7" baseType="lpstr">
      <vt:lpstr>Apple Chancery</vt:lpstr>
      <vt:lpstr>Arial</vt:lpstr>
      <vt:lpstr>Calibri</vt:lpstr>
      <vt:lpstr>Calibri Light</vt:lpstr>
      <vt:lpstr>Cambria Math</vt:lpstr>
      <vt:lpstr>Corbel</vt:lpstr>
      <vt:lpstr>Thème Office</vt:lpstr>
      <vt:lpstr>COMMANDE BIO-INSPIREE DE ROBOT POUR DES TACHES RYTHMIQUES EN INTERACTION AVEC L’ENVIRONNEMENT</vt:lpstr>
      <vt:lpstr>Présentation PowerPoint</vt:lpstr>
      <vt:lpstr>CONTEXTE</vt:lpstr>
      <vt:lpstr>Mouvements rythmiques bio-inspirés </vt:lpstr>
      <vt:lpstr>Interactions mécaniques avec des environnements incertains</vt:lpstr>
      <vt:lpstr>IMPEDANCE MECANIQUE</vt:lpstr>
      <vt:lpstr>Définitions de l’impédance</vt:lpstr>
      <vt:lpstr>Méthodes d’estimation de l’impédance</vt:lpstr>
      <vt:lpstr>Méthodes d’estimation de l’impédance</vt:lpstr>
      <vt:lpstr>Evolution des paramètres d’impédance</vt:lpstr>
      <vt:lpstr>EXPERIENCE</vt:lpstr>
      <vt:lpstr>KUKA YouBot</vt:lpstr>
      <vt:lpstr>Commande de robot pour une interaction collaborative</vt:lpstr>
      <vt:lpstr>Estimation de l’impédance au cours d’une tâche rythmique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LOREM IPSUM DOLOR SIT AMET, CONSECTETUER ADIPISCING ELIT. </vt:lpstr>
      <vt:lpstr>MERCI</vt:lpstr>
    </vt:vector>
  </TitlesOfParts>
  <Manager/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2019-10-21T11:42:01Z</dcterms:created>
  <dcterms:modified xsi:type="dcterms:W3CDTF">2019-11-04T17:15:48Z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0x010100DEEA25CC0A0AC24199CDC46C25B8B0BC</vt:lpwstr>
  </property>
</Properties>
</file>