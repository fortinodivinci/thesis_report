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1" r:id="rId5"/>
    <p:sldId id="277" r:id="rId6"/>
    <p:sldId id="309" r:id="rId7"/>
    <p:sldId id="267" r:id="rId8"/>
    <p:sldId id="257" r:id="rId9"/>
    <p:sldId id="306" r:id="rId10"/>
    <p:sldId id="296" r:id="rId11"/>
    <p:sldId id="297" r:id="rId12"/>
    <p:sldId id="298" r:id="rId13"/>
    <p:sldId id="305" r:id="rId14"/>
    <p:sldId id="300" r:id="rId15"/>
    <p:sldId id="301" r:id="rId16"/>
    <p:sldId id="310" r:id="rId17"/>
    <p:sldId id="307" r:id="rId18"/>
    <p:sldId id="308" r:id="rId19"/>
    <p:sldId id="264" r:id="rId20"/>
    <p:sldId id="291" r:id="rId21"/>
    <p:sldId id="295" r:id="rId2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mmaire" id="{33EBCFC0-8855-44BE-B4B1-0783531F739C}">
          <p14:sldIdLst>
            <p14:sldId id="281"/>
            <p14:sldId id="277"/>
            <p14:sldId id="309"/>
          </p14:sldIdLst>
        </p14:section>
        <p14:section name="Introduction et contexte" id="{DBA27A2D-1081-4C0C-BE14-C74AB9BD1B9F}">
          <p14:sldIdLst>
            <p14:sldId id="267"/>
            <p14:sldId id="257"/>
            <p14:sldId id="306"/>
          </p14:sldIdLst>
        </p14:section>
        <p14:section name="Impédance mécanique" id="{0020F0AD-628B-4F59-9135-45FF7C872F6F}">
          <p14:sldIdLst>
            <p14:sldId id="296"/>
            <p14:sldId id="297"/>
            <p14:sldId id="298"/>
            <p14:sldId id="305"/>
          </p14:sldIdLst>
        </p14:section>
        <p14:section name="Experience" id="{0CCFC460-DE0E-49FF-BC6F-D679DC88C1C9}">
          <p14:sldIdLst>
            <p14:sldId id="300"/>
            <p14:sldId id="301"/>
            <p14:sldId id="310"/>
            <p14:sldId id="307"/>
            <p14:sldId id="308"/>
          </p14:sldIdLst>
        </p14:section>
        <p14:section name="Conclusion" id="{8F771AE5-5397-4531-943C-3B5C93A19186}">
          <p14:sldIdLst>
            <p14:sldId id="264"/>
            <p14:sldId id="291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pos="72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E7992F"/>
    <a:srgbClr val="0B2B41"/>
    <a:srgbClr val="AB6E32"/>
    <a:srgbClr val="E9A030"/>
    <a:srgbClr val="F5794C"/>
    <a:srgbClr val="EEA81C"/>
    <a:srgbClr val="E28C89"/>
    <a:srgbClr val="0F3955"/>
    <a:srgbClr val="0D3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6265" autoAdjust="0"/>
  </p:normalViewPr>
  <p:slideViewPr>
    <p:cSldViewPr snapToGrid="0">
      <p:cViewPr>
        <p:scale>
          <a:sx n="75" d="100"/>
          <a:sy n="75" d="100"/>
        </p:scale>
        <p:origin x="1242" y="870"/>
      </p:cViewPr>
      <p:guideLst>
        <p:guide orient="horz" pos="2160"/>
        <p:guide pos="3864"/>
        <p:guide pos="408"/>
        <p:guide orient="horz" pos="432"/>
        <p:guide pos="72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3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AC49572-5098-4FC4-AF0C-4155D5E78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AA88ED-9106-452F-A16C-BA63DCB68E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142A3-90E2-478A-BA2C-6CC385EA1380}" type="datetimeFigureOut">
              <a:rPr lang="fr-FR" smtClean="0"/>
              <a:t>08/11/2019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A1C77C-B810-49D7-A7A2-0F7E9D8635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752286-8EA3-4402-A03D-C0595845B2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02C78-D536-4665-BE56-C8F556A050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5785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F2451-6A58-4377-953A-113910610DCC}" type="datetimeFigureOut">
              <a:rPr lang="fr-FR" noProof="0" smtClean="0"/>
              <a:t>08/11/2019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E5BA3-7562-41F3-85A3-5244B451D190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523381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61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18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860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05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239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820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724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1 – A </a:t>
            </a:r>
            <a:r>
              <a:rPr lang="fr-FR" sz="1200" dirty="0" err="1" smtClean="0"/>
              <a:t>method</a:t>
            </a:r>
            <a:r>
              <a:rPr lang="fr-FR" sz="1200" dirty="0" smtClean="0"/>
              <a:t> for </a:t>
            </a:r>
            <a:r>
              <a:rPr lang="fr-FR" sz="1200" dirty="0" err="1" smtClean="0"/>
              <a:t>measuring</a:t>
            </a:r>
            <a:r>
              <a:rPr lang="fr-FR" sz="1200" dirty="0" smtClean="0"/>
              <a:t> </a:t>
            </a:r>
            <a:r>
              <a:rPr lang="fr-FR" sz="1200" dirty="0" err="1" smtClean="0"/>
              <a:t>endpoint</a:t>
            </a:r>
            <a:r>
              <a:rPr lang="fr-FR" sz="1200" dirty="0" smtClean="0"/>
              <a:t> </a:t>
            </a:r>
            <a:r>
              <a:rPr lang="fr-FR" sz="1200" dirty="0" err="1" smtClean="0"/>
              <a:t>stiffness</a:t>
            </a:r>
            <a:r>
              <a:rPr lang="fr-FR" sz="1200" dirty="0" smtClean="0"/>
              <a:t> </a:t>
            </a:r>
            <a:r>
              <a:rPr lang="fr-FR" sz="1200" dirty="0" err="1" smtClean="0"/>
              <a:t>durint</a:t>
            </a:r>
            <a:r>
              <a:rPr lang="fr-FR" sz="1200" dirty="0" smtClean="0"/>
              <a:t> multi-joint arm </a:t>
            </a:r>
            <a:r>
              <a:rPr lang="fr-FR" sz="1200" dirty="0" err="1" smtClean="0"/>
              <a:t>movements</a:t>
            </a:r>
            <a:r>
              <a:rPr lang="fr-FR" sz="1200" dirty="0" smtClean="0"/>
              <a:t>, E. </a:t>
            </a:r>
            <a:r>
              <a:rPr lang="fr-FR" sz="1200" dirty="0" err="1" smtClean="0"/>
              <a:t>Burdet</a:t>
            </a:r>
            <a:r>
              <a:rPr lang="fr-FR" sz="1200" dirty="0" smtClean="0"/>
              <a:t> &amp; al 2000</a:t>
            </a:r>
          </a:p>
          <a:p>
            <a:r>
              <a:rPr lang="fr-FR" sz="1200" dirty="0" smtClean="0"/>
              <a:t>2 – Hand </a:t>
            </a:r>
            <a:r>
              <a:rPr lang="fr-FR" sz="1200" dirty="0" err="1" smtClean="0"/>
              <a:t>impedance</a:t>
            </a:r>
            <a:r>
              <a:rPr lang="fr-FR" sz="1200" dirty="0" smtClean="0"/>
              <a:t> </a:t>
            </a:r>
            <a:r>
              <a:rPr lang="fr-FR" sz="1200" dirty="0" err="1" smtClean="0"/>
              <a:t>measurements</a:t>
            </a:r>
            <a:r>
              <a:rPr lang="fr-FR" sz="1200" dirty="0" smtClean="0"/>
              <a:t> </a:t>
            </a:r>
            <a:r>
              <a:rPr lang="fr-FR" sz="1200" dirty="0" err="1" smtClean="0"/>
              <a:t>during</a:t>
            </a:r>
            <a:r>
              <a:rPr lang="fr-FR" sz="1200" dirty="0" smtClean="0"/>
              <a:t> interactive </a:t>
            </a:r>
            <a:r>
              <a:rPr lang="fr-FR" sz="1200" dirty="0" err="1" smtClean="0"/>
              <a:t>manual</a:t>
            </a:r>
            <a:r>
              <a:rPr lang="fr-FR" sz="1200" dirty="0" smtClean="0"/>
              <a:t> </a:t>
            </a:r>
            <a:r>
              <a:rPr lang="fr-FR" sz="1200" dirty="0" err="1" smtClean="0"/>
              <a:t>welding</a:t>
            </a:r>
            <a:r>
              <a:rPr lang="fr-FR" sz="1200" dirty="0" smtClean="0"/>
              <a:t> </a:t>
            </a:r>
            <a:r>
              <a:rPr lang="fr-FR" sz="1200" dirty="0" err="1" smtClean="0"/>
              <a:t>with</a:t>
            </a:r>
            <a:r>
              <a:rPr lang="fr-FR" sz="1200" dirty="0" smtClean="0"/>
              <a:t> a robot, M.S. </a:t>
            </a:r>
            <a:r>
              <a:rPr lang="fr-FR" sz="1200" dirty="0" err="1" smtClean="0"/>
              <a:t>Erden</a:t>
            </a:r>
            <a:r>
              <a:rPr lang="fr-FR" sz="1200" dirty="0" smtClean="0"/>
              <a:t> &amp; A. Billard 2015</a:t>
            </a:r>
          </a:p>
          <a:p>
            <a:r>
              <a:rPr lang="fr-FR" sz="1200" dirty="0" smtClean="0"/>
              <a:t>3 – </a:t>
            </a:r>
            <a:r>
              <a:rPr lang="fr-FR" sz="1200" dirty="0" err="1" smtClean="0"/>
              <a:t>Unbiased</a:t>
            </a:r>
            <a:r>
              <a:rPr lang="fr-FR" sz="1200" dirty="0" smtClean="0"/>
              <a:t> estimation of </a:t>
            </a:r>
            <a:r>
              <a:rPr lang="fr-FR" sz="1200" dirty="0" err="1" smtClean="0"/>
              <a:t>Human</a:t>
            </a:r>
            <a:r>
              <a:rPr lang="fr-FR" sz="1200" dirty="0" smtClean="0"/>
              <a:t> joint </a:t>
            </a:r>
            <a:r>
              <a:rPr lang="fr-FR" sz="1200" dirty="0" err="1" smtClean="0"/>
              <a:t>intrinsic</a:t>
            </a:r>
            <a:r>
              <a:rPr lang="fr-FR" sz="1200" dirty="0" smtClean="0"/>
              <a:t> </a:t>
            </a:r>
            <a:r>
              <a:rPr lang="fr-FR" sz="1200" dirty="0" err="1" smtClean="0"/>
              <a:t>mechanical</a:t>
            </a:r>
            <a:r>
              <a:rPr lang="fr-FR" sz="1200" dirty="0" smtClean="0"/>
              <a:t> </a:t>
            </a:r>
            <a:r>
              <a:rPr lang="fr-FR" sz="1200" dirty="0" err="1" smtClean="0"/>
              <a:t>properties</a:t>
            </a:r>
            <a:r>
              <a:rPr lang="fr-FR" sz="1200" dirty="0" smtClean="0"/>
              <a:t> </a:t>
            </a:r>
            <a:r>
              <a:rPr lang="fr-FR" sz="1200" dirty="0" err="1" smtClean="0"/>
              <a:t>during</a:t>
            </a:r>
            <a:r>
              <a:rPr lang="fr-FR" sz="1200" dirty="0" smtClean="0"/>
              <a:t> </a:t>
            </a:r>
            <a:r>
              <a:rPr lang="fr-FR" sz="1200" dirty="0" err="1" smtClean="0"/>
              <a:t>movement</a:t>
            </a:r>
            <a:r>
              <a:rPr lang="fr-FR" sz="1200" dirty="0" smtClean="0"/>
              <a:t>, D.L </a:t>
            </a:r>
            <a:r>
              <a:rPr lang="fr-FR" sz="1200" dirty="0" err="1" smtClean="0"/>
              <a:t>Guarin</a:t>
            </a:r>
            <a:r>
              <a:rPr lang="fr-FR" sz="1200" dirty="0" smtClean="0"/>
              <a:t> &amp; R.E. Kearney 2018</a:t>
            </a:r>
          </a:p>
          <a:p>
            <a:r>
              <a:rPr lang="fr-FR" sz="1200" dirty="0" smtClean="0"/>
              <a:t>4 – </a:t>
            </a:r>
            <a:r>
              <a:rPr lang="fr-FR" sz="1200" dirty="0" err="1" smtClean="0"/>
              <a:t>Elbow</a:t>
            </a:r>
            <a:r>
              <a:rPr lang="fr-FR" sz="1200" dirty="0" smtClean="0"/>
              <a:t> </a:t>
            </a:r>
            <a:r>
              <a:rPr lang="fr-FR" sz="1200" dirty="0" err="1" smtClean="0"/>
              <a:t>impedance</a:t>
            </a:r>
            <a:r>
              <a:rPr lang="fr-FR" sz="1200" dirty="0" smtClean="0"/>
              <a:t> </a:t>
            </a:r>
            <a:r>
              <a:rPr lang="fr-FR" sz="1200" dirty="0" err="1" smtClean="0"/>
              <a:t>during</a:t>
            </a:r>
            <a:r>
              <a:rPr lang="fr-FR" sz="1200" dirty="0" smtClean="0"/>
              <a:t> goal-</a:t>
            </a:r>
            <a:r>
              <a:rPr lang="fr-FR" sz="1200" dirty="0" err="1" smtClean="0"/>
              <a:t>directed</a:t>
            </a:r>
            <a:r>
              <a:rPr lang="fr-FR" sz="1200" dirty="0" smtClean="0"/>
              <a:t> </a:t>
            </a:r>
            <a:r>
              <a:rPr lang="fr-FR" sz="1200" dirty="0" err="1" smtClean="0"/>
              <a:t>movements</a:t>
            </a:r>
            <a:r>
              <a:rPr lang="fr-FR" sz="1200" dirty="0" smtClean="0"/>
              <a:t>, F. </a:t>
            </a:r>
            <a:r>
              <a:rPr lang="fr-FR" sz="1200" dirty="0" err="1" smtClean="0"/>
              <a:t>Popescu</a:t>
            </a:r>
            <a:r>
              <a:rPr lang="fr-FR" sz="1200" dirty="0" smtClean="0"/>
              <a:t> &amp; al 2003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71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1 – Hand </a:t>
            </a:r>
            <a:r>
              <a:rPr lang="fr-FR" sz="1200" dirty="0" err="1" smtClean="0"/>
              <a:t>impedance</a:t>
            </a:r>
            <a:r>
              <a:rPr lang="fr-FR" sz="1200" dirty="0" smtClean="0"/>
              <a:t> </a:t>
            </a:r>
            <a:r>
              <a:rPr lang="fr-FR" sz="1200" dirty="0" err="1" smtClean="0"/>
              <a:t>measurements</a:t>
            </a:r>
            <a:r>
              <a:rPr lang="fr-FR" sz="1200" dirty="0" smtClean="0"/>
              <a:t> </a:t>
            </a:r>
            <a:r>
              <a:rPr lang="fr-FR" sz="1200" dirty="0" err="1" smtClean="0"/>
              <a:t>during</a:t>
            </a:r>
            <a:r>
              <a:rPr lang="fr-FR" sz="1200" dirty="0" smtClean="0"/>
              <a:t> interactive </a:t>
            </a:r>
            <a:r>
              <a:rPr lang="fr-FR" sz="1200" dirty="0" err="1" smtClean="0"/>
              <a:t>manual</a:t>
            </a:r>
            <a:r>
              <a:rPr lang="fr-FR" sz="1200" dirty="0" smtClean="0"/>
              <a:t> </a:t>
            </a:r>
            <a:r>
              <a:rPr lang="fr-FR" sz="1200" dirty="0" err="1" smtClean="0"/>
              <a:t>welding</a:t>
            </a:r>
            <a:r>
              <a:rPr lang="fr-FR" sz="1200" dirty="0" smtClean="0"/>
              <a:t> </a:t>
            </a:r>
            <a:r>
              <a:rPr lang="fr-FR" sz="1200" dirty="0" err="1" smtClean="0"/>
              <a:t>with</a:t>
            </a:r>
            <a:r>
              <a:rPr lang="fr-FR" sz="1200" dirty="0" smtClean="0"/>
              <a:t> a robot, M.S. </a:t>
            </a:r>
            <a:r>
              <a:rPr lang="fr-FR" sz="1200" dirty="0" err="1" smtClean="0"/>
              <a:t>Erden</a:t>
            </a:r>
            <a:r>
              <a:rPr lang="fr-FR" sz="1200" dirty="0" smtClean="0"/>
              <a:t> &amp; A. Billard 2015</a:t>
            </a:r>
          </a:p>
          <a:p>
            <a:r>
              <a:rPr lang="fr-FR" sz="1200" dirty="0" smtClean="0"/>
              <a:t>2 – The </a:t>
            </a:r>
            <a:r>
              <a:rPr lang="fr-FR" sz="1200" dirty="0" err="1" smtClean="0"/>
              <a:t>nervous</a:t>
            </a:r>
            <a:r>
              <a:rPr lang="fr-FR" sz="1200" dirty="0" smtClean="0"/>
              <a:t> system </a:t>
            </a:r>
            <a:r>
              <a:rPr lang="fr-FR" sz="1200" dirty="0" err="1" smtClean="0"/>
              <a:t>stabilizes</a:t>
            </a:r>
            <a:r>
              <a:rPr lang="fr-FR" sz="1200" dirty="0" smtClean="0"/>
              <a:t> </a:t>
            </a:r>
            <a:r>
              <a:rPr lang="fr-FR" sz="1200" dirty="0" err="1" smtClean="0"/>
              <a:t>unstable</a:t>
            </a:r>
            <a:r>
              <a:rPr lang="fr-FR" sz="1200" dirty="0" smtClean="0"/>
              <a:t> </a:t>
            </a:r>
            <a:r>
              <a:rPr lang="fr-FR" sz="1200" dirty="0" err="1" smtClean="0"/>
              <a:t>dynamics</a:t>
            </a:r>
            <a:r>
              <a:rPr lang="fr-FR" sz="1200" dirty="0" smtClean="0"/>
              <a:t> by </a:t>
            </a:r>
            <a:r>
              <a:rPr lang="fr-FR" sz="1200" dirty="0" err="1" smtClean="0"/>
              <a:t>learning</a:t>
            </a:r>
            <a:r>
              <a:rPr lang="fr-FR" sz="1200" dirty="0" smtClean="0"/>
              <a:t> optimal </a:t>
            </a:r>
            <a:r>
              <a:rPr lang="fr-FR" sz="1200" dirty="0" err="1" smtClean="0"/>
              <a:t>impedance</a:t>
            </a:r>
            <a:r>
              <a:rPr lang="fr-FR" sz="1200" dirty="0" smtClean="0"/>
              <a:t> E. </a:t>
            </a:r>
            <a:r>
              <a:rPr lang="fr-FR" sz="1200" dirty="0" err="1" smtClean="0"/>
              <a:t>Burdet</a:t>
            </a:r>
            <a:r>
              <a:rPr lang="fr-FR" sz="1200" dirty="0" smtClean="0"/>
              <a:t> &amp; al. 2001</a:t>
            </a:r>
          </a:p>
          <a:p>
            <a:r>
              <a:rPr lang="fr-FR" sz="1200" dirty="0" smtClean="0"/>
              <a:t>3 – Modulation of </a:t>
            </a:r>
            <a:r>
              <a:rPr lang="fr-FR" sz="1200" dirty="0" err="1" smtClean="0"/>
              <a:t>elbow</a:t>
            </a:r>
            <a:r>
              <a:rPr lang="fr-FR" sz="1200" dirty="0" smtClean="0"/>
              <a:t> joint </a:t>
            </a:r>
            <a:r>
              <a:rPr lang="fr-FR" sz="1200" dirty="0" err="1" smtClean="0"/>
              <a:t>stiffness</a:t>
            </a:r>
            <a:r>
              <a:rPr lang="fr-FR" sz="1200" dirty="0" smtClean="0"/>
              <a:t> in a vertical plane </a:t>
            </a:r>
            <a:r>
              <a:rPr lang="fr-FR" sz="1200" dirty="0" err="1" smtClean="0"/>
              <a:t>during</a:t>
            </a:r>
            <a:r>
              <a:rPr lang="fr-FR" sz="1200" dirty="0" smtClean="0"/>
              <a:t> </a:t>
            </a:r>
            <a:r>
              <a:rPr lang="fr-FR" sz="1200" dirty="0" err="1" smtClean="0"/>
              <a:t>cyclic</a:t>
            </a:r>
            <a:r>
              <a:rPr lang="fr-FR" sz="1200" dirty="0" smtClean="0"/>
              <a:t> </a:t>
            </a:r>
            <a:r>
              <a:rPr lang="fr-FR" sz="1200" dirty="0" err="1" smtClean="0"/>
              <a:t>movement</a:t>
            </a:r>
            <a:r>
              <a:rPr lang="fr-FR" sz="1200" dirty="0" smtClean="0"/>
              <a:t> at </a:t>
            </a:r>
            <a:r>
              <a:rPr lang="fr-FR" sz="1200" dirty="0" err="1" smtClean="0"/>
              <a:t>lower</a:t>
            </a:r>
            <a:r>
              <a:rPr lang="fr-FR" sz="1200" dirty="0" smtClean="0"/>
              <a:t> or </a:t>
            </a:r>
            <a:r>
              <a:rPr lang="fr-FR" sz="1200" dirty="0" err="1" smtClean="0"/>
              <a:t>higher</a:t>
            </a:r>
            <a:r>
              <a:rPr lang="fr-FR" sz="1200" dirty="0" smtClean="0"/>
              <a:t> </a:t>
            </a:r>
            <a:r>
              <a:rPr lang="fr-FR" sz="1200" dirty="0" err="1" smtClean="0"/>
              <a:t>frequencies</a:t>
            </a:r>
            <a:r>
              <a:rPr lang="fr-FR" sz="1200" dirty="0" smtClean="0"/>
              <a:t> </a:t>
            </a:r>
            <a:r>
              <a:rPr lang="fr-FR" sz="1200" dirty="0" err="1" smtClean="0"/>
              <a:t>than</a:t>
            </a:r>
            <a:r>
              <a:rPr lang="fr-FR" sz="1200" dirty="0" smtClean="0"/>
              <a:t> </a:t>
            </a:r>
            <a:r>
              <a:rPr lang="fr-FR" sz="1200" dirty="0" err="1" smtClean="0"/>
              <a:t>natural</a:t>
            </a:r>
            <a:r>
              <a:rPr lang="fr-FR" sz="1200" dirty="0" smtClean="0"/>
              <a:t> </a:t>
            </a:r>
            <a:r>
              <a:rPr lang="fr-FR" sz="1200" dirty="0" err="1" smtClean="0"/>
              <a:t>frequency</a:t>
            </a:r>
            <a:r>
              <a:rPr lang="fr-FR" sz="1200" dirty="0" smtClean="0"/>
              <a:t>, M.O Abe 2003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22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173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746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876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155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624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099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832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8602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6676569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6676568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fr-FR" noProof="0"/>
              <a:t>Sous-titre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8" name="Ovale 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420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5512953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504688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fr-FR" noProof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27085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11">
            <a:extLst>
              <a:ext uri="{FF2B5EF4-FFF2-40B4-BE49-F238E27FC236}">
                <a16:creationId xmlns:a16="http://schemas.microsoft.com/office/drawing/2014/main" id="{47CEAAF6-CCA9-40F8-8A3D-FAAD92220D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20" y="2404234"/>
            <a:ext cx="5330038" cy="1746504"/>
          </a:xfrm>
        </p:spPr>
        <p:txBody>
          <a:bodyPr vert="horz" lIns="0" tIns="45720" rIns="0" bIns="45720" rtlCol="0" anchor="b" anchorCtr="1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marL="0" lvl="0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3180" y="4553291"/>
            <a:ext cx="5049510" cy="521208"/>
          </a:xfrm>
        </p:spPr>
        <p:txBody>
          <a:bodyPr vert="horz" lIns="0" tIns="0" rIns="0" bIns="0" rtlCol="0" anchor="t" anchorCtr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47717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11">
            <a:extLst>
              <a:ext uri="{FF2B5EF4-FFF2-40B4-BE49-F238E27FC236}">
                <a16:creationId xmlns:a16="http://schemas.microsoft.com/office/drawing/2014/main" id="{AAF32A0B-D38A-4E4A-BD5E-94B67129650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CD3B46-48AB-439D-A981-D3596F97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288" y="2313432"/>
            <a:ext cx="6592824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0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28D712-0D13-4ECD-9BEB-B8EE651FF6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90288" y="5193792"/>
            <a:ext cx="6592824" cy="97840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41130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7204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Content_3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8842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00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3242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DEF523FD-B1FC-40A7-93AA-389CB38E1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985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contenu 15">
            <a:extLst>
              <a:ext uri="{FF2B5EF4-FFF2-40B4-BE49-F238E27FC236}">
                <a16:creationId xmlns:a16="http://schemas.microsoft.com/office/drawing/2014/main" id="{B60C8CC8-C869-4395-B389-D76DF4A56AA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4385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1" name="Espace réservé du numéro de diapositive 7">
            <a:extLst>
              <a:ext uri="{FF2B5EF4-FFF2-40B4-BE49-F238E27FC236}">
                <a16:creationId xmlns:a16="http://schemas.microsoft.com/office/drawing/2014/main" id="{E10AF5F6-7B7D-4CE6-A1D0-2F46804D3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5480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_2 colum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1847927"/>
            <a:ext cx="7315200" cy="146161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2304413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C3BB8EAB-4266-4938-A8CB-6D18C93801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9750" y="4048520"/>
            <a:ext cx="7315200" cy="146161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contenu 15">
            <a:extLst>
              <a:ext uri="{FF2B5EF4-FFF2-40B4-BE49-F238E27FC236}">
                <a16:creationId xmlns:a16="http://schemas.microsoft.com/office/drawing/2014/main" id="{716D363C-A0A5-4FB1-8CC2-850C0CD9F4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7700" y="4505006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5" name="Espace réservé du numéro de diapositive 7">
            <a:extLst>
              <a:ext uri="{FF2B5EF4-FFF2-40B4-BE49-F238E27FC236}">
                <a16:creationId xmlns:a16="http://schemas.microsoft.com/office/drawing/2014/main" id="{AAF4A39B-C3C3-4691-BB94-371047ADD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4719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Content_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2100" y="1733627"/>
            <a:ext cx="2438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00F546D-5491-4A19-9725-5C920C573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1597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2100" y="1733627"/>
            <a:ext cx="8534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0AC1958-0DCB-4970-ADE3-E64DAAFC501D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12" name="Rectangle 11">
              <a:extLst>
                <a:ext uri="{FF2B5EF4-FFF2-40B4-BE49-F238E27FC236}">
                  <a16:creationId xmlns:a16="http://schemas.microsoft.com/office/drawing/2014/main" id="{9E71A8D8-5A28-4968-9E80-110E9CB88F92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7239C02C-1FAD-4E73-AB32-5A30A946A44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FF40D550-A563-4E50-AEE9-6D9D19499F9F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5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0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91417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5F3686C7-DF83-47D9-A485-35F4F1D36A69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0B36CF-9391-49E9-B599-8B724B6EF267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468CE156-5D60-42B0-A4F9-33FA8553780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5" name="Espace réservé du numéro de diapositive 7">
            <a:extLst>
              <a:ext uri="{FF2B5EF4-FFF2-40B4-BE49-F238E27FC236}">
                <a16:creationId xmlns:a16="http://schemas.microsoft.com/office/drawing/2014/main" id="{9E4521A1-4C9D-4795-B551-D151E8856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0370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75C086E-F523-4C77-938F-0DB6203DBC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1080" y="2139696"/>
            <a:ext cx="5578995" cy="879928"/>
          </a:xfrm>
        </p:spPr>
        <p:txBody>
          <a:bodyPr vert="horz" lIns="91440" tIns="45720" rIns="91440" bIns="45720" rtlCol="0" anchor="ctr" anchorCtr="0">
            <a:noAutofit/>
          </a:bodyPr>
          <a:lstStyle>
            <a:lvl1pPr algn="l">
              <a:defRPr lang="en-GB" b="0" dirty="0">
                <a:solidFill>
                  <a:schemeClr val="bg1"/>
                </a:solidFill>
              </a:defRPr>
            </a:lvl1pPr>
          </a:lstStyle>
          <a:p>
            <a:pPr marL="0" lvl="0" algn="ctr" rtl="0"/>
            <a:r>
              <a:rPr lang="fr-FR" noProof="0" dirty="0"/>
              <a:t>TITRE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B293AB9F-7C1D-4A06-9F42-4FD67BF27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9075" y="3653097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224AF9FB-5C6E-4050-AE8D-3B218C0F1D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9075" y="4392151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Téléphone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68A48B85-2E0B-42B6-AB4A-1302D3C828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9075" y="5131205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Adresse électronique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9244D33F-3A47-4DE3-8198-7AC5316E31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59075" y="5870258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Site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220C8B-2E18-4D91-A806-6C7C3940B00F}"/>
              </a:ext>
            </a:extLst>
          </p:cNvPr>
          <p:cNvSpPr>
            <a:spLocks noGrp="1" noChangeAspect="1"/>
          </p:cNvSpPr>
          <p:nvPr>
            <p:ph sz="quarter" idx="19" hasCustomPrompt="1"/>
          </p:nvPr>
        </p:nvSpPr>
        <p:spPr>
          <a:xfrm>
            <a:off x="691080" y="4295744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3D1C5933-D103-4989-B652-C7B692341BC3}"/>
              </a:ext>
            </a:extLst>
          </p:cNvPr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691080" y="5034798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A80EBF65-A9A1-4724-B962-DB9B79A924AA}"/>
              </a:ext>
            </a:extLst>
          </p:cNvPr>
          <p:cNvSpPr>
            <a:spLocks noGrp="1" noChangeAspect="1"/>
          </p:cNvSpPr>
          <p:nvPr>
            <p:ph sz="quarter" idx="21" hasCustomPrompt="1"/>
          </p:nvPr>
        </p:nvSpPr>
        <p:spPr>
          <a:xfrm>
            <a:off x="691080" y="5773851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06251342-E6E3-4C57-A0A9-C7BB3DCAE115}"/>
              </a:ext>
            </a:extLst>
          </p:cNvPr>
          <p:cNvSpPr>
            <a:spLocks noGrp="1" noChangeAspect="1"/>
          </p:cNvSpPr>
          <p:nvPr>
            <p:ph sz="quarter" idx="22" hasCustomPrompt="1"/>
          </p:nvPr>
        </p:nvSpPr>
        <p:spPr>
          <a:xfrm>
            <a:off x="691080" y="3556690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fr-FR" noProof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416935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fr-FR" noProof="0"/>
              <a:t>Sous-titre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8" name="Ovale 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5BE10AC4-CBFC-4ECF-92D5-9CE1874F58D7}"/>
              </a:ext>
            </a:extLst>
          </p:cNvPr>
          <p:cNvSpPr/>
          <p:nvPr userDrawn="1"/>
        </p:nvSpPr>
        <p:spPr>
          <a:xfrm>
            <a:off x="0" y="0"/>
            <a:ext cx="8568965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66734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4334810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fr-FR" noProof="0"/>
              <a:t>Sous-titre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8" name="Ovale 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73491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C7BBA6D3-FEB9-412B-8FBB-095FC3A60A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3186" y="1825625"/>
            <a:ext cx="10815864" cy="4351338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1002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4A4F74B-B2CD-407C-865A-037EDFAC9DB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3186" y="1825625"/>
            <a:ext cx="5386614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A2548E2E-973A-4D52-ACB9-BF564F4073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27685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51069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/>
              <a:t>Modifiez le style du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10CD1AD0-C8B7-4785-A47D-D822CF4F24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3186" y="1681163"/>
            <a:ext cx="533214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90A1BBCF-EEF1-4C9A-BA10-9657A79560D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27685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79F8415A-57A2-4D5C-97B0-E78499CC7C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186" y="2505075"/>
            <a:ext cx="5332147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37A31490-A10D-455A-B515-E26064D0E10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27685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49070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9F5DF135-B773-4FF0-A198-68776815912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D4BA48E-457A-42FA-BC00-3AE386B38A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265862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3DF8AE6-3466-400C-B6F1-335DF4DE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76986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noProof="0" smtClean="0">
                <a:solidFill>
                  <a:schemeClr val="bg1"/>
                </a:solidFill>
              </a:rPr>
              <a:pPr algn="ctr" rtl="0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3EA16B2-FFAE-4A6E-977D-191BC1DB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 3">
            <a:extLst>
              <a:ext uri="{FF2B5EF4-FFF2-40B4-BE49-F238E27FC236}">
                <a16:creationId xmlns:a16="http://schemas.microsoft.com/office/drawing/2014/main" id="{436B2E80-B2B9-4309-8C9B-11D0B83C43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’image 2">
            <a:extLst>
              <a:ext uri="{FF2B5EF4-FFF2-40B4-BE49-F238E27FC236}">
                <a16:creationId xmlns:a16="http://schemas.microsoft.com/office/drawing/2014/main" id="{03DB89DF-F372-4E54-9DFD-D53E42A2B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29434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0F2147C-DDBF-4431-95AC-650CCE32F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tx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  <p:sp>
        <p:nvSpPr>
          <p:cNvPr id="2" name="Espace réservé au titre 1">
            <a:extLst>
              <a:ext uri="{FF2B5EF4-FFF2-40B4-BE49-F238E27FC236}">
                <a16:creationId xmlns:a16="http://schemas.microsoft.com/office/drawing/2014/main" id="{224C3681-351A-40D9-8C08-632E982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7CEF16-92A3-4A77-B95D-A9DB5231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967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  <p:sldLayoutId id="2147483669" r:id="rId11"/>
    <p:sldLayoutId id="2147483655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jp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sv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8.sv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31.svg"/><Relationship Id="rId4" Type="http://schemas.openxmlformats.org/officeDocument/2006/relationships/image" Target="../media/image29.png"/><Relationship Id="rId9" Type="http://schemas.openxmlformats.org/officeDocument/2006/relationships/image" Target="../media/image3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8.svg"/><Relationship Id="rId4" Type="http://schemas.openxmlformats.org/officeDocument/2006/relationships/image" Target="../media/image33.png"/><Relationship Id="rId9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AA8DA-C40B-4AB9-9407-30FB70335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C</a:t>
            </a:r>
            <a:r>
              <a:rPr lang="fr-FR" sz="3600" dirty="0"/>
              <a:t>OMMANDE BIO-INSPIREE DE ROBOT POUR DES TACHES RYTHMIQUES EN INTERACTION AVEC L’ENVIRONNEMENT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B28A8D9C-5123-4D2B-9272-016EF90E0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/>
              <a:t>Vincent FORTINEAU, Isabelle SIEGLER, Maria MAKAROV, Pedro RODRIGUEZ-AYERBE</a:t>
            </a:r>
          </a:p>
        </p:txBody>
      </p:sp>
      <p:grpSp>
        <p:nvGrpSpPr>
          <p:cNvPr id="4" name="Groupe 3" descr="élément décoratif">
            <a:extLst>
              <a:ext uri="{FF2B5EF4-FFF2-40B4-BE49-F238E27FC236}">
                <a16:creationId xmlns:a16="http://schemas.microsoft.com/office/drawing/2014/main" id="{EB664AAE-5AE9-41D7-8346-002B9F445323}"/>
              </a:ext>
            </a:extLst>
          </p:cNvPr>
          <p:cNvGrpSpPr/>
          <p:nvPr/>
        </p:nvGrpSpPr>
        <p:grpSpPr>
          <a:xfrm>
            <a:off x="-3740" y="0"/>
            <a:ext cx="6208649" cy="6858000"/>
            <a:chOff x="-3740" y="0"/>
            <a:chExt cx="6208649" cy="6858000"/>
          </a:xfrm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927C3783-B800-4093-BB0D-D5AEF08C3B59}"/>
                </a:ext>
              </a:extLst>
            </p:cNvPr>
            <p:cNvSpPr/>
            <p:nvPr/>
          </p:nvSpPr>
          <p:spPr>
            <a:xfrm>
              <a:off x="-3740" y="0"/>
              <a:ext cx="6208649" cy="6858000"/>
            </a:xfrm>
            <a:custGeom>
              <a:avLst/>
              <a:gdLst>
                <a:gd name="connsiteX0" fmla="*/ 0 w 6208649"/>
                <a:gd name="connsiteY0" fmla="*/ 0 h 6858000"/>
                <a:gd name="connsiteX1" fmla="*/ 6208649 w 6208649"/>
                <a:gd name="connsiteY1" fmla="*/ 0 h 6858000"/>
                <a:gd name="connsiteX2" fmla="*/ 2737815 w 6208649"/>
                <a:gd name="connsiteY2" fmla="*/ 6858000 h 6858000"/>
                <a:gd name="connsiteX3" fmla="*/ 0 w 620864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649" h="6858000">
                  <a:moveTo>
                    <a:pt x="0" y="0"/>
                  </a:moveTo>
                  <a:lnTo>
                    <a:pt x="6208649" y="0"/>
                  </a:lnTo>
                  <a:lnTo>
                    <a:pt x="27378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76E978-A841-4A4F-B153-CC369D9391D3}"/>
                </a:ext>
              </a:extLst>
            </p:cNvPr>
            <p:cNvSpPr/>
            <p:nvPr/>
          </p:nvSpPr>
          <p:spPr>
            <a:xfrm>
              <a:off x="1451429" y="0"/>
              <a:ext cx="3222172" cy="6858000"/>
            </a:xfrm>
            <a:prstGeom prst="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pic>
        <p:nvPicPr>
          <p:cNvPr id="7" name="Espace réservé pour une image  6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" r="26092"/>
          <a:stretch/>
        </p:blipFill>
        <p:spPr>
          <a:xfrm>
            <a:off x="-1" y="0"/>
            <a:ext cx="6676568" cy="6858000"/>
          </a:xfrm>
        </p:spPr>
      </p:pic>
      <p:grpSp>
        <p:nvGrpSpPr>
          <p:cNvPr id="13" name="Groupe 12" descr="élément décoratif">
            <a:extLst>
              <a:ext uri="{FF2B5EF4-FFF2-40B4-BE49-F238E27FC236}">
                <a16:creationId xmlns:a16="http://schemas.microsoft.com/office/drawing/2014/main" id="{EB664AAE-5AE9-41D7-8346-002B9F445323}"/>
              </a:ext>
            </a:extLst>
          </p:cNvPr>
          <p:cNvGrpSpPr/>
          <p:nvPr/>
        </p:nvGrpSpPr>
        <p:grpSpPr>
          <a:xfrm>
            <a:off x="-5888" y="10731"/>
            <a:ext cx="6208649" cy="6858000"/>
            <a:chOff x="-3740" y="0"/>
            <a:chExt cx="6208649" cy="6858000"/>
          </a:xfrm>
        </p:grpSpPr>
        <p:sp>
          <p:nvSpPr>
            <p:cNvPr id="15" name="Forme libre : Forme 10">
              <a:extLst>
                <a:ext uri="{FF2B5EF4-FFF2-40B4-BE49-F238E27FC236}">
                  <a16:creationId xmlns:a16="http://schemas.microsoft.com/office/drawing/2014/main" id="{927C3783-B800-4093-BB0D-D5AEF08C3B59}"/>
                </a:ext>
              </a:extLst>
            </p:cNvPr>
            <p:cNvSpPr/>
            <p:nvPr/>
          </p:nvSpPr>
          <p:spPr>
            <a:xfrm>
              <a:off x="-3740" y="0"/>
              <a:ext cx="6208649" cy="6858000"/>
            </a:xfrm>
            <a:custGeom>
              <a:avLst/>
              <a:gdLst>
                <a:gd name="connsiteX0" fmla="*/ 0 w 6208649"/>
                <a:gd name="connsiteY0" fmla="*/ 0 h 6858000"/>
                <a:gd name="connsiteX1" fmla="*/ 6208649 w 6208649"/>
                <a:gd name="connsiteY1" fmla="*/ 0 h 6858000"/>
                <a:gd name="connsiteX2" fmla="*/ 2737815 w 6208649"/>
                <a:gd name="connsiteY2" fmla="*/ 6858000 h 6858000"/>
                <a:gd name="connsiteX3" fmla="*/ 0 w 620864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649" h="6858000">
                  <a:moveTo>
                    <a:pt x="0" y="0"/>
                  </a:moveTo>
                  <a:lnTo>
                    <a:pt x="6208649" y="0"/>
                  </a:lnTo>
                  <a:lnTo>
                    <a:pt x="27378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76E978-A841-4A4F-B153-CC369D9391D3}"/>
                </a:ext>
              </a:extLst>
            </p:cNvPr>
            <p:cNvSpPr/>
            <p:nvPr/>
          </p:nvSpPr>
          <p:spPr>
            <a:xfrm>
              <a:off x="1451429" y="0"/>
              <a:ext cx="3222172" cy="6858000"/>
            </a:xfrm>
            <a:prstGeom prst="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sp>
        <p:nvSpPr>
          <p:cNvPr id="8" name="ZoneTexte 7"/>
          <p:cNvSpPr txBox="1"/>
          <p:nvPr/>
        </p:nvSpPr>
        <p:spPr>
          <a:xfrm>
            <a:off x="89953" y="6596390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/>
              <a:t>Pollen </a:t>
            </a:r>
            <a:r>
              <a:rPr lang="fr-FR" sz="1100" i="1" dirty="0" err="1"/>
              <a:t>Robotics</a:t>
            </a:r>
            <a:r>
              <a:rPr lang="fr-FR" sz="1100" i="1" dirty="0"/>
              <a:t> SAS</a:t>
            </a:r>
          </a:p>
        </p:txBody>
      </p:sp>
    </p:spTree>
    <p:extLst>
      <p:ext uri="{BB962C8B-B14F-4D97-AF65-F5344CB8AC3E}">
        <p14:creationId xmlns:p14="http://schemas.microsoft.com/office/powerpoint/2010/main" val="172556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pour une image  5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9" r="7899"/>
          <a:stretch>
            <a:fillRect/>
          </a:stretch>
        </p:blipFill>
        <p:spPr>
          <a:xfrm>
            <a:off x="0" y="0"/>
            <a:ext cx="12192000" cy="6858000"/>
          </a:xfrm>
        </p:spPr>
      </p:pic>
      <p:grpSp>
        <p:nvGrpSpPr>
          <p:cNvPr id="3" name="Groupe 2" descr="élément décoratif">
            <a:extLst>
              <a:ext uri="{FF2B5EF4-FFF2-40B4-BE49-F238E27FC236}">
                <a16:creationId xmlns:a16="http://schemas.microsoft.com/office/drawing/2014/main" id="{B96D2D9B-E0B9-499F-9404-108DB59E4502}"/>
              </a:ext>
            </a:extLst>
          </p:cNvPr>
          <p:cNvGrpSpPr/>
          <p:nvPr/>
        </p:nvGrpSpPr>
        <p:grpSpPr>
          <a:xfrm>
            <a:off x="0" y="0"/>
            <a:ext cx="7765989" cy="6858000"/>
            <a:chOff x="0" y="0"/>
            <a:chExt cx="6957056" cy="6858000"/>
          </a:xfrm>
        </p:grpSpPr>
        <p:sp>
          <p:nvSpPr>
            <p:cNvPr id="33" name="Parallélogramme 32">
              <a:extLst>
                <a:ext uri="{FF2B5EF4-FFF2-40B4-BE49-F238E27FC236}">
                  <a16:creationId xmlns:a16="http://schemas.microsoft.com/office/drawing/2014/main" id="{7E2E6584-76E9-4C56-A349-C9CDC96DC5F0}"/>
                </a:ext>
              </a:extLst>
            </p:cNvPr>
            <p:cNvSpPr/>
            <p:nvPr/>
          </p:nvSpPr>
          <p:spPr>
            <a:xfrm>
              <a:off x="1150750" y="0"/>
              <a:ext cx="5491804" cy="6858000"/>
            </a:xfrm>
            <a:prstGeom prst="parallelogram">
              <a:avLst>
                <a:gd name="adj" fmla="val 32713"/>
              </a:avLst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B73F00D5-E18D-4210-AD3E-3ED73CEE4865}"/>
                </a:ext>
              </a:extLst>
            </p:cNvPr>
            <p:cNvSpPr/>
            <p:nvPr/>
          </p:nvSpPr>
          <p:spPr>
            <a:xfrm flipH="1" flipV="1">
              <a:off x="0" y="482600"/>
              <a:ext cx="6957056" cy="5892799"/>
            </a:xfrm>
            <a:custGeom>
              <a:avLst/>
              <a:gdLst>
                <a:gd name="connsiteX0" fmla="*/ 6957056 w 6957056"/>
                <a:gd name="connsiteY0" fmla="*/ 5892799 h 5892799"/>
                <a:gd name="connsiteX1" fmla="*/ 0 w 6957056"/>
                <a:gd name="connsiteY1" fmla="*/ 5892799 h 5892799"/>
                <a:gd name="connsiteX2" fmla="*/ 1473200 w 6957056"/>
                <a:gd name="connsiteY2" fmla="*/ 0 h 5892799"/>
                <a:gd name="connsiteX3" fmla="*/ 6957056 w 6957056"/>
                <a:gd name="connsiteY3" fmla="*/ 0 h 589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7056" h="5892799">
                  <a:moveTo>
                    <a:pt x="6957056" y="5892799"/>
                  </a:moveTo>
                  <a:lnTo>
                    <a:pt x="0" y="5892799"/>
                  </a:lnTo>
                  <a:lnTo>
                    <a:pt x="1473200" y="0"/>
                  </a:lnTo>
                  <a:lnTo>
                    <a:pt x="6957056" y="0"/>
                  </a:lnTo>
                  <a:close/>
                </a:path>
              </a:pathLst>
            </a:custGeom>
            <a:solidFill>
              <a:schemeClr val="accent2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6577883-A694-450C-A2C7-C9C8A85D9915}"/>
                </a:ext>
              </a:extLst>
            </p:cNvPr>
            <p:cNvSpPr/>
            <p:nvPr/>
          </p:nvSpPr>
          <p:spPr>
            <a:xfrm flipH="1" flipV="1">
              <a:off x="0" y="1511040"/>
              <a:ext cx="4929512" cy="317760"/>
            </a:xfrm>
            <a:custGeom>
              <a:avLst/>
              <a:gdLst>
                <a:gd name="connsiteX0" fmla="*/ 6267450 w 6267450"/>
                <a:gd name="connsiteY0" fmla="*/ 883839 h 883839"/>
                <a:gd name="connsiteX1" fmla="*/ 0 w 6267450"/>
                <a:gd name="connsiteY1" fmla="*/ 883839 h 883839"/>
                <a:gd name="connsiteX2" fmla="*/ 220960 w 6267450"/>
                <a:gd name="connsiteY2" fmla="*/ 0 h 883839"/>
                <a:gd name="connsiteX3" fmla="*/ 6267450 w 6267450"/>
                <a:gd name="connsiteY3" fmla="*/ 0 h 88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7450" h="883839">
                  <a:moveTo>
                    <a:pt x="6267450" y="883839"/>
                  </a:moveTo>
                  <a:lnTo>
                    <a:pt x="0" y="883839"/>
                  </a:lnTo>
                  <a:lnTo>
                    <a:pt x="220960" y="0"/>
                  </a:lnTo>
                  <a:lnTo>
                    <a:pt x="626745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dirty="0"/>
            </a:p>
          </p:txBody>
        </p:sp>
      </p:grpSp>
      <p:sp>
        <p:nvSpPr>
          <p:cNvPr id="12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32" y="1511041"/>
            <a:ext cx="5049510" cy="317759"/>
          </a:xfrm>
        </p:spPr>
        <p:txBody>
          <a:bodyPr rtlCol="0"/>
          <a:lstStyle/>
          <a:p>
            <a:pPr rtl="0"/>
            <a:r>
              <a:rPr lang="fr-FR" dirty="0"/>
              <a:t>Contexte</a:t>
            </a:r>
          </a:p>
        </p:txBody>
      </p:sp>
      <p:sp>
        <p:nvSpPr>
          <p:cNvPr id="14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rot="10800000" flipH="1" flipV="1">
            <a:off x="6689308" y="0"/>
            <a:ext cx="5502692" cy="883839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r>
              <a:rPr lang="fr-FR" sz="4400" dirty="0"/>
              <a:t>SOMMAIRE</a:t>
            </a:r>
          </a:p>
        </p:txBody>
      </p:sp>
      <p:sp>
        <p:nvSpPr>
          <p:cNvPr id="15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-3" y="2423284"/>
            <a:ext cx="5502692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16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36861" y="2423284"/>
            <a:ext cx="5049510" cy="317759"/>
          </a:xfrm>
          <a:prstGeom prst="rect">
            <a:avLst/>
          </a:prstGeom>
        </p:spPr>
        <p:txBody>
          <a:bodyPr vert="horz" lIns="0" tIns="0" rIns="0" bIns="0" rtlCol="0" anchor="t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Impédance mécanique</a:t>
            </a:r>
          </a:p>
        </p:txBody>
      </p:sp>
      <p:sp>
        <p:nvSpPr>
          <p:cNvPr id="17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0" y="3618991"/>
            <a:ext cx="5502692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18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36864" y="3618991"/>
            <a:ext cx="5049510" cy="317759"/>
          </a:xfrm>
          <a:prstGeom prst="rect">
            <a:avLst/>
          </a:prstGeom>
        </p:spPr>
        <p:txBody>
          <a:bodyPr vert="horz" lIns="0" tIns="0" rIns="0" bIns="0" rtlCol="0" anchor="t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Expérience</a:t>
            </a:r>
          </a:p>
        </p:txBody>
      </p:sp>
      <p:sp>
        <p:nvSpPr>
          <p:cNvPr id="19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-11146" y="4816856"/>
            <a:ext cx="5502692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21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25718" y="4816856"/>
            <a:ext cx="5049510" cy="317759"/>
          </a:xfrm>
          <a:prstGeom prst="rect">
            <a:avLst/>
          </a:prstGeom>
        </p:spPr>
        <p:txBody>
          <a:bodyPr vert="horz" lIns="0" tIns="0" rIns="0" bIns="0" rtlCol="0" anchor="t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Conclusion</a:t>
            </a:r>
          </a:p>
        </p:txBody>
      </p:sp>
      <p:sp>
        <p:nvSpPr>
          <p:cNvPr id="22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0" y="1824734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23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709928" y="1818567"/>
            <a:ext cx="2286530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/>
              <a:t>Mouvement rythmique</a:t>
            </a:r>
          </a:p>
        </p:txBody>
      </p:sp>
      <p:sp>
        <p:nvSpPr>
          <p:cNvPr id="24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0" y="2106861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25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627632" y="2106860"/>
            <a:ext cx="2369058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Interactions </a:t>
            </a:r>
            <a:r>
              <a:rPr lang="fr-FR" sz="1800" dirty="0" smtClean="0"/>
              <a:t>physique</a:t>
            </a:r>
            <a:endParaRPr lang="fr-FR" sz="1800" dirty="0"/>
          </a:p>
        </p:txBody>
      </p:sp>
      <p:sp>
        <p:nvSpPr>
          <p:cNvPr id="26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-11146" y="2738741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27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4094" y="3019157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28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-11146" y="3299573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30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2999232" y="2747063"/>
            <a:ext cx="990424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/>
              <a:t>Définition</a:t>
            </a:r>
          </a:p>
        </p:txBody>
      </p:sp>
      <p:sp>
        <p:nvSpPr>
          <p:cNvPr id="32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627632" y="3018746"/>
            <a:ext cx="2362023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/>
              <a:t>Méthodes d’estimations</a:t>
            </a:r>
          </a:p>
        </p:txBody>
      </p:sp>
      <p:sp>
        <p:nvSpPr>
          <p:cNvPr id="34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422193" y="3298231"/>
            <a:ext cx="2510161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 smtClean="0"/>
              <a:t>Variations </a:t>
            </a:r>
            <a:r>
              <a:rPr lang="fr-FR" sz="1800" dirty="0"/>
              <a:t>des paramètres</a:t>
            </a:r>
          </a:p>
        </p:txBody>
      </p:sp>
      <p:sp>
        <p:nvSpPr>
          <p:cNvPr id="35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0" y="3930185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36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3390900" y="3943319"/>
            <a:ext cx="580996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/>
              <a:t>Robot</a:t>
            </a:r>
          </a:p>
        </p:txBody>
      </p:sp>
      <p:sp>
        <p:nvSpPr>
          <p:cNvPr id="37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-3" y="4211545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38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2706625" y="4214591"/>
            <a:ext cx="1262224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/>
              <a:t>Transparence</a:t>
            </a:r>
          </a:p>
        </p:txBody>
      </p:sp>
      <p:sp>
        <p:nvSpPr>
          <p:cNvPr id="39" name="Forme libre : Forme 12">
            <a:extLst>
              <a:ext uri="{FF2B5EF4-FFF2-40B4-BE49-F238E27FC236}">
                <a16:creationId xmlns:a16="http://schemas.microsoft.com/office/drawing/2014/main" id="{C6577883-A694-450C-A2C7-C9C8A85D9915}"/>
              </a:ext>
            </a:extLst>
          </p:cNvPr>
          <p:cNvSpPr/>
          <p:nvPr/>
        </p:nvSpPr>
        <p:spPr>
          <a:xfrm flipH="1" flipV="1">
            <a:off x="-11146" y="4499266"/>
            <a:ext cx="4206240" cy="317760"/>
          </a:xfrm>
          <a:custGeom>
            <a:avLst/>
            <a:gdLst>
              <a:gd name="connsiteX0" fmla="*/ 6267450 w 6267450"/>
              <a:gd name="connsiteY0" fmla="*/ 883839 h 883839"/>
              <a:gd name="connsiteX1" fmla="*/ 0 w 6267450"/>
              <a:gd name="connsiteY1" fmla="*/ 883839 h 883839"/>
              <a:gd name="connsiteX2" fmla="*/ 220960 w 6267450"/>
              <a:gd name="connsiteY2" fmla="*/ 0 h 883839"/>
              <a:gd name="connsiteX3" fmla="*/ 6267450 w 6267450"/>
              <a:gd name="connsiteY3" fmla="*/ 0 h 8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7450" h="883839">
                <a:moveTo>
                  <a:pt x="6267450" y="883839"/>
                </a:moveTo>
                <a:lnTo>
                  <a:pt x="0" y="883839"/>
                </a:lnTo>
                <a:lnTo>
                  <a:pt x="220960" y="0"/>
                </a:lnTo>
                <a:lnTo>
                  <a:pt x="626745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dirty="0"/>
          </a:p>
        </p:txBody>
      </p:sp>
      <p:sp>
        <p:nvSpPr>
          <p:cNvPr id="40" name="Sous-titre 11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 txBox="1">
            <a:spLocks/>
          </p:cNvSpPr>
          <p:nvPr/>
        </p:nvSpPr>
        <p:spPr>
          <a:xfrm>
            <a:off x="1410173" y="4498857"/>
            <a:ext cx="2547533" cy="317759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800" dirty="0"/>
              <a:t>Estimation de l’impédance</a:t>
            </a:r>
          </a:p>
        </p:txBody>
      </p:sp>
    </p:spTree>
    <p:extLst>
      <p:ext uri="{BB962C8B-B14F-4D97-AF65-F5344CB8AC3E}">
        <p14:creationId xmlns:p14="http://schemas.microsoft.com/office/powerpoint/2010/main" val="2366578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/>
          <p:cNvGrpSpPr/>
          <p:nvPr/>
        </p:nvGrpSpPr>
        <p:grpSpPr>
          <a:xfrm>
            <a:off x="323850" y="2676525"/>
            <a:ext cx="5669326" cy="352425"/>
            <a:chOff x="323850" y="2676525"/>
            <a:chExt cx="5669326" cy="352425"/>
          </a:xfrm>
        </p:grpSpPr>
        <p:sp>
          <p:nvSpPr>
            <p:cNvPr id="17" name="Rectangle à coins arrondis 16"/>
            <p:cNvSpPr/>
            <p:nvPr/>
          </p:nvSpPr>
          <p:spPr>
            <a:xfrm>
              <a:off x="323850" y="2798285"/>
              <a:ext cx="5669326" cy="106840"/>
            </a:xfrm>
            <a:prstGeom prst="roundRect">
              <a:avLst/>
            </a:prstGeom>
            <a:gradFill>
              <a:gsLst>
                <a:gs pos="0">
                  <a:schemeClr val="tx2"/>
                </a:gs>
                <a:gs pos="47000">
                  <a:schemeClr val="accent3"/>
                </a:gs>
                <a:gs pos="79000">
                  <a:schemeClr val="accent4"/>
                </a:gs>
                <a:gs pos="100000">
                  <a:schemeClr val="bg2">
                    <a:lumMod val="50000"/>
                  </a:schemeClr>
                </a:gs>
              </a:gsLst>
              <a:lin ang="0" scaled="0"/>
            </a:gradFill>
            <a:ln>
              <a:gradFill>
                <a:gsLst>
                  <a:gs pos="0">
                    <a:schemeClr val="accent2"/>
                  </a:gs>
                  <a:gs pos="48000">
                    <a:schemeClr val="accent3"/>
                  </a:gs>
                  <a:gs pos="75000">
                    <a:schemeClr val="accent4"/>
                  </a:gs>
                  <a:gs pos="100000">
                    <a:schemeClr val="bg2">
                      <a:lumMod val="50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/>
            <p:cNvSpPr/>
            <p:nvPr/>
          </p:nvSpPr>
          <p:spPr>
            <a:xfrm>
              <a:off x="704850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1</a:t>
              </a:r>
              <a:endParaRPr lang="fr-FR" dirty="0"/>
            </a:p>
          </p:txBody>
        </p:sp>
        <p:sp>
          <p:nvSpPr>
            <p:cNvPr id="18" name="Ellipse 17"/>
            <p:cNvSpPr/>
            <p:nvPr/>
          </p:nvSpPr>
          <p:spPr>
            <a:xfrm>
              <a:off x="1209675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2</a:t>
              </a:r>
              <a:endParaRPr lang="fr-FR" dirty="0"/>
            </a:p>
          </p:txBody>
        </p:sp>
        <p:sp>
          <p:nvSpPr>
            <p:cNvPr id="19" name="Ellipse 18"/>
            <p:cNvSpPr/>
            <p:nvPr/>
          </p:nvSpPr>
          <p:spPr>
            <a:xfrm>
              <a:off x="1714500" y="2686050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3</a:t>
              </a:r>
              <a:endParaRPr lang="fr-FR" dirty="0"/>
            </a:p>
          </p:txBody>
        </p:sp>
        <p:sp>
          <p:nvSpPr>
            <p:cNvPr id="20" name="Ellipse 19"/>
            <p:cNvSpPr/>
            <p:nvPr/>
          </p:nvSpPr>
          <p:spPr>
            <a:xfrm>
              <a:off x="2219325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4</a:t>
              </a:r>
              <a:endParaRPr lang="fr-FR" dirty="0"/>
            </a:p>
          </p:txBody>
        </p:sp>
        <p:sp>
          <p:nvSpPr>
            <p:cNvPr id="21" name="Ellipse 20"/>
            <p:cNvSpPr/>
            <p:nvPr/>
          </p:nvSpPr>
          <p:spPr>
            <a:xfrm>
              <a:off x="2724150" y="2686050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5</a:t>
              </a:r>
              <a:endParaRPr lang="fr-FR" dirty="0"/>
            </a:p>
          </p:txBody>
        </p:sp>
        <p:sp>
          <p:nvSpPr>
            <p:cNvPr id="22" name="Ellipse 21"/>
            <p:cNvSpPr/>
            <p:nvPr/>
          </p:nvSpPr>
          <p:spPr>
            <a:xfrm>
              <a:off x="3228975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6</a:t>
              </a:r>
              <a:endParaRPr lang="fr-FR" dirty="0"/>
            </a:p>
          </p:txBody>
        </p:sp>
        <p:sp>
          <p:nvSpPr>
            <p:cNvPr id="23" name="Ellipse 22"/>
            <p:cNvSpPr/>
            <p:nvPr/>
          </p:nvSpPr>
          <p:spPr>
            <a:xfrm>
              <a:off x="3733800" y="2686050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7</a:t>
              </a:r>
              <a:endParaRPr lang="fr-FR" dirty="0"/>
            </a:p>
          </p:txBody>
        </p:sp>
        <p:sp>
          <p:nvSpPr>
            <p:cNvPr id="24" name="Ellipse 23"/>
            <p:cNvSpPr/>
            <p:nvPr/>
          </p:nvSpPr>
          <p:spPr>
            <a:xfrm>
              <a:off x="4238625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8</a:t>
              </a:r>
              <a:endParaRPr lang="fr-FR" dirty="0"/>
            </a:p>
          </p:txBody>
        </p:sp>
        <p:sp>
          <p:nvSpPr>
            <p:cNvPr id="25" name="Ellipse 24"/>
            <p:cNvSpPr/>
            <p:nvPr/>
          </p:nvSpPr>
          <p:spPr>
            <a:xfrm>
              <a:off x="4743450" y="2686050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9</a:t>
              </a:r>
              <a:endParaRPr lang="fr-FR" dirty="0"/>
            </a:p>
          </p:txBody>
        </p:sp>
        <p:sp>
          <p:nvSpPr>
            <p:cNvPr id="26" name="Ellipse 25"/>
            <p:cNvSpPr/>
            <p:nvPr/>
          </p:nvSpPr>
          <p:spPr>
            <a:xfrm>
              <a:off x="5248275" y="2676525"/>
              <a:ext cx="342900" cy="3429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10</a:t>
              </a:r>
              <a:endParaRPr lang="fr-FR" dirty="0"/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323850" y="3451225"/>
            <a:ext cx="5669326" cy="342900"/>
            <a:chOff x="323850" y="2676525"/>
            <a:chExt cx="5669326" cy="342900"/>
          </a:xfrm>
        </p:grpSpPr>
        <p:sp>
          <p:nvSpPr>
            <p:cNvPr id="41" name="Rectangle à coins arrondis 40"/>
            <p:cNvSpPr/>
            <p:nvPr/>
          </p:nvSpPr>
          <p:spPr>
            <a:xfrm>
              <a:off x="323850" y="2798285"/>
              <a:ext cx="5669326" cy="1068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Ellipse 41"/>
            <p:cNvSpPr/>
            <p:nvPr/>
          </p:nvSpPr>
          <p:spPr>
            <a:xfrm>
              <a:off x="704850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1</a:t>
              </a:r>
              <a:endParaRPr lang="fr-FR" dirty="0"/>
            </a:p>
          </p:txBody>
        </p:sp>
        <p:sp>
          <p:nvSpPr>
            <p:cNvPr id="43" name="Ellipse 42"/>
            <p:cNvSpPr/>
            <p:nvPr/>
          </p:nvSpPr>
          <p:spPr>
            <a:xfrm>
              <a:off x="125412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4" name="Ellipse 43"/>
            <p:cNvSpPr/>
            <p:nvPr/>
          </p:nvSpPr>
          <p:spPr>
            <a:xfrm>
              <a:off x="175895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Ellipse 44"/>
            <p:cNvSpPr/>
            <p:nvPr/>
          </p:nvSpPr>
          <p:spPr>
            <a:xfrm>
              <a:off x="226377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6" name="Ellipse 45"/>
            <p:cNvSpPr/>
            <p:nvPr/>
          </p:nvSpPr>
          <p:spPr>
            <a:xfrm>
              <a:off x="276860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7" name="Ellipse 46"/>
            <p:cNvSpPr/>
            <p:nvPr/>
          </p:nvSpPr>
          <p:spPr>
            <a:xfrm>
              <a:off x="327342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Ellipse 47"/>
            <p:cNvSpPr/>
            <p:nvPr/>
          </p:nvSpPr>
          <p:spPr>
            <a:xfrm>
              <a:off x="377825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9" name="Ellipse 48"/>
            <p:cNvSpPr/>
            <p:nvPr/>
          </p:nvSpPr>
          <p:spPr>
            <a:xfrm>
              <a:off x="428307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50" name="Ellipse 49"/>
            <p:cNvSpPr/>
            <p:nvPr/>
          </p:nvSpPr>
          <p:spPr>
            <a:xfrm>
              <a:off x="478790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51" name="Ellipse 50"/>
            <p:cNvSpPr/>
            <p:nvPr/>
          </p:nvSpPr>
          <p:spPr>
            <a:xfrm>
              <a:off x="5292725" y="2712560"/>
              <a:ext cx="250825" cy="25082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65" name="Groupe 64"/>
          <p:cNvGrpSpPr/>
          <p:nvPr/>
        </p:nvGrpSpPr>
        <p:grpSpPr>
          <a:xfrm>
            <a:off x="323850" y="4120195"/>
            <a:ext cx="5669326" cy="342900"/>
            <a:chOff x="323850" y="4120195"/>
            <a:chExt cx="5669326" cy="342900"/>
          </a:xfrm>
        </p:grpSpPr>
        <p:grpSp>
          <p:nvGrpSpPr>
            <p:cNvPr id="52" name="Groupe 51"/>
            <p:cNvGrpSpPr/>
            <p:nvPr/>
          </p:nvGrpSpPr>
          <p:grpSpPr>
            <a:xfrm>
              <a:off x="323850" y="4157340"/>
              <a:ext cx="5669326" cy="261305"/>
              <a:chOff x="323850" y="2711605"/>
              <a:chExt cx="5669326" cy="261305"/>
            </a:xfrm>
          </p:grpSpPr>
          <p:sp>
            <p:nvSpPr>
              <p:cNvPr id="53" name="Rectangle à coins arrondis 52"/>
              <p:cNvSpPr/>
              <p:nvPr/>
            </p:nvSpPr>
            <p:spPr>
              <a:xfrm>
                <a:off x="323850" y="2798285"/>
                <a:ext cx="5669326" cy="10684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4" name="Ellipse 53"/>
              <p:cNvSpPr/>
              <p:nvPr/>
            </p:nvSpPr>
            <p:spPr>
              <a:xfrm>
                <a:off x="749300" y="271160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6" name="Ellipse 55"/>
              <p:cNvSpPr/>
              <p:nvPr/>
            </p:nvSpPr>
            <p:spPr>
              <a:xfrm>
                <a:off x="175895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7" name="Ellipse 56"/>
              <p:cNvSpPr/>
              <p:nvPr/>
            </p:nvSpPr>
            <p:spPr>
              <a:xfrm>
                <a:off x="226377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8" name="Ellipse 57"/>
              <p:cNvSpPr/>
              <p:nvPr/>
            </p:nvSpPr>
            <p:spPr>
              <a:xfrm>
                <a:off x="276860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9" name="Ellipse 58"/>
              <p:cNvSpPr/>
              <p:nvPr/>
            </p:nvSpPr>
            <p:spPr>
              <a:xfrm>
                <a:off x="327342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0" name="Ellipse 59"/>
              <p:cNvSpPr/>
              <p:nvPr/>
            </p:nvSpPr>
            <p:spPr>
              <a:xfrm>
                <a:off x="377825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1" name="Ellipse 60"/>
              <p:cNvSpPr/>
              <p:nvPr/>
            </p:nvSpPr>
            <p:spPr>
              <a:xfrm>
                <a:off x="428307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2" name="Ellipse 61"/>
              <p:cNvSpPr/>
              <p:nvPr/>
            </p:nvSpPr>
            <p:spPr>
              <a:xfrm>
                <a:off x="478790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3" name="Ellipse 62"/>
              <p:cNvSpPr/>
              <p:nvPr/>
            </p:nvSpPr>
            <p:spPr>
              <a:xfrm>
                <a:off x="5292725" y="2712560"/>
                <a:ext cx="250825" cy="2508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64" name="Ellipse 63"/>
            <p:cNvSpPr/>
            <p:nvPr/>
          </p:nvSpPr>
          <p:spPr>
            <a:xfrm>
              <a:off x="1214437" y="4120195"/>
              <a:ext cx="342900" cy="3429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2</a:t>
              </a:r>
              <a:endParaRPr lang="fr-FR" dirty="0"/>
            </a:p>
          </p:txBody>
        </p:sp>
      </p:grpSp>
      <p:sp>
        <p:nvSpPr>
          <p:cNvPr id="68" name="Forme libre 67"/>
          <p:cNvSpPr/>
          <p:nvPr/>
        </p:nvSpPr>
        <p:spPr>
          <a:xfrm>
            <a:off x="0" y="0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tx2">
                  <a:alpha val="55000"/>
                </a:schemeClr>
              </a:gs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4" name="Groupe 93"/>
          <p:cNvGrpSpPr/>
          <p:nvPr/>
        </p:nvGrpSpPr>
        <p:grpSpPr>
          <a:xfrm>
            <a:off x="330200" y="1900714"/>
            <a:ext cx="5669326" cy="260351"/>
            <a:chOff x="330200" y="1900714"/>
            <a:chExt cx="5669326" cy="260351"/>
          </a:xfrm>
        </p:grpSpPr>
        <p:grpSp>
          <p:nvGrpSpPr>
            <p:cNvPr id="81" name="Groupe 80"/>
            <p:cNvGrpSpPr/>
            <p:nvPr/>
          </p:nvGrpSpPr>
          <p:grpSpPr>
            <a:xfrm>
              <a:off x="330200" y="1900715"/>
              <a:ext cx="5669326" cy="260350"/>
              <a:chOff x="323850" y="2712560"/>
              <a:chExt cx="5669326" cy="260350"/>
            </a:xfrm>
          </p:grpSpPr>
          <p:sp>
            <p:nvSpPr>
              <p:cNvPr id="82" name="Rectangle à coins arrondis 81"/>
              <p:cNvSpPr/>
              <p:nvPr/>
            </p:nvSpPr>
            <p:spPr>
              <a:xfrm>
                <a:off x="323850" y="2798285"/>
                <a:ext cx="5669326" cy="10684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Ellipse 83"/>
              <p:cNvSpPr/>
              <p:nvPr/>
            </p:nvSpPr>
            <p:spPr>
              <a:xfrm>
                <a:off x="125412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5" name="Ellipse 84"/>
              <p:cNvSpPr/>
              <p:nvPr/>
            </p:nvSpPr>
            <p:spPr>
              <a:xfrm>
                <a:off x="175895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6" name="Ellipse 85"/>
              <p:cNvSpPr/>
              <p:nvPr/>
            </p:nvSpPr>
            <p:spPr>
              <a:xfrm>
                <a:off x="226377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7" name="Ellipse 86"/>
              <p:cNvSpPr/>
              <p:nvPr/>
            </p:nvSpPr>
            <p:spPr>
              <a:xfrm>
                <a:off x="276860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8" name="Ellipse 87"/>
              <p:cNvSpPr/>
              <p:nvPr/>
            </p:nvSpPr>
            <p:spPr>
              <a:xfrm>
                <a:off x="327342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9" name="Ellipse 88"/>
              <p:cNvSpPr/>
              <p:nvPr/>
            </p:nvSpPr>
            <p:spPr>
              <a:xfrm>
                <a:off x="377825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0" name="Ellipse 89"/>
              <p:cNvSpPr/>
              <p:nvPr/>
            </p:nvSpPr>
            <p:spPr>
              <a:xfrm>
                <a:off x="428307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1" name="Ellipse 90"/>
              <p:cNvSpPr/>
              <p:nvPr/>
            </p:nvSpPr>
            <p:spPr>
              <a:xfrm>
                <a:off x="478790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2" name="Ellipse 91"/>
              <p:cNvSpPr/>
              <p:nvPr/>
            </p:nvSpPr>
            <p:spPr>
              <a:xfrm>
                <a:off x="5292725" y="2712560"/>
                <a:ext cx="250825" cy="2508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93" name="Ellipse 92"/>
            <p:cNvSpPr/>
            <p:nvPr/>
          </p:nvSpPr>
          <p:spPr>
            <a:xfrm>
              <a:off x="755650" y="1900714"/>
              <a:ext cx="250825" cy="25082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09" name="Groupe 108"/>
          <p:cNvGrpSpPr/>
          <p:nvPr/>
        </p:nvGrpSpPr>
        <p:grpSpPr>
          <a:xfrm>
            <a:off x="330200" y="4794960"/>
            <a:ext cx="5669326" cy="342900"/>
            <a:chOff x="330200" y="4794960"/>
            <a:chExt cx="5669326" cy="342900"/>
          </a:xfrm>
        </p:grpSpPr>
        <p:grpSp>
          <p:nvGrpSpPr>
            <p:cNvPr id="95" name="Groupe 94"/>
            <p:cNvGrpSpPr/>
            <p:nvPr/>
          </p:nvGrpSpPr>
          <p:grpSpPr>
            <a:xfrm>
              <a:off x="330200" y="4831472"/>
              <a:ext cx="5669326" cy="260351"/>
              <a:chOff x="330200" y="1900714"/>
              <a:chExt cx="5669326" cy="260351"/>
            </a:xfrm>
          </p:grpSpPr>
          <p:grpSp>
            <p:nvGrpSpPr>
              <p:cNvPr id="96" name="Groupe 95"/>
              <p:cNvGrpSpPr/>
              <p:nvPr/>
            </p:nvGrpSpPr>
            <p:grpSpPr>
              <a:xfrm>
                <a:off x="330200" y="1900715"/>
                <a:ext cx="5669326" cy="260350"/>
                <a:chOff x="323850" y="2712560"/>
                <a:chExt cx="5669326" cy="260350"/>
              </a:xfrm>
            </p:grpSpPr>
            <p:sp>
              <p:nvSpPr>
                <p:cNvPr id="98" name="Rectangle à coins arrondis 97"/>
                <p:cNvSpPr/>
                <p:nvPr/>
              </p:nvSpPr>
              <p:spPr>
                <a:xfrm>
                  <a:off x="323850" y="2798285"/>
                  <a:ext cx="5669326" cy="10684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9" name="Ellipse 98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1" name="Ellipse 100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2" name="Ellipse 101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3" name="Ellipse 102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4" name="Ellipse 103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5" name="Ellipse 104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6" name="Ellipse 105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07" name="Ellipse 106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97" name="Ellipse 96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08" name="Ellipse 107"/>
            <p:cNvSpPr/>
            <p:nvPr/>
          </p:nvSpPr>
          <p:spPr>
            <a:xfrm>
              <a:off x="1725613" y="4794960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3</a:t>
              </a:r>
              <a:endParaRPr lang="fr-FR" dirty="0"/>
            </a:p>
          </p:txBody>
        </p:sp>
      </p:grpSp>
      <p:grpSp>
        <p:nvGrpSpPr>
          <p:cNvPr id="124" name="Groupe 123"/>
          <p:cNvGrpSpPr/>
          <p:nvPr/>
        </p:nvGrpSpPr>
        <p:grpSpPr>
          <a:xfrm>
            <a:off x="330200" y="5391461"/>
            <a:ext cx="5669326" cy="342900"/>
            <a:chOff x="330200" y="5391461"/>
            <a:chExt cx="5669326" cy="342900"/>
          </a:xfrm>
        </p:grpSpPr>
        <p:grpSp>
          <p:nvGrpSpPr>
            <p:cNvPr id="110" name="Groupe 109"/>
            <p:cNvGrpSpPr/>
            <p:nvPr/>
          </p:nvGrpSpPr>
          <p:grpSpPr>
            <a:xfrm>
              <a:off x="330200" y="5439713"/>
              <a:ext cx="5669326" cy="260351"/>
              <a:chOff x="330200" y="1900714"/>
              <a:chExt cx="5669326" cy="260351"/>
            </a:xfrm>
          </p:grpSpPr>
          <p:grpSp>
            <p:nvGrpSpPr>
              <p:cNvPr id="111" name="Groupe 110"/>
              <p:cNvGrpSpPr/>
              <p:nvPr/>
            </p:nvGrpSpPr>
            <p:grpSpPr>
              <a:xfrm>
                <a:off x="330200" y="1900715"/>
                <a:ext cx="5669326" cy="260350"/>
                <a:chOff x="323850" y="2712560"/>
                <a:chExt cx="5669326" cy="260350"/>
              </a:xfrm>
            </p:grpSpPr>
            <p:sp>
              <p:nvSpPr>
                <p:cNvPr id="113" name="Rectangle à coins arrondis 112"/>
                <p:cNvSpPr/>
                <p:nvPr/>
              </p:nvSpPr>
              <p:spPr>
                <a:xfrm>
                  <a:off x="323850" y="2798285"/>
                  <a:ext cx="5669326" cy="10684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4" name="Ellipse 113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5" name="Ellipse 114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6" name="Ellipse 115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7" name="Ellipse 116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8" name="Ellipse 117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9" name="Ellipse 118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20" name="Ellipse 119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21" name="Ellipse 120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22" name="Ellipse 121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12" name="Ellipse 111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23" name="Ellipse 122"/>
            <p:cNvSpPr/>
            <p:nvPr/>
          </p:nvSpPr>
          <p:spPr>
            <a:xfrm>
              <a:off x="2224087" y="5391461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4</a:t>
              </a:r>
              <a:endParaRPr lang="fr-FR" dirty="0"/>
            </a:p>
          </p:txBody>
        </p:sp>
      </p:grpSp>
      <p:grpSp>
        <p:nvGrpSpPr>
          <p:cNvPr id="139" name="Groupe 138"/>
          <p:cNvGrpSpPr/>
          <p:nvPr/>
        </p:nvGrpSpPr>
        <p:grpSpPr>
          <a:xfrm>
            <a:off x="323850" y="6025251"/>
            <a:ext cx="5669326" cy="342900"/>
            <a:chOff x="323850" y="6025251"/>
            <a:chExt cx="5669326" cy="342900"/>
          </a:xfrm>
        </p:grpSpPr>
        <p:grpSp>
          <p:nvGrpSpPr>
            <p:cNvPr id="125" name="Groupe 124"/>
            <p:cNvGrpSpPr/>
            <p:nvPr/>
          </p:nvGrpSpPr>
          <p:grpSpPr>
            <a:xfrm>
              <a:off x="323850" y="6061763"/>
              <a:ext cx="5669326" cy="260351"/>
              <a:chOff x="330200" y="1900714"/>
              <a:chExt cx="5669326" cy="260351"/>
            </a:xfrm>
          </p:grpSpPr>
          <p:grpSp>
            <p:nvGrpSpPr>
              <p:cNvPr id="126" name="Groupe 125"/>
              <p:cNvGrpSpPr/>
              <p:nvPr/>
            </p:nvGrpSpPr>
            <p:grpSpPr>
              <a:xfrm>
                <a:off x="330200" y="1900715"/>
                <a:ext cx="5669326" cy="260350"/>
                <a:chOff x="323850" y="2712560"/>
                <a:chExt cx="5669326" cy="260350"/>
              </a:xfrm>
            </p:grpSpPr>
            <p:sp>
              <p:nvSpPr>
                <p:cNvPr id="128" name="Rectangle à coins arrondis 127"/>
                <p:cNvSpPr/>
                <p:nvPr/>
              </p:nvSpPr>
              <p:spPr>
                <a:xfrm>
                  <a:off x="323850" y="2798285"/>
                  <a:ext cx="5669326" cy="10684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9" name="Ellipse 128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0" name="Ellipse 129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1" name="Ellipse 130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2" name="Ellipse 131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3" name="Ellipse 132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4" name="Ellipse 133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5" name="Ellipse 134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6" name="Ellipse 135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37" name="Ellipse 136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27" name="Ellipse 126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38" name="Ellipse 137"/>
            <p:cNvSpPr/>
            <p:nvPr/>
          </p:nvSpPr>
          <p:spPr>
            <a:xfrm>
              <a:off x="2722562" y="6025251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5</a:t>
              </a:r>
              <a:endParaRPr lang="fr-FR" dirty="0"/>
            </a:p>
          </p:txBody>
        </p:sp>
      </p:grpSp>
      <p:grpSp>
        <p:nvGrpSpPr>
          <p:cNvPr id="154" name="Groupe 153"/>
          <p:cNvGrpSpPr/>
          <p:nvPr/>
        </p:nvGrpSpPr>
        <p:grpSpPr>
          <a:xfrm>
            <a:off x="6337300" y="1482169"/>
            <a:ext cx="5669326" cy="342900"/>
            <a:chOff x="6337300" y="1482169"/>
            <a:chExt cx="5669326" cy="342900"/>
          </a:xfrm>
        </p:grpSpPr>
        <p:grpSp>
          <p:nvGrpSpPr>
            <p:cNvPr id="140" name="Groupe 139"/>
            <p:cNvGrpSpPr/>
            <p:nvPr/>
          </p:nvGrpSpPr>
          <p:grpSpPr>
            <a:xfrm>
              <a:off x="6337300" y="1528207"/>
              <a:ext cx="5669326" cy="260351"/>
              <a:chOff x="330200" y="1900714"/>
              <a:chExt cx="5669326" cy="260351"/>
            </a:xfrm>
          </p:grpSpPr>
          <p:grpSp>
            <p:nvGrpSpPr>
              <p:cNvPr id="141" name="Groupe 140"/>
              <p:cNvGrpSpPr/>
              <p:nvPr/>
            </p:nvGrpSpPr>
            <p:grpSpPr>
              <a:xfrm>
                <a:off x="330200" y="1900715"/>
                <a:ext cx="5669326" cy="260350"/>
                <a:chOff x="323850" y="2712560"/>
                <a:chExt cx="5669326" cy="260350"/>
              </a:xfrm>
            </p:grpSpPr>
            <p:sp>
              <p:nvSpPr>
                <p:cNvPr id="143" name="Rectangle à coins arrondis 142"/>
                <p:cNvSpPr/>
                <p:nvPr/>
              </p:nvSpPr>
              <p:spPr>
                <a:xfrm>
                  <a:off x="323850" y="2798285"/>
                  <a:ext cx="5669326" cy="10684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4" name="Ellipse 143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45" name="Ellipse 144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46" name="Ellipse 145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47" name="Ellipse 146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48" name="Ellipse 147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49" name="Ellipse 148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50" name="Ellipse 149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51" name="Ellipse 150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52" name="Ellipse 151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42" name="Ellipse 141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53" name="Ellipse 152"/>
            <p:cNvSpPr/>
            <p:nvPr/>
          </p:nvSpPr>
          <p:spPr>
            <a:xfrm>
              <a:off x="9699625" y="1482169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7</a:t>
              </a:r>
              <a:endParaRPr lang="fr-FR" dirty="0"/>
            </a:p>
          </p:txBody>
        </p:sp>
      </p:grpSp>
      <p:grpSp>
        <p:nvGrpSpPr>
          <p:cNvPr id="169" name="Groupe 168"/>
          <p:cNvGrpSpPr/>
          <p:nvPr/>
        </p:nvGrpSpPr>
        <p:grpSpPr>
          <a:xfrm>
            <a:off x="6337300" y="2227299"/>
            <a:ext cx="5669326" cy="342900"/>
            <a:chOff x="6337300" y="2227299"/>
            <a:chExt cx="5669326" cy="342900"/>
          </a:xfrm>
        </p:grpSpPr>
        <p:grpSp>
          <p:nvGrpSpPr>
            <p:cNvPr id="155" name="Groupe 154"/>
            <p:cNvGrpSpPr/>
            <p:nvPr/>
          </p:nvGrpSpPr>
          <p:grpSpPr>
            <a:xfrm>
              <a:off x="6337300" y="2273337"/>
              <a:ext cx="5669326" cy="260351"/>
              <a:chOff x="330200" y="1900714"/>
              <a:chExt cx="5669326" cy="260351"/>
            </a:xfrm>
          </p:grpSpPr>
          <p:grpSp>
            <p:nvGrpSpPr>
              <p:cNvPr id="156" name="Groupe 155"/>
              <p:cNvGrpSpPr/>
              <p:nvPr/>
            </p:nvGrpSpPr>
            <p:grpSpPr>
              <a:xfrm>
                <a:off x="330200" y="1900715"/>
                <a:ext cx="5669326" cy="260350"/>
                <a:chOff x="323850" y="2712560"/>
                <a:chExt cx="5669326" cy="260350"/>
              </a:xfrm>
            </p:grpSpPr>
            <p:sp>
              <p:nvSpPr>
                <p:cNvPr id="158" name="Rectangle à coins arrondis 157"/>
                <p:cNvSpPr/>
                <p:nvPr/>
              </p:nvSpPr>
              <p:spPr>
                <a:xfrm>
                  <a:off x="323850" y="2798285"/>
                  <a:ext cx="5669326" cy="10684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9" name="Ellipse 158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0" name="Ellipse 159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1" name="Ellipse 160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2" name="Ellipse 161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3" name="Ellipse 162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4" name="Ellipse 163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5" name="Ellipse 164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6" name="Ellipse 165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7" name="Ellipse 166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57" name="Ellipse 156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68" name="Ellipse 167"/>
            <p:cNvSpPr/>
            <p:nvPr/>
          </p:nvSpPr>
          <p:spPr>
            <a:xfrm>
              <a:off x="10296525" y="2227299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8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571092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pour une image  2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2" r="10682"/>
          <a:stretch>
            <a:fillRect/>
          </a:stretch>
        </p:blipFill>
        <p:spPr/>
      </p:pic>
      <p:sp>
        <p:nvSpPr>
          <p:cNvPr id="8" name="Rectangle 7" descr="élément décoratif">
            <a:extLst>
              <a:ext uri="{FF2B5EF4-FFF2-40B4-BE49-F238E27FC236}">
                <a16:creationId xmlns:a16="http://schemas.microsoft.com/office/drawing/2014/main" id="{4E4A96D9-2D70-4D9E-B61C-9B23F3FD5161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D65CFEB2-BC19-4647-937B-40854EE88A8C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4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12" name="Espace réservé pour une image  11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4" b="2104"/>
          <a:stretch>
            <a:fillRect/>
          </a:stretch>
        </p:blipFill>
        <p:spPr/>
      </p:pic>
      <p:sp>
        <p:nvSpPr>
          <p:cNvPr id="14" name="ZoneTexte 13"/>
          <p:cNvSpPr txBox="1"/>
          <p:nvPr/>
        </p:nvSpPr>
        <p:spPr>
          <a:xfrm>
            <a:off x="10973397" y="6551829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Photo par </a:t>
            </a:r>
            <a:r>
              <a:rPr lang="fr-FR" sz="1100" i="1" dirty="0" err="1">
                <a:solidFill>
                  <a:schemeClr val="bg1"/>
                </a:solidFill>
              </a:rPr>
              <a:t>Javardh</a:t>
            </a:r>
            <a:endParaRPr lang="fr-FR" sz="1100" i="1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507846" y="6499670"/>
            <a:ext cx="18469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 err="1">
                <a:solidFill>
                  <a:schemeClr val="bg1"/>
                </a:solidFill>
              </a:rPr>
              <a:t>luckyboot</a:t>
            </a:r>
            <a:r>
              <a:rPr lang="fr-FR" sz="1100" i="1" dirty="0">
                <a:solidFill>
                  <a:schemeClr val="bg1"/>
                </a:solidFill>
              </a:rPr>
              <a:t>—</a:t>
            </a:r>
            <a:r>
              <a:rPr lang="fr-FR" sz="1100" i="1" dirty="0" err="1">
                <a:solidFill>
                  <a:schemeClr val="bg1"/>
                </a:solidFill>
              </a:rPr>
              <a:t>iStock</a:t>
            </a:r>
            <a:r>
              <a:rPr lang="fr-FR" sz="1100" i="1" dirty="0">
                <a:solidFill>
                  <a:schemeClr val="bg1"/>
                </a:solidFill>
              </a:rPr>
              <a:t>/</a:t>
            </a:r>
            <a:r>
              <a:rPr lang="fr-FR" sz="1100" i="1" dirty="0" err="1">
                <a:solidFill>
                  <a:schemeClr val="bg1"/>
                </a:solidFill>
              </a:rPr>
              <a:t>Thinkstock</a:t>
            </a:r>
            <a:endParaRPr lang="fr-FR" sz="1400" i="1" dirty="0">
              <a:solidFill>
                <a:schemeClr val="bg1"/>
              </a:solidFill>
            </a:endParaRPr>
          </a:p>
        </p:txBody>
      </p:sp>
      <p:grpSp>
        <p:nvGrpSpPr>
          <p:cNvPr id="19" name="Groupe 18" descr="élément décoratif">
            <a:extLst>
              <a:ext uri="{FF2B5EF4-FFF2-40B4-BE49-F238E27FC236}">
                <a16:creationId xmlns:a16="http://schemas.microsoft.com/office/drawing/2014/main" id="{E7969C14-1078-4610-9BC5-74119C9B87BE}"/>
              </a:ext>
            </a:extLst>
          </p:cNvPr>
          <p:cNvGrpSpPr/>
          <p:nvPr/>
        </p:nvGrpSpPr>
        <p:grpSpPr>
          <a:xfrm>
            <a:off x="0" y="2481400"/>
            <a:ext cx="7717536" cy="2639239"/>
            <a:chOff x="0" y="3808320"/>
            <a:chExt cx="7833208" cy="2547440"/>
          </a:xfrm>
        </p:grpSpPr>
        <p:sp>
          <p:nvSpPr>
            <p:cNvPr id="20" name="Forme libre : Forme 9">
              <a:extLst>
                <a:ext uri="{FF2B5EF4-FFF2-40B4-BE49-F238E27FC236}">
                  <a16:creationId xmlns:a16="http://schemas.microsoft.com/office/drawing/2014/main" id="{E531D018-EFA3-4346-AB80-7CE436393D9E}"/>
                </a:ext>
              </a:extLst>
            </p:cNvPr>
            <p:cNvSpPr/>
            <p:nvPr/>
          </p:nvSpPr>
          <p:spPr>
            <a:xfrm>
              <a:off x="0" y="3808320"/>
              <a:ext cx="7833208" cy="2547440"/>
            </a:xfrm>
            <a:custGeom>
              <a:avLst/>
              <a:gdLst>
                <a:gd name="connsiteX0" fmla="*/ 0 w 7833208"/>
                <a:gd name="connsiteY0" fmla="*/ 0 h 2547440"/>
                <a:gd name="connsiteX1" fmla="*/ 7833208 w 7833208"/>
                <a:gd name="connsiteY1" fmla="*/ 0 h 2547440"/>
                <a:gd name="connsiteX2" fmla="*/ 7135846 w 7833208"/>
                <a:gd name="connsiteY2" fmla="*/ 2547440 h 2547440"/>
                <a:gd name="connsiteX3" fmla="*/ 0 w 7833208"/>
                <a:gd name="connsiteY3" fmla="*/ 2547440 h 25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3208" h="2547440">
                  <a:moveTo>
                    <a:pt x="0" y="0"/>
                  </a:moveTo>
                  <a:lnTo>
                    <a:pt x="7833208" y="0"/>
                  </a:lnTo>
                  <a:lnTo>
                    <a:pt x="7135846" y="2547440"/>
                  </a:lnTo>
                  <a:lnTo>
                    <a:pt x="0" y="254744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1" name="Forme libre : Forme 10">
              <a:extLst>
                <a:ext uri="{FF2B5EF4-FFF2-40B4-BE49-F238E27FC236}">
                  <a16:creationId xmlns:a16="http://schemas.microsoft.com/office/drawing/2014/main" id="{FA9D7AC8-80D5-49DC-A585-FCFFA6CA4B66}"/>
                </a:ext>
              </a:extLst>
            </p:cNvPr>
            <p:cNvSpPr/>
            <p:nvPr/>
          </p:nvSpPr>
          <p:spPr>
            <a:xfrm>
              <a:off x="1" y="3808320"/>
              <a:ext cx="7692571" cy="2547440"/>
            </a:xfrm>
            <a:custGeom>
              <a:avLst/>
              <a:gdLst>
                <a:gd name="connsiteX0" fmla="*/ 0 w 7692571"/>
                <a:gd name="connsiteY0" fmla="*/ 0 h 2547440"/>
                <a:gd name="connsiteX1" fmla="*/ 7692571 w 7692571"/>
                <a:gd name="connsiteY1" fmla="*/ 0 h 2547440"/>
                <a:gd name="connsiteX2" fmla="*/ 6995209 w 7692571"/>
                <a:gd name="connsiteY2" fmla="*/ 2547440 h 2547440"/>
                <a:gd name="connsiteX3" fmla="*/ 0 w 7692571"/>
                <a:gd name="connsiteY3" fmla="*/ 2547440 h 25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2571" h="2547440">
                  <a:moveTo>
                    <a:pt x="0" y="0"/>
                  </a:moveTo>
                  <a:lnTo>
                    <a:pt x="7692571" y="0"/>
                  </a:lnTo>
                  <a:lnTo>
                    <a:pt x="6995209" y="2547440"/>
                  </a:lnTo>
                  <a:lnTo>
                    <a:pt x="0" y="2547440"/>
                  </a:lnTo>
                  <a:close/>
                </a:path>
              </a:pathLst>
            </a:custGeom>
            <a:solidFill>
              <a:srgbClr val="0F3955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</p:grp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82" y="2766400"/>
            <a:ext cx="5005614" cy="822960"/>
          </a:xfrm>
        </p:spPr>
        <p:txBody>
          <a:bodyPr rtlCol="0"/>
          <a:lstStyle/>
          <a:p>
            <a:pPr algn="ctr" rtl="0"/>
            <a:r>
              <a:rPr lang="fr-FR" sz="4400" dirty="0"/>
              <a:t>CONTEXTE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859D862E-AE8E-482F-9E23-3C096FF03E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674" y="3589360"/>
            <a:ext cx="6237006" cy="1005840"/>
          </a:xfrm>
        </p:spPr>
        <p:txBody>
          <a:bodyPr rtlCol="0"/>
          <a:lstStyle/>
          <a:p>
            <a:pPr algn="ctr" rtl="0"/>
            <a:r>
              <a:rPr lang="fr-FR" sz="1800" dirty="0"/>
              <a:t>Mouvement rythmique bio-inspirée</a:t>
            </a:r>
          </a:p>
          <a:p>
            <a:pPr algn="ctr" rtl="0">
              <a:spcBef>
                <a:spcPts val="0"/>
              </a:spcBef>
            </a:pPr>
            <a:r>
              <a:rPr lang="fr-FR" sz="1800" dirty="0"/>
              <a:t>&amp;</a:t>
            </a:r>
          </a:p>
          <a:p>
            <a:pPr algn="ctr" rtl="0">
              <a:spcBef>
                <a:spcPts val="0"/>
              </a:spcBef>
            </a:pPr>
            <a:r>
              <a:rPr lang="fr-FR" sz="1800" dirty="0"/>
              <a:t>Interactions mécaniques avec des environnements incertains</a:t>
            </a:r>
          </a:p>
        </p:txBody>
      </p:sp>
    </p:spTree>
    <p:extLst>
      <p:ext uri="{BB962C8B-B14F-4D97-AF65-F5344CB8AC3E}">
        <p14:creationId xmlns:p14="http://schemas.microsoft.com/office/powerpoint/2010/main" val="3077312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37946" t="-96" r="37946" b="96"/>
          <a:stretch/>
        </p:blipFill>
        <p:spPr>
          <a:xfrm>
            <a:off x="6713621" y="3820"/>
            <a:ext cx="5478379" cy="6847626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6" y="0"/>
            <a:ext cx="9596154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5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35" name="Espace réservé du contenu 34" descr="Livre ouvert">
            <a:extLst>
              <a:ext uri="{FF2B5EF4-FFF2-40B4-BE49-F238E27FC236}">
                <a16:creationId xmlns:a16="http://schemas.microsoft.com/office/drawing/2014/main" id="{56174A3F-A7B3-40BE-88BD-1796890E4B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94713" y="1114116"/>
            <a:ext cx="548640" cy="548640"/>
          </a:xfr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pPr rtl="0"/>
            <a:r>
              <a:rPr lang="fr-FR" sz="3200" b="1" dirty="0">
                <a:solidFill>
                  <a:schemeClr val="accent2"/>
                </a:solidFill>
              </a:rPr>
              <a:t>Mouvements rythmiques bio-inspirés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6"/>
          <a:srcRect l="2381" t="16095" r="11548" b="12095"/>
          <a:stretch/>
        </p:blipFill>
        <p:spPr>
          <a:xfrm>
            <a:off x="696369" y="1493480"/>
            <a:ext cx="4561644" cy="2378617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1841185" y="240030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>
          <a:xfrm>
            <a:off x="1917700" y="2196141"/>
            <a:ext cx="622300" cy="883609"/>
          </a:xfrm>
          <a:custGeom>
            <a:avLst/>
            <a:gdLst>
              <a:gd name="connsiteX0" fmla="*/ 0 w 622300"/>
              <a:gd name="connsiteY0" fmla="*/ 197809 h 883609"/>
              <a:gd name="connsiteX1" fmla="*/ 203200 w 622300"/>
              <a:gd name="connsiteY1" fmla="*/ 959 h 883609"/>
              <a:gd name="connsiteX2" fmla="*/ 368300 w 622300"/>
              <a:gd name="connsiteY2" fmla="*/ 140659 h 883609"/>
              <a:gd name="connsiteX3" fmla="*/ 520700 w 622300"/>
              <a:gd name="connsiteY3" fmla="*/ 521659 h 883609"/>
              <a:gd name="connsiteX4" fmla="*/ 622300 w 622300"/>
              <a:gd name="connsiteY4" fmla="*/ 883609 h 88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883609">
                <a:moveTo>
                  <a:pt x="0" y="197809"/>
                </a:moveTo>
                <a:cubicBezTo>
                  <a:pt x="70908" y="104146"/>
                  <a:pt x="141817" y="10484"/>
                  <a:pt x="203200" y="959"/>
                </a:cubicBezTo>
                <a:cubicBezTo>
                  <a:pt x="264583" y="-8566"/>
                  <a:pt x="315383" y="53876"/>
                  <a:pt x="368300" y="140659"/>
                </a:cubicBezTo>
                <a:cubicBezTo>
                  <a:pt x="421217" y="227442"/>
                  <a:pt x="478367" y="397834"/>
                  <a:pt x="520700" y="521659"/>
                </a:cubicBezTo>
                <a:cubicBezTo>
                  <a:pt x="563033" y="645484"/>
                  <a:pt x="592666" y="764546"/>
                  <a:pt x="622300" y="883609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2540794" y="2350904"/>
            <a:ext cx="750094" cy="744721"/>
          </a:xfrm>
          <a:custGeom>
            <a:avLst/>
            <a:gdLst>
              <a:gd name="connsiteX0" fmla="*/ 0 w 750094"/>
              <a:gd name="connsiteY0" fmla="*/ 718527 h 744721"/>
              <a:gd name="connsiteX1" fmla="*/ 78581 w 750094"/>
              <a:gd name="connsiteY1" fmla="*/ 454209 h 744721"/>
              <a:gd name="connsiteX2" fmla="*/ 150019 w 750094"/>
              <a:gd name="connsiteY2" fmla="*/ 256565 h 744721"/>
              <a:gd name="connsiteX3" fmla="*/ 223837 w 750094"/>
              <a:gd name="connsiteY3" fmla="*/ 108927 h 744721"/>
              <a:gd name="connsiteX4" fmla="*/ 304800 w 750094"/>
              <a:gd name="connsiteY4" fmla="*/ 23202 h 744721"/>
              <a:gd name="connsiteX5" fmla="*/ 373856 w 750094"/>
              <a:gd name="connsiteY5" fmla="*/ 1771 h 744721"/>
              <a:gd name="connsiteX6" fmla="*/ 469106 w 750094"/>
              <a:gd name="connsiteY6" fmla="*/ 58921 h 744721"/>
              <a:gd name="connsiteX7" fmla="*/ 557212 w 750094"/>
              <a:gd name="connsiteY7" fmla="*/ 182746 h 744721"/>
              <a:gd name="connsiteX8" fmla="*/ 645319 w 750094"/>
              <a:gd name="connsiteY8" fmla="*/ 406584 h 744721"/>
              <a:gd name="connsiteX9" fmla="*/ 719137 w 750094"/>
              <a:gd name="connsiteY9" fmla="*/ 630421 h 744721"/>
              <a:gd name="connsiteX10" fmla="*/ 750094 w 750094"/>
              <a:gd name="connsiteY10" fmla="*/ 744721 h 744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0094" h="744721">
                <a:moveTo>
                  <a:pt x="0" y="718527"/>
                </a:moveTo>
                <a:cubicBezTo>
                  <a:pt x="26789" y="624865"/>
                  <a:pt x="53578" y="531203"/>
                  <a:pt x="78581" y="454209"/>
                </a:cubicBezTo>
                <a:cubicBezTo>
                  <a:pt x="103584" y="377215"/>
                  <a:pt x="125810" y="314112"/>
                  <a:pt x="150019" y="256565"/>
                </a:cubicBezTo>
                <a:cubicBezTo>
                  <a:pt x="174228" y="199018"/>
                  <a:pt x="198040" y="147821"/>
                  <a:pt x="223837" y="108927"/>
                </a:cubicBezTo>
                <a:cubicBezTo>
                  <a:pt x="249634" y="70033"/>
                  <a:pt x="279797" y="41061"/>
                  <a:pt x="304800" y="23202"/>
                </a:cubicBezTo>
                <a:cubicBezTo>
                  <a:pt x="329803" y="5343"/>
                  <a:pt x="346472" y="-4182"/>
                  <a:pt x="373856" y="1771"/>
                </a:cubicBezTo>
                <a:cubicBezTo>
                  <a:pt x="401240" y="7724"/>
                  <a:pt x="438547" y="28758"/>
                  <a:pt x="469106" y="58921"/>
                </a:cubicBezTo>
                <a:cubicBezTo>
                  <a:pt x="499665" y="89083"/>
                  <a:pt x="527843" y="124802"/>
                  <a:pt x="557212" y="182746"/>
                </a:cubicBezTo>
                <a:cubicBezTo>
                  <a:pt x="586581" y="240690"/>
                  <a:pt x="618332" y="331971"/>
                  <a:pt x="645319" y="406584"/>
                </a:cubicBezTo>
                <a:cubicBezTo>
                  <a:pt x="672307" y="481196"/>
                  <a:pt x="701675" y="574065"/>
                  <a:pt x="719137" y="630421"/>
                </a:cubicBezTo>
                <a:cubicBezTo>
                  <a:pt x="736599" y="686777"/>
                  <a:pt x="743346" y="715749"/>
                  <a:pt x="750094" y="744721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3293269" y="2421708"/>
            <a:ext cx="709612" cy="669155"/>
          </a:xfrm>
          <a:custGeom>
            <a:avLst/>
            <a:gdLst>
              <a:gd name="connsiteX0" fmla="*/ 0 w 709612"/>
              <a:gd name="connsiteY0" fmla="*/ 669155 h 669155"/>
              <a:gd name="connsiteX1" fmla="*/ 142875 w 709612"/>
              <a:gd name="connsiteY1" fmla="*/ 235767 h 669155"/>
              <a:gd name="connsiteX2" fmla="*/ 350044 w 709612"/>
              <a:gd name="connsiteY2" fmla="*/ 23 h 669155"/>
              <a:gd name="connsiteX3" fmla="*/ 573881 w 709612"/>
              <a:gd name="connsiteY3" fmla="*/ 247673 h 669155"/>
              <a:gd name="connsiteX4" fmla="*/ 709612 w 709612"/>
              <a:gd name="connsiteY4" fmla="*/ 662011 h 66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612" h="669155">
                <a:moveTo>
                  <a:pt x="0" y="669155"/>
                </a:moveTo>
                <a:cubicBezTo>
                  <a:pt x="42267" y="508222"/>
                  <a:pt x="84534" y="347289"/>
                  <a:pt x="142875" y="235767"/>
                </a:cubicBezTo>
                <a:cubicBezTo>
                  <a:pt x="201216" y="124245"/>
                  <a:pt x="278210" y="-1961"/>
                  <a:pt x="350044" y="23"/>
                </a:cubicBezTo>
                <a:cubicBezTo>
                  <a:pt x="421878" y="2007"/>
                  <a:pt x="513953" y="137342"/>
                  <a:pt x="573881" y="247673"/>
                </a:cubicBezTo>
                <a:cubicBezTo>
                  <a:pt x="633809" y="358004"/>
                  <a:pt x="671710" y="510007"/>
                  <a:pt x="709612" y="662011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4002881" y="2278854"/>
            <a:ext cx="657225" cy="788196"/>
          </a:xfrm>
          <a:custGeom>
            <a:avLst/>
            <a:gdLst>
              <a:gd name="connsiteX0" fmla="*/ 0 w 657225"/>
              <a:gd name="connsiteY0" fmla="*/ 788196 h 788196"/>
              <a:gd name="connsiteX1" fmla="*/ 128588 w 657225"/>
              <a:gd name="connsiteY1" fmla="*/ 342902 h 788196"/>
              <a:gd name="connsiteX2" fmla="*/ 381000 w 657225"/>
              <a:gd name="connsiteY2" fmla="*/ 2 h 788196"/>
              <a:gd name="connsiteX3" fmla="*/ 657225 w 657225"/>
              <a:gd name="connsiteY3" fmla="*/ 347665 h 78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7225" h="788196">
                <a:moveTo>
                  <a:pt x="0" y="788196"/>
                </a:moveTo>
                <a:cubicBezTo>
                  <a:pt x="32544" y="631232"/>
                  <a:pt x="65088" y="474268"/>
                  <a:pt x="128588" y="342902"/>
                </a:cubicBezTo>
                <a:cubicBezTo>
                  <a:pt x="192088" y="211536"/>
                  <a:pt x="292894" y="-792"/>
                  <a:pt x="381000" y="2"/>
                </a:cubicBezTo>
                <a:cubicBezTo>
                  <a:pt x="469106" y="796"/>
                  <a:pt x="563165" y="174230"/>
                  <a:pt x="657225" y="347665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à coins arrondis 27"/>
          <p:cNvSpPr/>
          <p:nvPr/>
        </p:nvSpPr>
        <p:spPr>
          <a:xfrm>
            <a:off x="5670266" y="1847626"/>
            <a:ext cx="4718334" cy="232784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tx1"/>
                </a:solidFill>
              </a:rPr>
              <a:t>Thèse, AVRIN (2017)</a:t>
            </a:r>
          </a:p>
          <a:p>
            <a:pPr marL="742950" lvl="1" indent="-28575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« </a:t>
            </a:r>
            <a:r>
              <a:rPr lang="fr-FR" sz="2200" i="1" dirty="0" smtClean="0">
                <a:solidFill>
                  <a:schemeClr val="tx1"/>
                </a:solidFill>
              </a:rPr>
              <a:t>Central Pattern </a:t>
            </a:r>
            <a:r>
              <a:rPr lang="fr-FR" sz="2200" i="1" dirty="0" err="1" smtClean="0">
                <a:solidFill>
                  <a:schemeClr val="tx1"/>
                </a:solidFill>
              </a:rPr>
              <a:t>Generator</a:t>
            </a:r>
            <a:r>
              <a:rPr lang="fr-FR" sz="2200" dirty="0" smtClean="0">
                <a:solidFill>
                  <a:schemeClr val="tx1"/>
                </a:solidFill>
              </a:rPr>
              <a:t> »</a:t>
            </a:r>
          </a:p>
          <a:p>
            <a:pPr marL="742950" lvl="1" indent="-28575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Tâche de jonglage</a:t>
            </a:r>
          </a:p>
          <a:p>
            <a:pPr marL="742950" lvl="1" indent="-28575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Contrôle visuel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tx1"/>
                </a:solidFill>
              </a:rPr>
              <a:t>Expériences, SIEGLER (2013)</a:t>
            </a:r>
          </a:p>
          <a:p>
            <a:pPr marL="742950" lvl="1" indent="-28575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Environnement virtuel</a:t>
            </a:r>
            <a:endParaRPr lang="fr-FR" sz="2200" dirty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2" name="Rectangle à coins arrondis 31"/>
          <p:cNvSpPr/>
          <p:nvPr/>
        </p:nvSpPr>
        <p:spPr>
          <a:xfrm>
            <a:off x="5670266" y="4502317"/>
            <a:ext cx="4718334" cy="19448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tx1"/>
                </a:solidFill>
              </a:rPr>
              <a:t>Oscillateur neuronal de </a:t>
            </a:r>
            <a:r>
              <a:rPr lang="fr-FR" sz="2200" dirty="0" err="1" smtClean="0">
                <a:solidFill>
                  <a:schemeClr val="tx1"/>
                </a:solidFill>
              </a:rPr>
              <a:t>Matsuoka</a:t>
            </a:r>
            <a:endParaRPr lang="fr-FR" sz="2200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Génération signaux rythmiques non linéaires</a:t>
            </a:r>
          </a:p>
          <a:p>
            <a:pPr marL="742950" lvl="1" indent="-28575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Asservissement par position et vitesse de la balle</a:t>
            </a:r>
            <a:endParaRPr lang="fr-FR" sz="2200" dirty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33" name="Groupe 32"/>
          <p:cNvGrpSpPr/>
          <p:nvPr/>
        </p:nvGrpSpPr>
        <p:grpSpPr>
          <a:xfrm>
            <a:off x="6305550" y="84765"/>
            <a:ext cx="4838700" cy="342900"/>
            <a:chOff x="704850" y="2676525"/>
            <a:chExt cx="4838700" cy="342900"/>
          </a:xfrm>
        </p:grpSpPr>
        <p:sp>
          <p:nvSpPr>
            <p:cNvPr id="37" name="Ellipse 36"/>
            <p:cNvSpPr/>
            <p:nvPr/>
          </p:nvSpPr>
          <p:spPr>
            <a:xfrm>
              <a:off x="704850" y="2676525"/>
              <a:ext cx="342900" cy="3429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1</a:t>
              </a:r>
              <a:endParaRPr lang="fr-FR" dirty="0"/>
            </a:p>
          </p:txBody>
        </p:sp>
        <p:sp>
          <p:nvSpPr>
            <p:cNvPr id="38" name="Ellipse 37"/>
            <p:cNvSpPr/>
            <p:nvPr/>
          </p:nvSpPr>
          <p:spPr>
            <a:xfrm>
              <a:off x="125412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Ellipse 38"/>
            <p:cNvSpPr/>
            <p:nvPr/>
          </p:nvSpPr>
          <p:spPr>
            <a:xfrm>
              <a:off x="175895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0" name="Ellipse 39"/>
            <p:cNvSpPr/>
            <p:nvPr/>
          </p:nvSpPr>
          <p:spPr>
            <a:xfrm>
              <a:off x="226377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1" name="Ellipse 40"/>
            <p:cNvSpPr/>
            <p:nvPr/>
          </p:nvSpPr>
          <p:spPr>
            <a:xfrm>
              <a:off x="276860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2" name="Ellipse 41"/>
            <p:cNvSpPr/>
            <p:nvPr/>
          </p:nvSpPr>
          <p:spPr>
            <a:xfrm>
              <a:off x="327342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3" name="Ellipse 42"/>
            <p:cNvSpPr/>
            <p:nvPr/>
          </p:nvSpPr>
          <p:spPr>
            <a:xfrm>
              <a:off x="377825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Ellipse 44"/>
            <p:cNvSpPr/>
            <p:nvPr/>
          </p:nvSpPr>
          <p:spPr>
            <a:xfrm>
              <a:off x="4283075" y="2712560"/>
              <a:ext cx="250825" cy="25082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6" name="Ellipse 45"/>
            <p:cNvSpPr/>
            <p:nvPr/>
          </p:nvSpPr>
          <p:spPr>
            <a:xfrm>
              <a:off x="4787900" y="2722085"/>
              <a:ext cx="250825" cy="25082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  <p:sp>
          <p:nvSpPr>
            <p:cNvPr id="47" name="Ellipse 46"/>
            <p:cNvSpPr/>
            <p:nvPr/>
          </p:nvSpPr>
          <p:spPr>
            <a:xfrm>
              <a:off x="5292725" y="2712560"/>
              <a:ext cx="250825" cy="25082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48" name="Forme libre 47"/>
          <p:cNvSpPr/>
          <p:nvPr/>
        </p:nvSpPr>
        <p:spPr>
          <a:xfrm>
            <a:off x="0" y="0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tx2">
                  <a:alpha val="55000"/>
                </a:schemeClr>
              </a:gs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CONTEXTE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 rotWithShape="1">
          <a:blip r:embed="rId7"/>
          <a:srcRect l="4013" t="15279" r="3107" b="14916"/>
          <a:stretch/>
        </p:blipFill>
        <p:spPr>
          <a:xfrm>
            <a:off x="374849" y="3995278"/>
            <a:ext cx="5081984" cy="238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2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/>
          <a:srcRect l="-37946" t="-96" r="37946" b="96"/>
          <a:stretch/>
        </p:blipFill>
        <p:spPr>
          <a:xfrm>
            <a:off x="6713621" y="3820"/>
            <a:ext cx="5478379" cy="6847626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6" y="0"/>
            <a:ext cx="9596154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6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5" y="557439"/>
            <a:ext cx="8065971" cy="830997"/>
          </a:xfrm>
        </p:spPr>
        <p:txBody>
          <a:bodyPr rtlCol="0" anchor="ctr"/>
          <a:lstStyle/>
          <a:p>
            <a:r>
              <a:rPr lang="fr-FR" sz="3200" b="1" dirty="0">
                <a:solidFill>
                  <a:schemeClr val="accent2"/>
                </a:solidFill>
              </a:rPr>
              <a:t>Interactions </a:t>
            </a:r>
            <a:r>
              <a:rPr lang="fr-FR" sz="3200" b="1" dirty="0" smtClean="0">
                <a:solidFill>
                  <a:schemeClr val="accent2"/>
                </a:solidFill>
              </a:rPr>
              <a:t>physique </a:t>
            </a:r>
            <a:r>
              <a:rPr lang="fr-FR" sz="3200" b="1" dirty="0">
                <a:solidFill>
                  <a:schemeClr val="accent2"/>
                </a:solidFill>
              </a:rPr>
              <a:t>avec </a:t>
            </a:r>
            <a:r>
              <a:rPr lang="fr-FR" sz="3200" b="1" dirty="0" smtClean="0">
                <a:solidFill>
                  <a:schemeClr val="accent2"/>
                </a:solidFill>
              </a:rPr>
              <a:t>l’</a:t>
            </a:r>
            <a:r>
              <a:rPr lang="fr-FR" sz="3200" b="1" dirty="0" smtClean="0">
                <a:solidFill>
                  <a:schemeClr val="accent2"/>
                </a:solidFill>
              </a:rPr>
              <a:t>environnement</a:t>
            </a:r>
            <a:endParaRPr lang="fr-FR" sz="3200" b="1" dirty="0">
              <a:solidFill>
                <a:schemeClr val="accent2"/>
              </a:solidFill>
            </a:endParaRPr>
          </a:p>
        </p:txBody>
      </p:sp>
      <p:pic>
        <p:nvPicPr>
          <p:cNvPr id="8" name="Déformation de la balle de tennis et de la raquette (Slowmotion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59817"/>
                </p14:media>
              </p:ext>
            </p:extLst>
          </p:nvPr>
        </p:nvPicPr>
        <p:blipFill rotWithShape="1">
          <a:blip r:embed="rId6"/>
          <a:srcRect r="21877"/>
          <a:stretch/>
        </p:blipFill>
        <p:spPr>
          <a:xfrm>
            <a:off x="633185" y="2053907"/>
            <a:ext cx="3537480" cy="3150270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grpSp>
        <p:nvGrpSpPr>
          <p:cNvPr id="34" name="Groupe 33"/>
          <p:cNvGrpSpPr/>
          <p:nvPr/>
        </p:nvGrpSpPr>
        <p:grpSpPr>
          <a:xfrm>
            <a:off x="6376421" y="86165"/>
            <a:ext cx="4794250" cy="342900"/>
            <a:chOff x="749300" y="4120195"/>
            <a:chExt cx="4794250" cy="342900"/>
          </a:xfrm>
        </p:grpSpPr>
        <p:grpSp>
          <p:nvGrpSpPr>
            <p:cNvPr id="37" name="Groupe 36"/>
            <p:cNvGrpSpPr/>
            <p:nvPr/>
          </p:nvGrpSpPr>
          <p:grpSpPr>
            <a:xfrm>
              <a:off x="749300" y="4157340"/>
              <a:ext cx="4794250" cy="261305"/>
              <a:chOff x="749300" y="2711605"/>
              <a:chExt cx="4794250" cy="261305"/>
            </a:xfrm>
          </p:grpSpPr>
          <p:sp>
            <p:nvSpPr>
              <p:cNvPr id="40" name="Ellipse 39"/>
              <p:cNvSpPr/>
              <p:nvPr/>
            </p:nvSpPr>
            <p:spPr>
              <a:xfrm>
                <a:off x="749300" y="271160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175895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226377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276860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327342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377825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4283075" y="2712560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4787900" y="2722085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5292725" y="2712560"/>
                <a:ext cx="250825" cy="2508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8" name="Ellipse 37"/>
            <p:cNvSpPr/>
            <p:nvPr/>
          </p:nvSpPr>
          <p:spPr>
            <a:xfrm>
              <a:off x="1214437" y="4120195"/>
              <a:ext cx="342900" cy="3429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2</a:t>
              </a:r>
              <a:endParaRPr lang="fr-FR" dirty="0"/>
            </a:p>
          </p:txBody>
        </p:sp>
      </p:grpSp>
      <p:sp>
        <p:nvSpPr>
          <p:cNvPr id="50" name="Forme libre 49"/>
          <p:cNvSpPr/>
          <p:nvPr/>
        </p:nvSpPr>
        <p:spPr>
          <a:xfrm>
            <a:off x="0" y="0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tx2">
                  <a:alpha val="55000"/>
                </a:schemeClr>
              </a:gs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CONTEXTE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941921" y="2329709"/>
            <a:ext cx="5817618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sz="2200" dirty="0" smtClean="0"/>
              <a:t>Balle pesante (masse négligée précédemment)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 smtClean="0"/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sz="2200" dirty="0" smtClean="0"/>
              <a:t>Réaction du bras / raquette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/>
          </a:p>
        </p:txBody>
      </p:sp>
      <p:sp>
        <p:nvSpPr>
          <p:cNvPr id="51" name="Rectangle à coins arrondis 50"/>
          <p:cNvSpPr/>
          <p:nvPr/>
        </p:nvSpPr>
        <p:spPr>
          <a:xfrm>
            <a:off x="5532171" y="4417178"/>
            <a:ext cx="4209450" cy="126270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200" dirty="0" smtClean="0">
                <a:solidFill>
                  <a:schemeClr val="tx1"/>
                </a:solidFill>
              </a:rPr>
              <a:t>Comment se comporte le membre supérieur lors d’une interaction avec un environnement physique ? </a:t>
            </a:r>
            <a:endParaRPr lang="fr-FR" sz="2200" dirty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53" name="Groupe 52"/>
          <p:cNvGrpSpPr/>
          <p:nvPr/>
        </p:nvGrpSpPr>
        <p:grpSpPr>
          <a:xfrm>
            <a:off x="6978562" y="3531956"/>
            <a:ext cx="1138589" cy="948843"/>
            <a:chOff x="7347566" y="1482385"/>
            <a:chExt cx="1138589" cy="948843"/>
          </a:xfrm>
        </p:grpSpPr>
        <p:sp>
          <p:nvSpPr>
            <p:cNvPr id="54" name="Rectangle 53"/>
            <p:cNvSpPr/>
            <p:nvPr/>
          </p:nvSpPr>
          <p:spPr>
            <a:xfrm>
              <a:off x="7745933" y="1482385"/>
              <a:ext cx="49885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?</a:t>
              </a:r>
              <a:endParaRPr lang="fr-FR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 rot="1650776">
              <a:off x="8069053" y="1723342"/>
              <a:ext cx="41710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40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?</a:t>
              </a:r>
              <a:endParaRPr lang="fr-FR" sz="4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 rot="18701260">
              <a:off x="7492958" y="1620471"/>
              <a:ext cx="41710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40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?</a:t>
              </a:r>
              <a:endParaRPr lang="fr-FR" sz="4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7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ce réservé pour une image  22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" t="9884" r="33644" b="240"/>
          <a:stretch/>
        </p:blipFill>
        <p:spPr>
          <a:xfrm>
            <a:off x="0" y="-18288"/>
            <a:ext cx="8087304" cy="6858000"/>
          </a:xfrm>
        </p:spPr>
      </p:pic>
      <p:pic>
        <p:nvPicPr>
          <p:cNvPr id="18" name="Espace réservé pour une image  17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66" t="9902" r="-135" b="120"/>
          <a:stretch/>
        </p:blipFill>
        <p:spPr/>
      </p:pic>
      <p:sp>
        <p:nvSpPr>
          <p:cNvPr id="8" name="Rectangle 7" descr="élément décoratif">
            <a:extLst>
              <a:ext uri="{FF2B5EF4-FFF2-40B4-BE49-F238E27FC236}">
                <a16:creationId xmlns:a16="http://schemas.microsoft.com/office/drawing/2014/main" id="{4E4A96D9-2D70-4D9E-B61C-9B23F3FD5161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D65CFEB2-BC19-4647-937B-40854EE88A8C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7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0973397" y="6551829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Photo par </a:t>
            </a:r>
            <a:r>
              <a:rPr lang="fr-FR" sz="1100" i="1" dirty="0" err="1">
                <a:solidFill>
                  <a:schemeClr val="bg1"/>
                </a:solidFill>
              </a:rPr>
              <a:t>Javardh</a:t>
            </a:r>
            <a:endParaRPr lang="fr-FR" sz="1100" i="1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507846" y="6499670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KUKA</a:t>
            </a:r>
            <a:endParaRPr lang="fr-FR" sz="1400" i="1" dirty="0">
              <a:solidFill>
                <a:schemeClr val="bg1"/>
              </a:solidFill>
            </a:endParaRPr>
          </a:p>
        </p:txBody>
      </p:sp>
      <p:grpSp>
        <p:nvGrpSpPr>
          <p:cNvPr id="19" name="Groupe 18" descr="élément décoratif">
            <a:extLst>
              <a:ext uri="{FF2B5EF4-FFF2-40B4-BE49-F238E27FC236}">
                <a16:creationId xmlns:a16="http://schemas.microsoft.com/office/drawing/2014/main" id="{E7969C14-1078-4610-9BC5-74119C9B87BE}"/>
              </a:ext>
            </a:extLst>
          </p:cNvPr>
          <p:cNvGrpSpPr/>
          <p:nvPr/>
        </p:nvGrpSpPr>
        <p:grpSpPr>
          <a:xfrm>
            <a:off x="0" y="2481400"/>
            <a:ext cx="7704668" cy="2639239"/>
            <a:chOff x="0" y="3808320"/>
            <a:chExt cx="7833208" cy="2547440"/>
          </a:xfrm>
          <a:solidFill>
            <a:srgbClr val="FFD966">
              <a:alpha val="40000"/>
            </a:srgbClr>
          </a:solidFill>
        </p:grpSpPr>
        <p:sp>
          <p:nvSpPr>
            <p:cNvPr id="20" name="Forme libre : Forme 9">
              <a:extLst>
                <a:ext uri="{FF2B5EF4-FFF2-40B4-BE49-F238E27FC236}">
                  <a16:creationId xmlns:a16="http://schemas.microsoft.com/office/drawing/2014/main" id="{E531D018-EFA3-4346-AB80-7CE436393D9E}"/>
                </a:ext>
              </a:extLst>
            </p:cNvPr>
            <p:cNvSpPr/>
            <p:nvPr/>
          </p:nvSpPr>
          <p:spPr>
            <a:xfrm>
              <a:off x="0" y="3808320"/>
              <a:ext cx="7833208" cy="2547440"/>
            </a:xfrm>
            <a:custGeom>
              <a:avLst/>
              <a:gdLst>
                <a:gd name="connsiteX0" fmla="*/ 0 w 7833208"/>
                <a:gd name="connsiteY0" fmla="*/ 0 h 2547440"/>
                <a:gd name="connsiteX1" fmla="*/ 7833208 w 7833208"/>
                <a:gd name="connsiteY1" fmla="*/ 0 h 2547440"/>
                <a:gd name="connsiteX2" fmla="*/ 7135846 w 7833208"/>
                <a:gd name="connsiteY2" fmla="*/ 2547440 h 2547440"/>
                <a:gd name="connsiteX3" fmla="*/ 0 w 7833208"/>
                <a:gd name="connsiteY3" fmla="*/ 2547440 h 25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3208" h="2547440">
                  <a:moveTo>
                    <a:pt x="0" y="0"/>
                  </a:moveTo>
                  <a:lnTo>
                    <a:pt x="7833208" y="0"/>
                  </a:lnTo>
                  <a:lnTo>
                    <a:pt x="7135846" y="2547440"/>
                  </a:lnTo>
                  <a:lnTo>
                    <a:pt x="0" y="254744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1" name="Forme libre : Forme 10">
              <a:extLst>
                <a:ext uri="{FF2B5EF4-FFF2-40B4-BE49-F238E27FC236}">
                  <a16:creationId xmlns:a16="http://schemas.microsoft.com/office/drawing/2014/main" id="{FA9D7AC8-80D5-49DC-A585-FCFFA6CA4B66}"/>
                </a:ext>
              </a:extLst>
            </p:cNvPr>
            <p:cNvSpPr/>
            <p:nvPr/>
          </p:nvSpPr>
          <p:spPr>
            <a:xfrm>
              <a:off x="1" y="3808320"/>
              <a:ext cx="7692571" cy="2547440"/>
            </a:xfrm>
            <a:custGeom>
              <a:avLst/>
              <a:gdLst>
                <a:gd name="connsiteX0" fmla="*/ 0 w 7692571"/>
                <a:gd name="connsiteY0" fmla="*/ 0 h 2547440"/>
                <a:gd name="connsiteX1" fmla="*/ 7692571 w 7692571"/>
                <a:gd name="connsiteY1" fmla="*/ 0 h 2547440"/>
                <a:gd name="connsiteX2" fmla="*/ 6995209 w 7692571"/>
                <a:gd name="connsiteY2" fmla="*/ 2547440 h 2547440"/>
                <a:gd name="connsiteX3" fmla="*/ 0 w 7692571"/>
                <a:gd name="connsiteY3" fmla="*/ 2547440 h 25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2571" h="2547440">
                  <a:moveTo>
                    <a:pt x="0" y="0"/>
                  </a:moveTo>
                  <a:lnTo>
                    <a:pt x="7692571" y="0"/>
                  </a:lnTo>
                  <a:lnTo>
                    <a:pt x="6995209" y="2547440"/>
                  </a:lnTo>
                  <a:lnTo>
                    <a:pt x="0" y="254744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</p:grp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82" y="2766400"/>
            <a:ext cx="5005614" cy="822960"/>
          </a:xfrm>
        </p:spPr>
        <p:txBody>
          <a:bodyPr rtlCol="0"/>
          <a:lstStyle/>
          <a:p>
            <a:pPr algn="ctr" rtl="0"/>
            <a:r>
              <a:rPr lang="fr-FR" sz="4400" dirty="0"/>
              <a:t>IMPEDANCE MECANIQUE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859D862E-AE8E-482F-9E23-3C096FF03E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473" y="4019128"/>
            <a:ext cx="6237006" cy="1005840"/>
          </a:xfrm>
        </p:spPr>
        <p:txBody>
          <a:bodyPr rtlCol="0"/>
          <a:lstStyle/>
          <a:p>
            <a:pPr algn="ctr" rtl="0"/>
            <a:r>
              <a:rPr lang="fr-FR" sz="1800" dirty="0" err="1"/>
              <a:t>subsusbsubsusb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760029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54114" t="178" r="17353" b="-178"/>
          <a:stretch/>
        </p:blipFill>
        <p:spPr>
          <a:xfrm>
            <a:off x="9055100" y="0"/>
            <a:ext cx="3136900" cy="6871215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6" y="-12032"/>
            <a:ext cx="9575243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8</a:t>
            </a:fld>
            <a:endParaRPr lang="fr-FR" sz="1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space réservé du texte 22">
                <a:extLst>
                  <a:ext uri="{FF2B5EF4-FFF2-40B4-BE49-F238E27FC236}">
                    <a16:creationId xmlns:a16="http://schemas.microsoft.com/office/drawing/2014/main" id="{B88939B0-5B9A-4423-AFD1-CF6B22268795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6699" y="3351154"/>
                <a:ext cx="4196517" cy="2149573"/>
              </a:xfrm>
            </p:spPr>
            <p:txBody>
              <a:bodyPr rtlCol="0"/>
              <a:lstStyle/>
              <a:p>
                <a:pPr algn="just" rtl="0"/>
                <a:r>
                  <a:rPr lang="fr-FR" sz="2200" dirty="0" smtClean="0"/>
                  <a:t>Eléments linéaires caractéristiques :</a:t>
                </a:r>
                <a:endParaRPr lang="fr-FR" sz="2200" dirty="0"/>
              </a:p>
              <a:p>
                <a:pPr marL="971550" lvl="1" indent="-285750"/>
                <a:r>
                  <a:rPr lang="fr-FR" sz="2200" b="1" dirty="0"/>
                  <a:t>Raideur</a:t>
                </a:r>
                <a:r>
                  <a:rPr lang="fr-FR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sz="2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fr-FR" sz="2200" dirty="0"/>
                  <a:t>)</a:t>
                </a:r>
              </a:p>
              <a:p>
                <a:pPr marL="971550" lvl="1" indent="-285750">
                  <a:spcBef>
                    <a:spcPts val="0"/>
                  </a:spcBef>
                </a:pPr>
                <a:r>
                  <a:rPr lang="fr-FR" sz="2200" b="1" dirty="0"/>
                  <a:t>Amortissement</a:t>
                </a:r>
                <a:r>
                  <a:rPr lang="fr-FR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2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fr-FR" sz="2200" dirty="0"/>
                  <a:t>)</a:t>
                </a:r>
              </a:p>
              <a:p>
                <a:pPr marL="971550" lvl="1" indent="-285750">
                  <a:spcBef>
                    <a:spcPts val="0"/>
                  </a:spcBef>
                </a:pPr>
                <a:r>
                  <a:rPr lang="fr-FR" sz="2200" b="1" dirty="0"/>
                  <a:t>Inertie</a:t>
                </a:r>
                <a:r>
                  <a:rPr lang="fr-FR" sz="2200" dirty="0"/>
                  <a:t> (</a:t>
                </a:r>
                <a14:m>
                  <m:oMath xmlns:m="http://schemas.openxmlformats.org/officeDocument/2006/math">
                    <m:r>
                      <a:rPr lang="fr-FR" sz="22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fr-FR" sz="2200" dirty="0"/>
                  <a:t> ou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fr-FR" sz="2200" dirty="0"/>
                  <a:t>)</a:t>
                </a:r>
              </a:p>
              <a:p>
                <a:pPr marL="971550" lvl="1" indent="-285750">
                  <a:spcBef>
                    <a:spcPts val="0"/>
                  </a:spcBef>
                </a:pPr>
                <a:r>
                  <a:rPr lang="fr-FR" sz="2200" b="1" dirty="0" smtClean="0"/>
                  <a:t>Force</a:t>
                </a:r>
                <a:r>
                  <a:rPr lang="fr-FR" sz="2200" dirty="0" smtClean="0"/>
                  <a:t> </a:t>
                </a:r>
                <a:r>
                  <a:rPr lang="fr-FR" sz="2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2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fr-FR" sz="2200" dirty="0"/>
                  <a:t>)</a:t>
                </a:r>
              </a:p>
              <a:p>
                <a:pPr marL="971550" lvl="1" indent="-285750">
                  <a:spcBef>
                    <a:spcPts val="0"/>
                  </a:spcBef>
                </a:pPr>
                <a:r>
                  <a:rPr lang="fr-FR" sz="2200" b="1" dirty="0"/>
                  <a:t>Vitesse</a:t>
                </a:r>
                <a:r>
                  <a:rPr lang="fr-FR" sz="22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200" i="1" dirty="0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fr-FR" sz="2200" b="0" i="1" dirty="0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d>
                  </m:oMath>
                </a14:m>
                <a:endParaRPr lang="fr-FR" sz="2200" dirty="0"/>
              </a:p>
            </p:txBody>
          </p:sp>
        </mc:Choice>
        <mc:Fallback>
          <p:sp>
            <p:nvSpPr>
              <p:cNvPr id="23" name="Espace réservé du texte 22">
                <a:extLst>
                  <a:ext uri="{FF2B5EF4-FFF2-40B4-BE49-F238E27FC236}">
                    <a16:creationId xmlns:a16="http://schemas.microsoft.com/office/drawing/2014/main" id="{B88939B0-5B9A-4423-AFD1-CF6B22268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6699" y="3351154"/>
                <a:ext cx="4196517" cy="2149573"/>
              </a:xfrm>
              <a:blipFill>
                <a:blip r:embed="rId4"/>
                <a:stretch>
                  <a:fillRect l="-4070" t="-3693" b="-11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Espace réservé du contenu 34" descr="Livre ouvert">
            <a:extLst>
              <a:ext uri="{FF2B5EF4-FFF2-40B4-BE49-F238E27FC236}">
                <a16:creationId xmlns:a16="http://schemas.microsoft.com/office/drawing/2014/main" id="{56174A3F-A7B3-40BE-88BD-1796890E4B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354402" y="1667264"/>
            <a:ext cx="548640" cy="548640"/>
          </a:xfr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pPr rtl="0"/>
            <a:r>
              <a:rPr lang="fr-FR" sz="3200" b="1" dirty="0">
                <a:solidFill>
                  <a:schemeClr val="accent3">
                    <a:lumMod val="75000"/>
                  </a:schemeClr>
                </a:solidFill>
              </a:rPr>
              <a:t>Définitions de l’impédance</a:t>
            </a:r>
          </a:p>
        </p:txBody>
      </p:sp>
      <p:grpSp>
        <p:nvGrpSpPr>
          <p:cNvPr id="30" name="Groupe 29"/>
          <p:cNvGrpSpPr/>
          <p:nvPr/>
        </p:nvGrpSpPr>
        <p:grpSpPr>
          <a:xfrm>
            <a:off x="4401153" y="1326073"/>
            <a:ext cx="7040912" cy="776179"/>
            <a:chOff x="3295978" y="1618141"/>
            <a:chExt cx="6434324" cy="776179"/>
          </a:xfrm>
        </p:grpSpPr>
        <p:sp>
          <p:nvSpPr>
            <p:cNvPr id="5" name="Rectangle à coins arrondis 4"/>
            <p:cNvSpPr/>
            <p:nvPr/>
          </p:nvSpPr>
          <p:spPr>
            <a:xfrm>
              <a:off x="4694485" y="1657717"/>
              <a:ext cx="1381125" cy="736603"/>
            </a:xfrm>
            <a:prstGeom prst="roundRect">
              <a:avLst/>
            </a:prstGeom>
            <a:solidFill>
              <a:srgbClr val="EEA81C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200" b="1" dirty="0" smtClean="0"/>
                <a:t>Impédance</a:t>
              </a:r>
              <a:endParaRPr lang="fr-FR" sz="2200" b="1" dirty="0"/>
            </a:p>
            <a:p>
              <a:pPr algn="ctr"/>
              <a:r>
                <a:rPr lang="fr-FR" dirty="0"/>
                <a:t>(</a:t>
              </a:r>
              <a:r>
                <a:rPr lang="fr-FR" dirty="0" smtClean="0"/>
                <a:t>système</a:t>
              </a:r>
              <a:r>
                <a:rPr lang="fr-FR" dirty="0"/>
                <a:t>)</a:t>
              </a:r>
            </a:p>
          </p:txBody>
        </p:sp>
        <p:sp>
          <p:nvSpPr>
            <p:cNvPr id="18" name="Rectangle à coins arrondis 17"/>
            <p:cNvSpPr/>
            <p:nvPr/>
          </p:nvSpPr>
          <p:spPr>
            <a:xfrm>
              <a:off x="6843776" y="1657717"/>
              <a:ext cx="1546409" cy="736603"/>
            </a:xfrm>
            <a:prstGeom prst="roundRect">
              <a:avLst/>
            </a:prstGeom>
            <a:solidFill>
              <a:srgbClr val="EEA81C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200" b="1" dirty="0"/>
                <a:t>Admittance</a:t>
              </a:r>
            </a:p>
            <a:p>
              <a:pPr algn="ctr"/>
              <a:r>
                <a:rPr lang="fr-FR" sz="1600" dirty="0"/>
                <a:t>(Environnement)</a:t>
              </a:r>
            </a:p>
          </p:txBody>
        </p:sp>
        <p:cxnSp>
          <p:nvCxnSpPr>
            <p:cNvPr id="8" name="Connecteur droit avec flèche 7"/>
            <p:cNvCxnSpPr>
              <a:stCxn id="5" idx="3"/>
              <a:endCxn id="18" idx="1"/>
            </p:cNvCxnSpPr>
            <p:nvPr/>
          </p:nvCxnSpPr>
          <p:spPr>
            <a:xfrm>
              <a:off x="6075610" y="2026019"/>
              <a:ext cx="768166" cy="0"/>
            </a:xfrm>
            <a:prstGeom prst="straightConnector1">
              <a:avLst/>
            </a:prstGeom>
            <a:ln w="1905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avec flèche 24"/>
            <p:cNvCxnSpPr>
              <a:endCxn id="5" idx="1"/>
            </p:cNvCxnSpPr>
            <p:nvPr/>
          </p:nvCxnSpPr>
          <p:spPr>
            <a:xfrm>
              <a:off x="3761035" y="2026018"/>
              <a:ext cx="933450" cy="1"/>
            </a:xfrm>
            <a:prstGeom prst="straightConnector1">
              <a:avLst/>
            </a:prstGeom>
            <a:ln w="1905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avec flèche 27"/>
            <p:cNvCxnSpPr>
              <a:stCxn id="18" idx="3"/>
            </p:cNvCxnSpPr>
            <p:nvPr/>
          </p:nvCxnSpPr>
          <p:spPr>
            <a:xfrm>
              <a:off x="8390185" y="2026019"/>
              <a:ext cx="975385" cy="0"/>
            </a:xfrm>
            <a:prstGeom prst="straightConnector1">
              <a:avLst/>
            </a:prstGeom>
            <a:ln w="1905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/>
            <p:cNvSpPr txBox="1"/>
            <p:nvPr/>
          </p:nvSpPr>
          <p:spPr>
            <a:xfrm>
              <a:off x="3295978" y="1618141"/>
              <a:ext cx="1293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mouvement</a:t>
              </a:r>
              <a:endParaRPr lang="fr-FR" sz="2800" b="1" dirty="0"/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6128869" y="1631181"/>
              <a:ext cx="6400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force</a:t>
              </a:r>
              <a:endParaRPr lang="fr-FR" sz="2800" b="1" dirty="0"/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8436677" y="1618141"/>
              <a:ext cx="1293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mouvement</a:t>
              </a:r>
              <a:endParaRPr lang="fr-FR" b="1" dirty="0"/>
            </a:p>
          </p:txBody>
        </p:sp>
      </p:grpSp>
      <p:pic>
        <p:nvPicPr>
          <p:cNvPr id="43" name="Image 42"/>
          <p:cNvPicPr>
            <a:picLocks noChangeAspect="1"/>
          </p:cNvPicPr>
          <p:nvPr/>
        </p:nvPicPr>
        <p:blipFill rotWithShape="1">
          <a:blip r:embed="rId7"/>
          <a:srcRect l="8957" t="18770" r="28017" b="10258"/>
          <a:stretch/>
        </p:blipFill>
        <p:spPr>
          <a:xfrm>
            <a:off x="6153566" y="2916703"/>
            <a:ext cx="3757939" cy="2644757"/>
          </a:xfrm>
          <a:prstGeom prst="rect">
            <a:avLst/>
          </a:prstGeom>
        </p:spPr>
      </p:pic>
      <p:sp>
        <p:nvSpPr>
          <p:cNvPr id="33" name="ZoneTexte 32"/>
          <p:cNvSpPr txBox="1"/>
          <p:nvPr/>
        </p:nvSpPr>
        <p:spPr>
          <a:xfrm>
            <a:off x="6493101" y="2147747"/>
            <a:ext cx="3025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Systèmes physiques, </a:t>
            </a:r>
            <a:r>
              <a:rPr lang="fr-FR" sz="1600" dirty="0" err="1"/>
              <a:t>Hogan</a:t>
            </a:r>
            <a:r>
              <a:rPr lang="fr-FR" sz="1600" dirty="0"/>
              <a:t> (1985)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ZoneTexte 37"/>
              <p:cNvSpPr txBox="1"/>
              <p:nvPr/>
            </p:nvSpPr>
            <p:spPr>
              <a:xfrm>
                <a:off x="244490" y="5594453"/>
                <a:ext cx="49250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200" dirty="0"/>
              </a:p>
            </p:txBody>
          </p:sp>
        </mc:Choice>
        <mc:Fallback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90" y="5594453"/>
                <a:ext cx="4925003" cy="430887"/>
              </a:xfrm>
              <a:prstGeom prst="rect">
                <a:avLst/>
              </a:prstGeom>
              <a:blipFill>
                <a:blip r:embed="rId8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722468" y="6063372"/>
            <a:ext cx="3914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Equation de l’impédance, modèle KBI </a:t>
            </a:r>
            <a:r>
              <a:rPr lang="fr-FR" sz="1600" dirty="0" smtClean="0"/>
              <a:t>linéaire</a:t>
            </a:r>
          </a:p>
          <a:p>
            <a:r>
              <a:rPr lang="fr-FR" sz="1600" dirty="0" smtClean="0"/>
              <a:t> </a:t>
            </a:r>
            <a:r>
              <a:rPr lang="fr-FR" sz="1600" dirty="0"/>
              <a:t>pour de petits déplacements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ZoneTexte 44"/>
              <p:cNvSpPr txBox="1"/>
              <p:nvPr/>
            </p:nvSpPr>
            <p:spPr>
              <a:xfrm>
                <a:off x="5934668" y="5604570"/>
                <a:ext cx="43849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Position virtuelle non perturbée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fr-FR" sz="1600" dirty="0"/>
                  <a:t>) et position</a:t>
                </a:r>
              </a:p>
              <a:p>
                <a:r>
                  <a:rPr lang="fr-FR" sz="1600" dirty="0"/>
                  <a:t>suite à une perturbation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fr-FR" sz="1600" dirty="0"/>
                  <a:t>), </a:t>
                </a:r>
                <a:r>
                  <a:rPr lang="fr-FR" sz="1600" dirty="0" err="1"/>
                  <a:t>Tsuji</a:t>
                </a:r>
                <a:r>
                  <a:rPr lang="fr-FR" sz="1600" dirty="0"/>
                  <a:t> &amp; Tanaka (2008) </a:t>
                </a:r>
              </a:p>
            </p:txBody>
          </p:sp>
        </mc:Choice>
        <mc:Fallback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668" y="5604570"/>
                <a:ext cx="4384926" cy="584775"/>
              </a:xfrm>
              <a:prstGeom prst="rect">
                <a:avLst/>
              </a:prstGeom>
              <a:blipFill>
                <a:blip r:embed="rId9"/>
                <a:stretch>
                  <a:fillRect l="-834" t="-3125" r="-1530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orme libre 26"/>
          <p:cNvSpPr/>
          <p:nvPr/>
        </p:nvSpPr>
        <p:spPr>
          <a:xfrm>
            <a:off x="0" y="-14416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accent3">
                  <a:alpha val="55000"/>
                </a:schemeClr>
              </a:gs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IMPEDANCE MECANIQUE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6682405" y="87939"/>
            <a:ext cx="4794250" cy="342900"/>
            <a:chOff x="755650" y="4794960"/>
            <a:chExt cx="4794250" cy="342900"/>
          </a:xfrm>
        </p:grpSpPr>
        <p:grpSp>
          <p:nvGrpSpPr>
            <p:cNvPr id="34" name="Groupe 33"/>
            <p:cNvGrpSpPr/>
            <p:nvPr/>
          </p:nvGrpSpPr>
          <p:grpSpPr>
            <a:xfrm>
              <a:off x="755650" y="4831472"/>
              <a:ext cx="4794250" cy="260351"/>
              <a:chOff x="755650" y="1900714"/>
              <a:chExt cx="4794250" cy="260351"/>
            </a:xfrm>
          </p:grpSpPr>
          <p:grpSp>
            <p:nvGrpSpPr>
              <p:cNvPr id="37" name="Groupe 36"/>
              <p:cNvGrpSpPr/>
              <p:nvPr/>
            </p:nvGrpSpPr>
            <p:grpSpPr>
              <a:xfrm>
                <a:off x="1260475" y="1900715"/>
                <a:ext cx="4289425" cy="260350"/>
                <a:chOff x="1254125" y="2712560"/>
                <a:chExt cx="4289425" cy="260350"/>
              </a:xfrm>
            </p:grpSpPr>
            <p:sp>
              <p:nvSpPr>
                <p:cNvPr id="42" name="Ellipse 41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6" name="Ellipse 45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7" name="Ellipse 46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8" name="Ellipse 47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9" name="Ellipse 48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0" name="Ellipse 49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1" name="Ellipse 50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2" name="Ellipse 51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39" name="Ellipse 38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6" name="Ellipse 35"/>
            <p:cNvSpPr/>
            <p:nvPr/>
          </p:nvSpPr>
          <p:spPr>
            <a:xfrm>
              <a:off x="1725613" y="4794960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3</a:t>
              </a:r>
              <a:endParaRPr lang="fr-FR" dirty="0"/>
            </a:p>
          </p:txBody>
        </p:sp>
      </p:grpSp>
      <p:sp>
        <p:nvSpPr>
          <p:cNvPr id="53" name="Rectangle à coins arrondis 52"/>
          <p:cNvSpPr/>
          <p:nvPr/>
        </p:nvSpPr>
        <p:spPr>
          <a:xfrm>
            <a:off x="468673" y="2353292"/>
            <a:ext cx="4418932" cy="625070"/>
          </a:xfrm>
          <a:prstGeom prst="roundRect">
            <a:avLst/>
          </a:prstGeom>
          <a:solidFill>
            <a:srgbClr val="FFD966"/>
          </a:solidFill>
          <a:ln>
            <a:solidFill>
              <a:srgbClr val="E7992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200" dirty="0" smtClean="0">
                <a:solidFill>
                  <a:schemeClr val="tx1"/>
                </a:solidFill>
              </a:rPr>
              <a:t>Capacité à résister à un mouvement</a:t>
            </a:r>
            <a:endParaRPr lang="fr-F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19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43144" r="14617"/>
          <a:stretch/>
        </p:blipFill>
        <p:spPr>
          <a:xfrm>
            <a:off x="7524750" y="0"/>
            <a:ext cx="4667251" cy="6858000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693171" y="-14416"/>
            <a:ext cx="9496034" cy="6872416"/>
            <a:chOff x="1826589" y="-14416"/>
            <a:chExt cx="7311214" cy="6872416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541015" y="-14416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9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7596414" cy="830997"/>
          </a:xfrm>
        </p:spPr>
        <p:txBody>
          <a:bodyPr rtlCol="0" anchor="ctr"/>
          <a:lstStyle/>
          <a:p>
            <a:pPr rtl="0"/>
            <a:r>
              <a:rPr lang="fr-FR" sz="3200" b="1" dirty="0">
                <a:solidFill>
                  <a:schemeClr val="accent3">
                    <a:lumMod val="75000"/>
                  </a:schemeClr>
                </a:solidFill>
              </a:rPr>
              <a:t>Méthodes d’estimation de l’impédance</a:t>
            </a:r>
          </a:p>
        </p:txBody>
      </p:sp>
      <p:pic>
        <p:nvPicPr>
          <p:cNvPr id="19" name="Espace réservé du contenu 94" descr="Microscope">
            <a:extLst>
              <a:ext uri="{FF2B5EF4-FFF2-40B4-BE49-F238E27FC236}">
                <a16:creationId xmlns:a16="http://schemas.microsoft.com/office/drawing/2014/main" id="{DF89E35F-3521-954B-82F3-91E58CE3228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76359" y="5795300"/>
            <a:ext cx="651900" cy="651900"/>
          </a:xfrm>
        </p:spPr>
      </p:pic>
      <p:sp>
        <p:nvSpPr>
          <p:cNvPr id="18" name="Forme libre 17"/>
          <p:cNvSpPr/>
          <p:nvPr/>
        </p:nvSpPr>
        <p:spPr>
          <a:xfrm>
            <a:off x="0" y="-14416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accent3">
                  <a:alpha val="55000"/>
                </a:schemeClr>
              </a:gs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IMPEDANCE MECANIQUE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grpSp>
        <p:nvGrpSpPr>
          <p:cNvPr id="21" name="Groupe 20"/>
          <p:cNvGrpSpPr/>
          <p:nvPr/>
        </p:nvGrpSpPr>
        <p:grpSpPr>
          <a:xfrm>
            <a:off x="6738178" y="87439"/>
            <a:ext cx="4794250" cy="342900"/>
            <a:chOff x="755650" y="5391461"/>
            <a:chExt cx="4794250" cy="342900"/>
          </a:xfrm>
        </p:grpSpPr>
        <p:grpSp>
          <p:nvGrpSpPr>
            <p:cNvPr id="24" name="Groupe 23"/>
            <p:cNvGrpSpPr/>
            <p:nvPr/>
          </p:nvGrpSpPr>
          <p:grpSpPr>
            <a:xfrm>
              <a:off x="755650" y="5439713"/>
              <a:ext cx="4794250" cy="260351"/>
              <a:chOff x="755650" y="1900714"/>
              <a:chExt cx="4794250" cy="260351"/>
            </a:xfrm>
          </p:grpSpPr>
          <p:grpSp>
            <p:nvGrpSpPr>
              <p:cNvPr id="26" name="Groupe 25"/>
              <p:cNvGrpSpPr/>
              <p:nvPr/>
            </p:nvGrpSpPr>
            <p:grpSpPr>
              <a:xfrm>
                <a:off x="1260475" y="1900715"/>
                <a:ext cx="4289425" cy="260350"/>
                <a:chOff x="1254125" y="2712560"/>
                <a:chExt cx="4289425" cy="260350"/>
              </a:xfrm>
            </p:grpSpPr>
            <p:sp>
              <p:nvSpPr>
                <p:cNvPr id="29" name="Ellipse 28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0" name="Ellipse 29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1" name="Ellipse 30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2" name="Ellipse 31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3" name="Ellipse 32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4" name="Ellipse 33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5" name="Ellipse 34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6" name="Ellipse 35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7" name="Ellipse 36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27" name="Ellipse 26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5" name="Ellipse 24"/>
            <p:cNvSpPr/>
            <p:nvPr/>
          </p:nvSpPr>
          <p:spPr>
            <a:xfrm>
              <a:off x="2224087" y="5391461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4</a:t>
              </a:r>
              <a:endParaRPr lang="fr-FR" dirty="0"/>
            </a:p>
          </p:txBody>
        </p:sp>
      </p:grpSp>
      <p:grpSp>
        <p:nvGrpSpPr>
          <p:cNvPr id="47" name="Groupe 46"/>
          <p:cNvGrpSpPr/>
          <p:nvPr/>
        </p:nvGrpSpPr>
        <p:grpSpPr>
          <a:xfrm>
            <a:off x="362547" y="1945875"/>
            <a:ext cx="4381457" cy="4222999"/>
            <a:chOff x="547954" y="1445809"/>
            <a:chExt cx="4381457" cy="4222999"/>
          </a:xfrm>
        </p:grpSpPr>
        <p:pic>
          <p:nvPicPr>
            <p:cNvPr id="38" name="Image 37"/>
            <p:cNvPicPr>
              <a:picLocks noChangeAspect="1"/>
            </p:cNvPicPr>
            <p:nvPr/>
          </p:nvPicPr>
          <p:blipFill rotWithShape="1">
            <a:blip r:embed="rId8"/>
            <a:srcRect l="8957" t="18770" r="28017" b="10258"/>
            <a:stretch/>
          </p:blipFill>
          <p:spPr>
            <a:xfrm rot="21021453">
              <a:off x="1171472" y="1854343"/>
              <a:ext cx="3757939" cy="2644757"/>
            </a:xfrm>
            <a:prstGeom prst="rect">
              <a:avLst/>
            </a:prstGeom>
          </p:spPr>
        </p:pic>
        <p:sp>
          <p:nvSpPr>
            <p:cNvPr id="6" name="Forme libre 5"/>
            <p:cNvSpPr/>
            <p:nvPr/>
          </p:nvSpPr>
          <p:spPr>
            <a:xfrm rot="1116068">
              <a:off x="547954" y="3651154"/>
              <a:ext cx="582271" cy="2017654"/>
            </a:xfrm>
            <a:custGeom>
              <a:avLst/>
              <a:gdLst>
                <a:gd name="connsiteX0" fmla="*/ 354677 w 582271"/>
                <a:gd name="connsiteY0" fmla="*/ 0 h 2585156"/>
                <a:gd name="connsiteX1" fmla="*/ 4721 w 582271"/>
                <a:gd name="connsiteY1" fmla="*/ 654756 h 2585156"/>
                <a:gd name="connsiteX2" fmla="*/ 580455 w 582271"/>
                <a:gd name="connsiteY2" fmla="*/ 1715911 h 2585156"/>
                <a:gd name="connsiteX3" fmla="*/ 151477 w 582271"/>
                <a:gd name="connsiteY3" fmla="*/ 2585156 h 258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2271" h="2585156">
                  <a:moveTo>
                    <a:pt x="354677" y="0"/>
                  </a:moveTo>
                  <a:cubicBezTo>
                    <a:pt x="160884" y="184385"/>
                    <a:pt x="-32909" y="368771"/>
                    <a:pt x="4721" y="654756"/>
                  </a:cubicBezTo>
                  <a:cubicBezTo>
                    <a:pt x="42351" y="940741"/>
                    <a:pt x="555996" y="1394178"/>
                    <a:pt x="580455" y="1715911"/>
                  </a:cubicBezTo>
                  <a:cubicBezTo>
                    <a:pt x="604914" y="2037644"/>
                    <a:pt x="378195" y="2311400"/>
                    <a:pt x="151477" y="2585156"/>
                  </a:cubicBezTo>
                </a:path>
              </a:pathLst>
            </a:cu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rme libre 7"/>
            <p:cNvSpPr/>
            <p:nvPr/>
          </p:nvSpPr>
          <p:spPr>
            <a:xfrm>
              <a:off x="926562" y="2365839"/>
              <a:ext cx="787393" cy="1332089"/>
            </a:xfrm>
            <a:custGeom>
              <a:avLst/>
              <a:gdLst>
                <a:gd name="connsiteX0" fmla="*/ 383822 w 787393"/>
                <a:gd name="connsiteY0" fmla="*/ 1332089 h 1332089"/>
                <a:gd name="connsiteX1" fmla="*/ 767645 w 787393"/>
                <a:gd name="connsiteY1" fmla="*/ 801511 h 1332089"/>
                <a:gd name="connsiteX2" fmla="*/ 654756 w 787393"/>
                <a:gd name="connsiteY2" fmla="*/ 146756 h 1332089"/>
                <a:gd name="connsiteX3" fmla="*/ 0 w 787393"/>
                <a:gd name="connsiteY3" fmla="*/ 0 h 133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393" h="1332089">
                  <a:moveTo>
                    <a:pt x="383822" y="1332089"/>
                  </a:moveTo>
                  <a:cubicBezTo>
                    <a:pt x="553155" y="1165577"/>
                    <a:pt x="722489" y="999066"/>
                    <a:pt x="767645" y="801511"/>
                  </a:cubicBezTo>
                  <a:cubicBezTo>
                    <a:pt x="812801" y="603956"/>
                    <a:pt x="782697" y="280341"/>
                    <a:pt x="654756" y="146756"/>
                  </a:cubicBezTo>
                  <a:cubicBezTo>
                    <a:pt x="526815" y="13171"/>
                    <a:pt x="263407" y="6585"/>
                    <a:pt x="0" y="0"/>
                  </a:cubicBezTo>
                </a:path>
              </a:pathLst>
            </a:custGeom>
            <a:noFill/>
            <a:ln w="38100"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lèche droite 11"/>
            <p:cNvSpPr/>
            <p:nvPr/>
          </p:nvSpPr>
          <p:spPr>
            <a:xfrm rot="689559">
              <a:off x="620042" y="3466966"/>
              <a:ext cx="536455" cy="227885"/>
            </a:xfrm>
            <a:prstGeom prst="rightArrow">
              <a:avLst>
                <a:gd name="adj1" fmla="val 39176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Forme libre 41"/>
            <p:cNvSpPr/>
            <p:nvPr/>
          </p:nvSpPr>
          <p:spPr>
            <a:xfrm>
              <a:off x="1298222" y="1445809"/>
              <a:ext cx="2709499" cy="2268235"/>
            </a:xfrm>
            <a:custGeom>
              <a:avLst/>
              <a:gdLst>
                <a:gd name="connsiteX0" fmla="*/ 0 w 2709499"/>
                <a:gd name="connsiteY0" fmla="*/ 2268235 h 2268235"/>
                <a:gd name="connsiteX1" fmla="*/ 1873956 w 2709499"/>
                <a:gd name="connsiteY1" fmla="*/ 1952147 h 2268235"/>
                <a:gd name="connsiteX2" fmla="*/ 2709334 w 2709499"/>
                <a:gd name="connsiteY2" fmla="*/ 811969 h 2268235"/>
                <a:gd name="connsiteX3" fmla="*/ 1817511 w 2709499"/>
                <a:gd name="connsiteY3" fmla="*/ 112058 h 2268235"/>
                <a:gd name="connsiteX4" fmla="*/ 1185334 w 2709499"/>
                <a:gd name="connsiteY4" fmla="*/ 10458 h 226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9499" h="2268235">
                  <a:moveTo>
                    <a:pt x="0" y="2268235"/>
                  </a:moveTo>
                  <a:cubicBezTo>
                    <a:pt x="711200" y="2231546"/>
                    <a:pt x="1422400" y="2194858"/>
                    <a:pt x="1873956" y="1952147"/>
                  </a:cubicBezTo>
                  <a:cubicBezTo>
                    <a:pt x="2325512" y="1709436"/>
                    <a:pt x="2718741" y="1118650"/>
                    <a:pt x="2709334" y="811969"/>
                  </a:cubicBezTo>
                  <a:cubicBezTo>
                    <a:pt x="2699927" y="505288"/>
                    <a:pt x="2071511" y="245643"/>
                    <a:pt x="1817511" y="112058"/>
                  </a:cubicBezTo>
                  <a:cubicBezTo>
                    <a:pt x="1563511" y="-21527"/>
                    <a:pt x="1374422" y="-5535"/>
                    <a:pt x="1185334" y="1045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Étoile à 4 branches 42"/>
            <p:cNvSpPr/>
            <p:nvPr/>
          </p:nvSpPr>
          <p:spPr>
            <a:xfrm>
              <a:off x="1138261" y="3490066"/>
              <a:ext cx="348490" cy="428978"/>
            </a:xfrm>
            <a:prstGeom prst="star4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9" name="Rectangle à coins arrondis 48"/>
          <p:cNvSpPr/>
          <p:nvPr/>
        </p:nvSpPr>
        <p:spPr>
          <a:xfrm>
            <a:off x="5847448" y="1626666"/>
            <a:ext cx="4718334" cy="1534223"/>
          </a:xfrm>
          <a:prstGeom prst="roundRect">
            <a:avLst/>
          </a:prstGeom>
          <a:solidFill>
            <a:srgbClr val="FFD966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u="sng" dirty="0" smtClean="0">
                <a:solidFill>
                  <a:schemeClr val="tx1"/>
                </a:solidFill>
              </a:rPr>
              <a:t>Comportement en impédance</a:t>
            </a:r>
          </a:p>
          <a:p>
            <a:pPr marL="800100" lvl="1" indent="-342900">
              <a:buFont typeface="Calibri Light" panose="020F0302020204030204" pitchFamily="34" charset="0"/>
              <a:buChar char="−"/>
            </a:pPr>
            <a:r>
              <a:rPr lang="fr-FR" sz="2200" dirty="0">
                <a:solidFill>
                  <a:schemeClr val="tx1"/>
                </a:solidFill>
              </a:rPr>
              <a:t>Propriétés </a:t>
            </a:r>
            <a:r>
              <a:rPr lang="fr-FR" sz="2200" dirty="0" smtClean="0">
                <a:solidFill>
                  <a:schemeClr val="tx1"/>
                </a:solidFill>
              </a:rPr>
              <a:t>viscoélastiques</a:t>
            </a:r>
            <a:endParaRPr lang="fr-FR" dirty="0" smtClean="0">
              <a:solidFill>
                <a:schemeClr val="tx1"/>
              </a:solidFill>
            </a:endParaRPr>
          </a:p>
          <a:p>
            <a:pPr marL="800100" lvl="1" indent="-34290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rgbClr val="C00000"/>
                </a:solidFill>
              </a:rPr>
              <a:t>Actions volontaires </a:t>
            </a:r>
            <a:r>
              <a:rPr lang="fr-FR" dirty="0" smtClean="0">
                <a:solidFill>
                  <a:schemeClr val="tx1"/>
                </a:solidFill>
              </a:rPr>
              <a:t>(&gt; 100ms)</a:t>
            </a:r>
          </a:p>
          <a:p>
            <a:pPr marL="800100" lvl="1" indent="-342900">
              <a:buFont typeface="Calibri Light" panose="020F0302020204030204" pitchFamily="34" charset="0"/>
              <a:buChar char="−"/>
            </a:pPr>
            <a:r>
              <a:rPr lang="fr-FR" sz="2200" dirty="0">
                <a:solidFill>
                  <a:schemeClr val="tx1"/>
                </a:solidFill>
              </a:rPr>
              <a:t>Réflexes </a:t>
            </a:r>
            <a:r>
              <a:rPr lang="fr-FR" dirty="0">
                <a:solidFill>
                  <a:schemeClr val="tx1"/>
                </a:solidFill>
              </a:rPr>
              <a:t>(&lt; 100ms)</a:t>
            </a: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50" name="Espace réservé du contenu 82" descr="Cloche">
            <a:extLst>
              <a:ext uri="{FF2B5EF4-FFF2-40B4-BE49-F238E27FC236}">
                <a16:creationId xmlns:a16="http://schemas.microsoft.com/office/drawing/2014/main" id="{F244E2B5-934E-564D-9CC0-90720BE3897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32295" y="3278130"/>
            <a:ext cx="548640" cy="548640"/>
          </a:xfrm>
        </p:spPr>
      </p:pic>
      <p:sp>
        <p:nvSpPr>
          <p:cNvPr id="51" name="Rectangle à coins arrondis 50"/>
          <p:cNvSpPr/>
          <p:nvPr/>
        </p:nvSpPr>
        <p:spPr>
          <a:xfrm>
            <a:off x="5847448" y="3961747"/>
            <a:ext cx="4718334" cy="1549961"/>
          </a:xfrm>
          <a:prstGeom prst="roundRect">
            <a:avLst/>
          </a:prstGeom>
          <a:solidFill>
            <a:srgbClr val="FFD966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u="sng" dirty="0" smtClean="0">
                <a:solidFill>
                  <a:schemeClr val="tx1"/>
                </a:solidFill>
              </a:rPr>
              <a:t>Difficultés</a:t>
            </a:r>
          </a:p>
          <a:p>
            <a:pPr marL="800100" lvl="1" indent="-34290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Trajectoire non perturbée</a:t>
            </a:r>
          </a:p>
          <a:p>
            <a:pPr marL="800100" lvl="1" indent="-34290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Faibles perturbations </a:t>
            </a:r>
            <a:r>
              <a:rPr lang="fr-FR" dirty="0" smtClean="0">
                <a:solidFill>
                  <a:schemeClr val="tx1"/>
                </a:solidFill>
              </a:rPr>
              <a:t>(&lt; 5N)</a:t>
            </a:r>
          </a:p>
          <a:p>
            <a:pPr marL="800100" lvl="1" indent="-342900">
              <a:buFont typeface="Calibri Light" panose="020F0302020204030204" pitchFamily="34" charset="0"/>
              <a:buChar char="−"/>
            </a:pPr>
            <a:r>
              <a:rPr lang="fr-FR" sz="2200" dirty="0" smtClean="0">
                <a:solidFill>
                  <a:schemeClr val="tx1"/>
                </a:solidFill>
              </a:rPr>
              <a:t>Fatigue, …</a:t>
            </a:r>
            <a:endParaRPr lang="fr-FR" sz="2200" dirty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61" name="Groupe 60"/>
          <p:cNvGrpSpPr/>
          <p:nvPr/>
        </p:nvGrpSpPr>
        <p:grpSpPr>
          <a:xfrm>
            <a:off x="1636285" y="5569059"/>
            <a:ext cx="4368422" cy="954107"/>
            <a:chOff x="1085892" y="5618808"/>
            <a:chExt cx="4368422" cy="954107"/>
          </a:xfrm>
        </p:grpSpPr>
        <p:sp>
          <p:nvSpPr>
            <p:cNvPr id="52" name="Rectangle à coins arrondis 51"/>
            <p:cNvSpPr/>
            <p:nvPr/>
          </p:nvSpPr>
          <p:spPr>
            <a:xfrm>
              <a:off x="2735393" y="5742072"/>
              <a:ext cx="1511329" cy="736603"/>
            </a:xfrm>
            <a:prstGeom prst="roundRect">
              <a:avLst/>
            </a:prstGeom>
            <a:solidFill>
              <a:srgbClr val="EEA81C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200" b="1" dirty="0" smtClean="0"/>
                <a:t>Impédance</a:t>
              </a:r>
              <a:endParaRPr lang="fr-FR" sz="2200" b="1" dirty="0"/>
            </a:p>
            <a:p>
              <a:pPr algn="ctr"/>
              <a:r>
                <a:rPr lang="fr-FR" dirty="0" smtClean="0"/>
                <a:t>(BRAS)</a:t>
              </a:r>
              <a:endParaRPr lang="fr-FR" dirty="0"/>
            </a:p>
          </p:txBody>
        </p:sp>
        <p:sp>
          <p:nvSpPr>
            <p:cNvPr id="53" name="Flèche droite 52"/>
            <p:cNvSpPr/>
            <p:nvPr/>
          </p:nvSpPr>
          <p:spPr>
            <a:xfrm>
              <a:off x="2158073" y="5996430"/>
              <a:ext cx="536455" cy="227885"/>
            </a:xfrm>
            <a:prstGeom prst="rightArrow">
              <a:avLst>
                <a:gd name="adj1" fmla="val 39176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Flèche droite 53"/>
            <p:cNvSpPr/>
            <p:nvPr/>
          </p:nvSpPr>
          <p:spPr>
            <a:xfrm>
              <a:off x="4292128" y="5994261"/>
              <a:ext cx="536455" cy="227885"/>
            </a:xfrm>
            <a:prstGeom prst="rightArrow">
              <a:avLst>
                <a:gd name="adj1" fmla="val 39176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1085892" y="5665345"/>
              <a:ext cx="1496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 smtClean="0"/>
                <a:t>perturbation</a:t>
              </a:r>
              <a:endParaRPr lang="fr-FR" b="1" dirty="0"/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4386586" y="5618808"/>
              <a:ext cx="106772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 smtClean="0"/>
                <a:t>Mesure</a:t>
              </a:r>
            </a:p>
            <a:p>
              <a:endParaRPr lang="fr-FR" sz="1400" b="1" dirty="0"/>
            </a:p>
            <a:p>
              <a:r>
                <a:rPr lang="fr-FR" sz="2000" b="1" dirty="0" smtClean="0"/>
                <a:t>Réaction</a:t>
              </a:r>
              <a:endParaRPr lang="fr-FR" b="1" dirty="0"/>
            </a:p>
          </p:txBody>
        </p:sp>
      </p:grpSp>
      <p:cxnSp>
        <p:nvCxnSpPr>
          <p:cNvPr id="58" name="Connecteur droit avec flèche 57"/>
          <p:cNvCxnSpPr/>
          <p:nvPr/>
        </p:nvCxnSpPr>
        <p:spPr>
          <a:xfrm flipV="1">
            <a:off x="1111083" y="2001813"/>
            <a:ext cx="1602517" cy="84797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lgDash"/>
            <a:headEnd type="triangl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ZoneTexte 59"/>
              <p:cNvSpPr txBox="1"/>
              <p:nvPr/>
            </p:nvSpPr>
            <p:spPr>
              <a:xfrm rot="19959897">
                <a:off x="1002410" y="2116182"/>
                <a:ext cx="14616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60" name="ZoneTexte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59897">
                <a:off x="1002410" y="2116182"/>
                <a:ext cx="14616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1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43144" r="14617"/>
          <a:stretch/>
        </p:blipFill>
        <p:spPr>
          <a:xfrm>
            <a:off x="7524750" y="0"/>
            <a:ext cx="4667251" cy="6858000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7" y="0"/>
            <a:ext cx="9596153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10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fr-FR" sz="3200" b="1" dirty="0" smtClean="0">
                <a:solidFill>
                  <a:schemeClr val="accent3">
                    <a:lumMod val="75000"/>
                  </a:schemeClr>
                </a:solidFill>
              </a:rPr>
              <a:t>Variation </a:t>
            </a:r>
            <a:r>
              <a:rPr lang="fr-FR" sz="3200" b="1" dirty="0">
                <a:solidFill>
                  <a:schemeClr val="accent3">
                    <a:lumMod val="75000"/>
                  </a:schemeClr>
                </a:solidFill>
              </a:rPr>
              <a:t>des paramètres d’impédance</a:t>
            </a:r>
          </a:p>
        </p:txBody>
      </p:sp>
      <p:sp>
        <p:nvSpPr>
          <p:cNvPr id="18" name="Forme libre 17"/>
          <p:cNvSpPr/>
          <p:nvPr/>
        </p:nvSpPr>
        <p:spPr>
          <a:xfrm>
            <a:off x="0" y="-14416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accent3">
                  <a:alpha val="55000"/>
                </a:schemeClr>
              </a:gs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IMPEDANCE MECANIQUE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grpSp>
        <p:nvGrpSpPr>
          <p:cNvPr id="23" name="Groupe 22"/>
          <p:cNvGrpSpPr/>
          <p:nvPr/>
        </p:nvGrpSpPr>
        <p:grpSpPr>
          <a:xfrm>
            <a:off x="6736283" y="86176"/>
            <a:ext cx="4794250" cy="342900"/>
            <a:chOff x="749300" y="6025251"/>
            <a:chExt cx="4794250" cy="342900"/>
          </a:xfrm>
        </p:grpSpPr>
        <p:grpSp>
          <p:nvGrpSpPr>
            <p:cNvPr id="25" name="Groupe 24"/>
            <p:cNvGrpSpPr/>
            <p:nvPr/>
          </p:nvGrpSpPr>
          <p:grpSpPr>
            <a:xfrm>
              <a:off x="749300" y="6061763"/>
              <a:ext cx="4794250" cy="260351"/>
              <a:chOff x="755650" y="1900714"/>
              <a:chExt cx="4794250" cy="260351"/>
            </a:xfrm>
          </p:grpSpPr>
          <p:grpSp>
            <p:nvGrpSpPr>
              <p:cNvPr id="27" name="Groupe 26"/>
              <p:cNvGrpSpPr/>
              <p:nvPr/>
            </p:nvGrpSpPr>
            <p:grpSpPr>
              <a:xfrm>
                <a:off x="1260475" y="1900715"/>
                <a:ext cx="4289425" cy="260350"/>
                <a:chOff x="1254125" y="2712560"/>
                <a:chExt cx="4289425" cy="260350"/>
              </a:xfrm>
            </p:grpSpPr>
            <p:sp>
              <p:nvSpPr>
                <p:cNvPr id="30" name="Ellipse 29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1" name="Ellipse 30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2" name="Ellipse 31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3" name="Ellipse 32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4" name="Ellipse 33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5" name="Ellipse 34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6" name="Ellipse 35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7" name="Ellipse 36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8" name="Ellipse 37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28" name="Ellipse 27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6" name="Ellipse 25"/>
            <p:cNvSpPr/>
            <p:nvPr/>
          </p:nvSpPr>
          <p:spPr>
            <a:xfrm>
              <a:off x="2722562" y="6025251"/>
              <a:ext cx="342900" cy="3429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5</a:t>
              </a:r>
              <a:endParaRPr lang="fr-FR" dirty="0"/>
            </a:p>
          </p:txBody>
        </p:sp>
      </p:grpSp>
      <p:sp>
        <p:nvSpPr>
          <p:cNvPr id="39" name="Rectangle à coins arrondis 38"/>
          <p:cNvSpPr/>
          <p:nvPr/>
        </p:nvSpPr>
        <p:spPr>
          <a:xfrm>
            <a:off x="691277" y="2205222"/>
            <a:ext cx="3027712" cy="1319218"/>
          </a:xfrm>
          <a:prstGeom prst="roundRect">
            <a:avLst/>
          </a:prstGeom>
          <a:solidFill>
            <a:srgbClr val="FFD966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tx1"/>
                </a:solidFill>
              </a:rPr>
              <a:t>Apprentissage</a:t>
            </a:r>
            <a:r>
              <a:rPr lang="fr-FR" sz="2200" dirty="0" smtClean="0">
                <a:solidFill>
                  <a:schemeClr val="tx1"/>
                </a:solidFill>
              </a:rPr>
              <a:t> </a:t>
            </a:r>
          </a:p>
          <a:p>
            <a:r>
              <a:rPr lang="fr-FR" sz="2200" dirty="0" err="1" smtClean="0">
                <a:solidFill>
                  <a:schemeClr val="tx1"/>
                </a:solidFill>
              </a:rPr>
              <a:t>Burdet</a:t>
            </a:r>
            <a:r>
              <a:rPr lang="fr-FR" sz="2200" dirty="0" smtClean="0">
                <a:solidFill>
                  <a:schemeClr val="tx1"/>
                </a:solidFill>
              </a:rPr>
              <a:t> &amp; al (2001),</a:t>
            </a:r>
            <a:r>
              <a:rPr lang="fr-FR" sz="2200" u="sng" dirty="0" smtClean="0">
                <a:solidFill>
                  <a:schemeClr val="tx1"/>
                </a:solidFill>
              </a:rPr>
              <a:t> </a:t>
            </a:r>
          </a:p>
          <a:p>
            <a:r>
              <a:rPr lang="fr-FR" sz="2200" dirty="0" err="1" smtClean="0">
                <a:solidFill>
                  <a:schemeClr val="tx1"/>
                </a:solidFill>
              </a:rPr>
              <a:t>Erden</a:t>
            </a:r>
            <a:r>
              <a:rPr lang="fr-FR" sz="2200" dirty="0" smtClean="0">
                <a:solidFill>
                  <a:schemeClr val="tx1"/>
                </a:solidFill>
              </a:rPr>
              <a:t> &amp; Billard (2015)</a:t>
            </a:r>
          </a:p>
        </p:txBody>
      </p:sp>
      <p:sp>
        <p:nvSpPr>
          <p:cNvPr id="40" name="Rectangle à coins arrondis 39"/>
          <p:cNvSpPr/>
          <p:nvPr/>
        </p:nvSpPr>
        <p:spPr>
          <a:xfrm>
            <a:off x="4112162" y="3027363"/>
            <a:ext cx="2872687" cy="1645649"/>
          </a:xfrm>
          <a:prstGeom prst="roundRect">
            <a:avLst/>
          </a:prstGeom>
          <a:solidFill>
            <a:srgbClr val="FFD966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>
                <a:solidFill>
                  <a:schemeClr val="tx1"/>
                </a:solidFill>
              </a:rPr>
              <a:t>T</a:t>
            </a:r>
            <a:r>
              <a:rPr lang="fr-FR" sz="2200" b="1" dirty="0" smtClean="0">
                <a:solidFill>
                  <a:schemeClr val="tx1"/>
                </a:solidFill>
              </a:rPr>
              <a:t>âches</a:t>
            </a:r>
            <a:endParaRPr lang="fr-FR" sz="22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tx1"/>
                </a:solidFill>
              </a:rPr>
              <a:t>Isométriques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tx1"/>
                </a:solidFill>
              </a:rPr>
              <a:t>Pointages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dirty="0" smtClean="0">
                <a:solidFill>
                  <a:schemeClr val="tx1"/>
                </a:solidFill>
              </a:rPr>
              <a:t>Cycliques</a:t>
            </a:r>
          </a:p>
        </p:txBody>
      </p:sp>
      <p:sp>
        <p:nvSpPr>
          <p:cNvPr id="41" name="Rectangle à coins arrondis 40"/>
          <p:cNvSpPr/>
          <p:nvPr/>
        </p:nvSpPr>
        <p:spPr>
          <a:xfrm>
            <a:off x="761228" y="4280843"/>
            <a:ext cx="3027712" cy="989240"/>
          </a:xfrm>
          <a:prstGeom prst="roundRect">
            <a:avLst/>
          </a:prstGeom>
          <a:solidFill>
            <a:srgbClr val="FFD966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tx1"/>
                </a:solidFill>
              </a:rPr>
              <a:t>Au cours de la tâche</a:t>
            </a:r>
          </a:p>
          <a:p>
            <a:r>
              <a:rPr lang="fr-FR" sz="2200" dirty="0" err="1" smtClean="0">
                <a:solidFill>
                  <a:schemeClr val="tx1"/>
                </a:solidFill>
              </a:rPr>
              <a:t>Tsuji</a:t>
            </a:r>
            <a:r>
              <a:rPr lang="fr-FR" sz="2200" dirty="0" smtClean="0">
                <a:solidFill>
                  <a:schemeClr val="tx1"/>
                </a:solidFill>
              </a:rPr>
              <a:t> &amp; Tanaka (2008)</a:t>
            </a:r>
            <a:endParaRPr lang="fr-FR" sz="2200" dirty="0">
              <a:solidFill>
                <a:schemeClr val="tx1"/>
              </a:solidFill>
            </a:endParaRPr>
          </a:p>
        </p:txBody>
      </p:sp>
      <p:sp>
        <p:nvSpPr>
          <p:cNvPr id="43" name="Rectangle à coins arrondis 42"/>
          <p:cNvSpPr/>
          <p:nvPr/>
        </p:nvSpPr>
        <p:spPr>
          <a:xfrm>
            <a:off x="6669312" y="1524840"/>
            <a:ext cx="4209450" cy="126270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fr-FR" sz="2200" dirty="0">
                <a:solidFill>
                  <a:schemeClr val="tx1"/>
                </a:solidFill>
              </a:rPr>
              <a:t>Observe-t-on des variations des paramètres d’impédance au cours de la frappe cyclique ?</a:t>
            </a: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5" name="Rectangle à coins arrondis 44"/>
          <p:cNvSpPr/>
          <p:nvPr/>
        </p:nvSpPr>
        <p:spPr>
          <a:xfrm>
            <a:off x="5593307" y="5146207"/>
            <a:ext cx="4209450" cy="91312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fr-FR" sz="2200" dirty="0" smtClean="0">
                <a:solidFill>
                  <a:schemeClr val="tx1"/>
                </a:solidFill>
              </a:rPr>
              <a:t>Que permettent ces variations, pourquoi sont-elles présentes ?</a:t>
            </a:r>
            <a:endParaRPr lang="fr-FR" sz="2200" dirty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 smtClean="0">
              <a:solidFill>
                <a:schemeClr val="tx1"/>
              </a:solidFill>
            </a:endParaRPr>
          </a:p>
          <a:p>
            <a:pPr marL="742950" lvl="1" indent="-285750">
              <a:buFont typeface="Calibri Light" panose="020F0302020204030204" pitchFamily="34" charset="0"/>
              <a:buChar char="−"/>
            </a:pPr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8114426" y="3397675"/>
            <a:ext cx="1138589" cy="948843"/>
            <a:chOff x="7347566" y="1482385"/>
            <a:chExt cx="1138589" cy="948843"/>
          </a:xfrm>
        </p:grpSpPr>
        <p:sp>
          <p:nvSpPr>
            <p:cNvPr id="5" name="Rectangle 4"/>
            <p:cNvSpPr/>
            <p:nvPr/>
          </p:nvSpPr>
          <p:spPr>
            <a:xfrm>
              <a:off x="7745933" y="1482385"/>
              <a:ext cx="49885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?</a:t>
              </a:r>
              <a:endParaRPr lang="fr-FR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 rot="1650776">
              <a:off x="8069053" y="1723342"/>
              <a:ext cx="41710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40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?</a:t>
              </a:r>
              <a:endParaRPr lang="fr-FR" sz="4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 rot="18701260">
              <a:off x="7492958" y="1620471"/>
              <a:ext cx="41710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40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?</a:t>
              </a:r>
              <a:endParaRPr lang="fr-FR" sz="4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</p:grpSp>
      <p:pic>
        <p:nvPicPr>
          <p:cNvPr id="48" name="Espace réservé du contenu 34" descr="Livre ouvert">
            <a:extLst>
              <a:ext uri="{FF2B5EF4-FFF2-40B4-BE49-F238E27FC236}">
                <a16:creationId xmlns:a16="http://schemas.microsoft.com/office/drawing/2014/main" id="{56174A3F-A7B3-40BE-88BD-1796890E4B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097069" y="2067923"/>
            <a:ext cx="548640" cy="548640"/>
          </a:xfrm>
        </p:spPr>
      </p:pic>
      <p:sp>
        <p:nvSpPr>
          <p:cNvPr id="49" name="Rectangle à coins arrondis 48"/>
          <p:cNvSpPr/>
          <p:nvPr/>
        </p:nvSpPr>
        <p:spPr>
          <a:xfrm>
            <a:off x="2056196" y="5567121"/>
            <a:ext cx="3027712" cy="989240"/>
          </a:xfrm>
          <a:prstGeom prst="roundRect">
            <a:avLst/>
          </a:prstGeom>
          <a:solidFill>
            <a:srgbClr val="FFD966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tx1"/>
                </a:solidFill>
              </a:rPr>
              <a:t>Utilisateur,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tx1"/>
                </a:solidFill>
              </a:rPr>
              <a:t>Environnement…</a:t>
            </a:r>
          </a:p>
        </p:txBody>
      </p:sp>
    </p:spTree>
    <p:extLst>
      <p:ext uri="{BB962C8B-B14F-4D97-AF65-F5344CB8AC3E}">
        <p14:creationId xmlns:p14="http://schemas.microsoft.com/office/powerpoint/2010/main" val="136589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5" r="25"/>
          <a:stretch/>
        </p:blipFill>
        <p:spPr/>
      </p:pic>
      <p:pic>
        <p:nvPicPr>
          <p:cNvPr id="5" name="Espace réservé pour une image  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" t="-139" r="33632" b="139"/>
          <a:stretch/>
        </p:blipFill>
        <p:spPr/>
      </p:pic>
      <p:sp>
        <p:nvSpPr>
          <p:cNvPr id="8" name="Rectangle 7" descr="élément décoratif">
            <a:extLst>
              <a:ext uri="{FF2B5EF4-FFF2-40B4-BE49-F238E27FC236}">
                <a16:creationId xmlns:a16="http://schemas.microsoft.com/office/drawing/2014/main" id="{4E4A96D9-2D70-4D9E-B61C-9B23F3FD5161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D65CFEB2-BC19-4647-937B-40854EE88A8C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11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583680" y="6556013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 err="1"/>
              <a:t>Staübli</a:t>
            </a:r>
            <a:endParaRPr lang="fr-FR" sz="1100" i="1" dirty="0"/>
          </a:p>
        </p:txBody>
      </p:sp>
      <p:grpSp>
        <p:nvGrpSpPr>
          <p:cNvPr id="19" name="Groupe 18" descr="élément décoratif">
            <a:extLst>
              <a:ext uri="{FF2B5EF4-FFF2-40B4-BE49-F238E27FC236}">
                <a16:creationId xmlns:a16="http://schemas.microsoft.com/office/drawing/2014/main" id="{E7969C14-1078-4610-9BC5-74119C9B87BE}"/>
              </a:ext>
            </a:extLst>
          </p:cNvPr>
          <p:cNvGrpSpPr/>
          <p:nvPr/>
        </p:nvGrpSpPr>
        <p:grpSpPr>
          <a:xfrm>
            <a:off x="0" y="2481400"/>
            <a:ext cx="7717536" cy="2639239"/>
            <a:chOff x="0" y="3808320"/>
            <a:chExt cx="7833208" cy="2547440"/>
          </a:xfrm>
          <a:solidFill>
            <a:srgbClr val="E28C89">
              <a:alpha val="40000"/>
            </a:srgbClr>
          </a:solidFill>
        </p:grpSpPr>
        <p:sp>
          <p:nvSpPr>
            <p:cNvPr id="20" name="Forme libre : Forme 9">
              <a:extLst>
                <a:ext uri="{FF2B5EF4-FFF2-40B4-BE49-F238E27FC236}">
                  <a16:creationId xmlns:a16="http://schemas.microsoft.com/office/drawing/2014/main" id="{E531D018-EFA3-4346-AB80-7CE436393D9E}"/>
                </a:ext>
              </a:extLst>
            </p:cNvPr>
            <p:cNvSpPr/>
            <p:nvPr/>
          </p:nvSpPr>
          <p:spPr>
            <a:xfrm>
              <a:off x="0" y="3808320"/>
              <a:ext cx="7833208" cy="2547440"/>
            </a:xfrm>
            <a:custGeom>
              <a:avLst/>
              <a:gdLst>
                <a:gd name="connsiteX0" fmla="*/ 0 w 7833208"/>
                <a:gd name="connsiteY0" fmla="*/ 0 h 2547440"/>
                <a:gd name="connsiteX1" fmla="*/ 7833208 w 7833208"/>
                <a:gd name="connsiteY1" fmla="*/ 0 h 2547440"/>
                <a:gd name="connsiteX2" fmla="*/ 7135846 w 7833208"/>
                <a:gd name="connsiteY2" fmla="*/ 2547440 h 2547440"/>
                <a:gd name="connsiteX3" fmla="*/ 0 w 7833208"/>
                <a:gd name="connsiteY3" fmla="*/ 2547440 h 25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3208" h="2547440">
                  <a:moveTo>
                    <a:pt x="0" y="0"/>
                  </a:moveTo>
                  <a:lnTo>
                    <a:pt x="7833208" y="0"/>
                  </a:lnTo>
                  <a:lnTo>
                    <a:pt x="7135846" y="2547440"/>
                  </a:lnTo>
                  <a:lnTo>
                    <a:pt x="0" y="254744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1" name="Forme libre : Forme 10">
              <a:extLst>
                <a:ext uri="{FF2B5EF4-FFF2-40B4-BE49-F238E27FC236}">
                  <a16:creationId xmlns:a16="http://schemas.microsoft.com/office/drawing/2014/main" id="{FA9D7AC8-80D5-49DC-A585-FCFFA6CA4B66}"/>
                </a:ext>
              </a:extLst>
            </p:cNvPr>
            <p:cNvSpPr/>
            <p:nvPr/>
          </p:nvSpPr>
          <p:spPr>
            <a:xfrm>
              <a:off x="1" y="3808320"/>
              <a:ext cx="7692571" cy="2547440"/>
            </a:xfrm>
            <a:custGeom>
              <a:avLst/>
              <a:gdLst>
                <a:gd name="connsiteX0" fmla="*/ 0 w 7692571"/>
                <a:gd name="connsiteY0" fmla="*/ 0 h 2547440"/>
                <a:gd name="connsiteX1" fmla="*/ 7692571 w 7692571"/>
                <a:gd name="connsiteY1" fmla="*/ 0 h 2547440"/>
                <a:gd name="connsiteX2" fmla="*/ 6995209 w 7692571"/>
                <a:gd name="connsiteY2" fmla="*/ 2547440 h 2547440"/>
                <a:gd name="connsiteX3" fmla="*/ 0 w 7692571"/>
                <a:gd name="connsiteY3" fmla="*/ 2547440 h 25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2571" h="2547440">
                  <a:moveTo>
                    <a:pt x="0" y="0"/>
                  </a:moveTo>
                  <a:lnTo>
                    <a:pt x="7692571" y="0"/>
                  </a:lnTo>
                  <a:lnTo>
                    <a:pt x="6995209" y="2547440"/>
                  </a:lnTo>
                  <a:lnTo>
                    <a:pt x="0" y="254744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</p:grp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82" y="2766400"/>
            <a:ext cx="5005614" cy="822960"/>
          </a:xfrm>
        </p:spPr>
        <p:txBody>
          <a:bodyPr rtlCol="0"/>
          <a:lstStyle/>
          <a:p>
            <a:pPr algn="ctr" rtl="0"/>
            <a:r>
              <a:rPr lang="fr-FR" sz="4400" dirty="0"/>
              <a:t>EXPERIENCE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859D862E-AE8E-482F-9E23-3C096FF03E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674" y="3589360"/>
            <a:ext cx="6237006" cy="1005840"/>
          </a:xfrm>
        </p:spPr>
        <p:txBody>
          <a:bodyPr rtlCol="0"/>
          <a:lstStyle/>
          <a:p>
            <a:pPr algn="ctr" rtl="0"/>
            <a:r>
              <a:rPr lang="fr-FR" sz="1800" dirty="0"/>
              <a:t>Estimation de l’impédance humain au cours d’une tâche rythmique</a:t>
            </a:r>
          </a:p>
        </p:txBody>
      </p:sp>
      <p:sp>
        <p:nvSpPr>
          <p:cNvPr id="9" name="Rectangle 8"/>
          <p:cNvSpPr/>
          <p:nvPr/>
        </p:nvSpPr>
        <p:spPr>
          <a:xfrm rot="19559597">
            <a:off x="8797826" y="3168470"/>
            <a:ext cx="520105" cy="161210"/>
          </a:xfrm>
          <a:prstGeom prst="rect">
            <a:avLst/>
          </a:prstGeom>
          <a:gradFill flip="none" rotWithShape="1">
            <a:gsLst>
              <a:gs pos="0">
                <a:srgbClr val="EEA81C"/>
              </a:gs>
              <a:gs pos="100000">
                <a:srgbClr val="E7992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7537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0955" r="5896"/>
          <a:stretch/>
        </p:blipFill>
        <p:spPr>
          <a:xfrm>
            <a:off x="8125416" y="0"/>
            <a:ext cx="4066584" cy="6858000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6" y="0"/>
            <a:ext cx="9596153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12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pPr rtl="0"/>
            <a:r>
              <a:rPr lang="fr-FR" sz="3200" b="1" dirty="0" smtClean="0">
                <a:solidFill>
                  <a:schemeClr val="accent4"/>
                </a:solidFill>
              </a:rPr>
              <a:t>Description de l’expérience</a:t>
            </a:r>
            <a:endParaRPr lang="fr-FR" sz="3200" b="1" dirty="0">
              <a:solidFill>
                <a:schemeClr val="accent4"/>
              </a:solidFill>
            </a:endParaRPr>
          </a:p>
        </p:txBody>
      </p:sp>
      <p:sp>
        <p:nvSpPr>
          <p:cNvPr id="52" name="Forme libre 51"/>
          <p:cNvSpPr/>
          <p:nvPr/>
        </p:nvSpPr>
        <p:spPr>
          <a:xfrm>
            <a:off x="0" y="-14416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accent4">
                  <a:alpha val="55000"/>
                </a:schemeClr>
              </a:gs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CADRE EXPERIMENTAL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grpSp>
        <p:nvGrpSpPr>
          <p:cNvPr id="54" name="Groupe 53"/>
          <p:cNvGrpSpPr/>
          <p:nvPr/>
        </p:nvGrpSpPr>
        <p:grpSpPr>
          <a:xfrm>
            <a:off x="6716321" y="98699"/>
            <a:ext cx="4794250" cy="342900"/>
            <a:chOff x="6762750" y="1482169"/>
            <a:chExt cx="4794250" cy="342900"/>
          </a:xfrm>
        </p:grpSpPr>
        <p:grpSp>
          <p:nvGrpSpPr>
            <p:cNvPr id="55" name="Groupe 54"/>
            <p:cNvGrpSpPr/>
            <p:nvPr/>
          </p:nvGrpSpPr>
          <p:grpSpPr>
            <a:xfrm>
              <a:off x="6762750" y="1528207"/>
              <a:ext cx="4794250" cy="260351"/>
              <a:chOff x="755650" y="1900714"/>
              <a:chExt cx="4794250" cy="260351"/>
            </a:xfrm>
          </p:grpSpPr>
          <p:grpSp>
            <p:nvGrpSpPr>
              <p:cNvPr id="57" name="Groupe 56"/>
              <p:cNvGrpSpPr/>
              <p:nvPr/>
            </p:nvGrpSpPr>
            <p:grpSpPr>
              <a:xfrm>
                <a:off x="1260475" y="1900715"/>
                <a:ext cx="4289425" cy="260350"/>
                <a:chOff x="1254125" y="2712560"/>
                <a:chExt cx="4289425" cy="260350"/>
              </a:xfrm>
            </p:grpSpPr>
            <p:sp>
              <p:nvSpPr>
                <p:cNvPr id="63" name="Ellipse 62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64" name="Ellipse 63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65" name="Ellipse 64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66" name="Ellipse 65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79" name="Ellipse 78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0" name="Ellipse 79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1" name="Ellipse 80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59" name="Ellipse 58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56" name="Ellipse 55"/>
            <p:cNvSpPr/>
            <p:nvPr/>
          </p:nvSpPr>
          <p:spPr>
            <a:xfrm>
              <a:off x="9699625" y="1482169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7</a:t>
              </a:r>
              <a:endParaRPr lang="fr-FR" dirty="0"/>
            </a:p>
          </p:txBody>
        </p:sp>
      </p:grpSp>
      <p:pic>
        <p:nvPicPr>
          <p:cNvPr id="1026" name="Picture 2" descr="schema_ex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77" y="2259546"/>
            <a:ext cx="6866894" cy="3929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rme libre 5"/>
          <p:cNvSpPr/>
          <p:nvPr/>
        </p:nvSpPr>
        <p:spPr>
          <a:xfrm>
            <a:off x="3441700" y="4597400"/>
            <a:ext cx="1346200" cy="1905000"/>
          </a:xfrm>
          <a:custGeom>
            <a:avLst/>
            <a:gdLst>
              <a:gd name="connsiteX0" fmla="*/ 0 w 1346200"/>
              <a:gd name="connsiteY0" fmla="*/ 1905000 h 1905000"/>
              <a:gd name="connsiteX1" fmla="*/ 266700 w 1346200"/>
              <a:gd name="connsiteY1" fmla="*/ 177800 h 1905000"/>
              <a:gd name="connsiteX2" fmla="*/ 635000 w 1346200"/>
              <a:gd name="connsiteY2" fmla="*/ 1739900 h 1905000"/>
              <a:gd name="connsiteX3" fmla="*/ 850900 w 1346200"/>
              <a:gd name="connsiteY3" fmla="*/ 25400 h 1905000"/>
              <a:gd name="connsiteX4" fmla="*/ 1193800 w 1346200"/>
              <a:gd name="connsiteY4" fmla="*/ 1295400 h 1905000"/>
              <a:gd name="connsiteX5" fmla="*/ 1346200 w 1346200"/>
              <a:gd name="connsiteY5" fmla="*/ 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6200" h="1905000">
                <a:moveTo>
                  <a:pt x="0" y="1905000"/>
                </a:moveTo>
                <a:cubicBezTo>
                  <a:pt x="80433" y="1055158"/>
                  <a:pt x="160867" y="205317"/>
                  <a:pt x="266700" y="177800"/>
                </a:cubicBezTo>
                <a:cubicBezTo>
                  <a:pt x="372533" y="150283"/>
                  <a:pt x="537633" y="1765300"/>
                  <a:pt x="635000" y="1739900"/>
                </a:cubicBezTo>
                <a:cubicBezTo>
                  <a:pt x="732367" y="1714500"/>
                  <a:pt x="757767" y="99483"/>
                  <a:pt x="850900" y="25400"/>
                </a:cubicBezTo>
                <a:cubicBezTo>
                  <a:pt x="944033" y="-48683"/>
                  <a:pt x="1111250" y="1299633"/>
                  <a:pt x="1193800" y="1295400"/>
                </a:cubicBezTo>
                <a:cubicBezTo>
                  <a:pt x="1276350" y="1291167"/>
                  <a:pt x="1311275" y="645583"/>
                  <a:pt x="1346200" y="0"/>
                </a:cubicBez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/>
          <p:cNvCxnSpPr/>
          <p:nvPr/>
        </p:nvCxnSpPr>
        <p:spPr>
          <a:xfrm flipV="1">
            <a:off x="3623883" y="5916612"/>
            <a:ext cx="1430716" cy="771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 rot="19917475">
            <a:off x="4094492" y="6262533"/>
            <a:ext cx="763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accent4"/>
                </a:solidFill>
              </a:rPr>
              <a:t>temps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82" name="Rectangle à coins arrondis 81"/>
          <p:cNvSpPr/>
          <p:nvPr/>
        </p:nvSpPr>
        <p:spPr>
          <a:xfrm>
            <a:off x="8240241" y="1336247"/>
            <a:ext cx="2251234" cy="876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200" dirty="0" smtClean="0">
                <a:solidFill>
                  <a:schemeClr val="tx1"/>
                </a:solidFill>
              </a:rPr>
              <a:t>Perturbations en force (5N)</a:t>
            </a:r>
            <a:endParaRPr lang="fr-FR" sz="2200" dirty="0">
              <a:solidFill>
                <a:schemeClr val="tx1"/>
              </a:solidFill>
            </a:endParaRPr>
          </a:p>
          <a:p>
            <a:endParaRPr lang="fr-FR" sz="2200" dirty="0" smtClean="0">
              <a:solidFill>
                <a:schemeClr val="tx1"/>
              </a:solidFill>
            </a:endParaRPr>
          </a:p>
        </p:txBody>
      </p:sp>
      <p:sp>
        <p:nvSpPr>
          <p:cNvPr id="83" name="Rectangle à coins arrondis 82"/>
          <p:cNvSpPr/>
          <p:nvPr/>
        </p:nvSpPr>
        <p:spPr>
          <a:xfrm>
            <a:off x="8230796" y="2672494"/>
            <a:ext cx="2245000" cy="876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200" dirty="0" smtClean="0">
                <a:solidFill>
                  <a:schemeClr val="tx1"/>
                </a:solidFill>
              </a:rPr>
              <a:t>Mesure positions articulaires</a:t>
            </a:r>
            <a:endParaRPr lang="fr-FR" sz="2200" dirty="0">
              <a:solidFill>
                <a:schemeClr val="tx1"/>
              </a:solidFill>
            </a:endParaRPr>
          </a:p>
          <a:p>
            <a:endParaRPr lang="fr-FR" sz="2200" dirty="0" smtClean="0">
              <a:solidFill>
                <a:schemeClr val="tx1"/>
              </a:solidFill>
            </a:endParaRPr>
          </a:p>
        </p:txBody>
      </p:sp>
      <p:sp>
        <p:nvSpPr>
          <p:cNvPr id="84" name="Flèche droite 83"/>
          <p:cNvSpPr/>
          <p:nvPr/>
        </p:nvSpPr>
        <p:spPr>
          <a:xfrm rot="5400000">
            <a:off x="4517499" y="3804430"/>
            <a:ext cx="536455" cy="227885"/>
          </a:xfrm>
          <a:prstGeom prst="rightArrow">
            <a:avLst>
              <a:gd name="adj1" fmla="val 3917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4215347" y="3251830"/>
            <a:ext cx="1496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perturbation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078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0955" r="5896"/>
          <a:stretch/>
        </p:blipFill>
        <p:spPr>
          <a:xfrm>
            <a:off x="8125416" y="0"/>
            <a:ext cx="4066584" cy="6858000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6" y="0"/>
            <a:ext cx="9596153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13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36" name="Espace réservé du contenu 35" descr="Médaille">
            <a:extLst>
              <a:ext uri="{FF2B5EF4-FFF2-40B4-BE49-F238E27FC236}">
                <a16:creationId xmlns:a16="http://schemas.microsoft.com/office/drawing/2014/main" id="{A960174C-A9DE-472D-BF1C-B13108BD70B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921675" y="1684846"/>
            <a:ext cx="548640" cy="548640"/>
          </a:xfr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KUKA </a:t>
            </a:r>
            <a:r>
              <a:rPr lang="fr-FR" dirty="0" err="1"/>
              <a:t>YouBot</a:t>
            </a:r>
            <a:endParaRPr lang="fr-FR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EC2502CC-C485-B14B-9809-D7E571C386DE}"/>
              </a:ext>
            </a:extLst>
          </p:cNvPr>
          <p:cNvGrpSpPr/>
          <p:nvPr/>
        </p:nvGrpSpPr>
        <p:grpSpPr>
          <a:xfrm>
            <a:off x="2851500" y="3281477"/>
            <a:ext cx="619528" cy="425742"/>
            <a:chOff x="7022592" y="3486030"/>
            <a:chExt cx="619528" cy="425742"/>
          </a:xfrm>
          <a:solidFill>
            <a:schemeClr val="bg1">
              <a:lumMod val="50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C5B7E10-489E-3745-B8FA-3D754BFFB118}"/>
                </a:ext>
              </a:extLst>
            </p:cNvPr>
            <p:cNvSpPr/>
            <p:nvPr/>
          </p:nvSpPr>
          <p:spPr>
            <a:xfrm rot="5400000">
              <a:off x="7236344" y="3595884"/>
              <a:ext cx="146304" cy="212871"/>
            </a:xfrm>
            <a:prstGeom prst="rect">
              <a:avLst/>
            </a:prstGeom>
            <a:grp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7310D9B-F38C-2740-89CC-6F4578632818}"/>
                </a:ext>
              </a:extLst>
            </p:cNvPr>
            <p:cNvSpPr/>
            <p:nvPr/>
          </p:nvSpPr>
          <p:spPr>
            <a:xfrm>
              <a:off x="7367800" y="3571276"/>
              <a:ext cx="274320" cy="274320"/>
            </a:xfrm>
            <a:prstGeom prst="ellipse">
              <a:avLst/>
            </a:prstGeom>
            <a:grp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629ECAA-9880-A742-BA8F-A20CCD58228F}"/>
                </a:ext>
              </a:extLst>
            </p:cNvPr>
            <p:cNvSpPr/>
            <p:nvPr/>
          </p:nvSpPr>
          <p:spPr>
            <a:xfrm>
              <a:off x="7022592" y="3486030"/>
              <a:ext cx="228600" cy="425742"/>
            </a:xfrm>
            <a:prstGeom prst="rect">
              <a:avLst/>
            </a:prstGeom>
            <a:grp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5B598145-77C2-0B4F-B7B2-DF32449A6ACB}"/>
              </a:ext>
            </a:extLst>
          </p:cNvPr>
          <p:cNvGrpSpPr/>
          <p:nvPr/>
        </p:nvGrpSpPr>
        <p:grpSpPr>
          <a:xfrm>
            <a:off x="633186" y="3090454"/>
            <a:ext cx="2338143" cy="2033821"/>
            <a:chOff x="2541232" y="3302638"/>
            <a:chExt cx="2338143" cy="2033821"/>
          </a:xfrm>
          <a:solidFill>
            <a:srgbClr val="E7992F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FE0ACB6-13D0-BD46-99AC-42C5AD799967}"/>
                </a:ext>
              </a:extLst>
            </p:cNvPr>
            <p:cNvSpPr/>
            <p:nvPr/>
          </p:nvSpPr>
          <p:spPr>
            <a:xfrm>
              <a:off x="2798064" y="5111497"/>
              <a:ext cx="950975" cy="224962"/>
            </a:xfrm>
            <a:prstGeom prst="rect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A3066CD-A820-0549-A169-1295B7FB25E0}"/>
                </a:ext>
              </a:extLst>
            </p:cNvPr>
            <p:cNvSpPr/>
            <p:nvPr/>
          </p:nvSpPr>
          <p:spPr>
            <a:xfrm rot="13787616">
              <a:off x="2620561" y="4467163"/>
              <a:ext cx="902046" cy="364472"/>
            </a:xfrm>
            <a:prstGeom prst="rect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DDF62B4-F929-7940-91DF-45C4739885B0}"/>
                </a:ext>
              </a:extLst>
            </p:cNvPr>
            <p:cNvSpPr/>
            <p:nvPr/>
          </p:nvSpPr>
          <p:spPr>
            <a:xfrm rot="19750510">
              <a:off x="2638674" y="3671163"/>
              <a:ext cx="1358573" cy="364472"/>
            </a:xfrm>
            <a:prstGeom prst="rect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EB26E58-1F63-4746-991C-F360E1BE12BD}"/>
                </a:ext>
              </a:extLst>
            </p:cNvPr>
            <p:cNvSpPr/>
            <p:nvPr/>
          </p:nvSpPr>
          <p:spPr>
            <a:xfrm rot="1109954">
              <a:off x="3896159" y="3446931"/>
              <a:ext cx="677727" cy="364472"/>
            </a:xfrm>
            <a:prstGeom prst="rect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530A69AE-1A18-F84B-A65F-9A6C6C5F2757}"/>
                </a:ext>
              </a:extLst>
            </p:cNvPr>
            <p:cNvSpPr/>
            <p:nvPr/>
          </p:nvSpPr>
          <p:spPr>
            <a:xfrm>
              <a:off x="2541232" y="3939204"/>
              <a:ext cx="530352" cy="530352"/>
            </a:xfrm>
            <a:prstGeom prst="ellipse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A4F43755-53EC-FB48-89C2-212DEE9CDF6E}"/>
                </a:ext>
              </a:extLst>
            </p:cNvPr>
            <p:cNvSpPr/>
            <p:nvPr/>
          </p:nvSpPr>
          <p:spPr>
            <a:xfrm>
              <a:off x="3006711" y="4735288"/>
              <a:ext cx="530352" cy="530352"/>
            </a:xfrm>
            <a:prstGeom prst="ellipse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949840F9-D9E3-C141-924C-BDC1D6E80D00}"/>
                </a:ext>
              </a:extLst>
            </p:cNvPr>
            <p:cNvSpPr/>
            <p:nvPr/>
          </p:nvSpPr>
          <p:spPr>
            <a:xfrm>
              <a:off x="3608392" y="3302638"/>
              <a:ext cx="530352" cy="530352"/>
            </a:xfrm>
            <a:prstGeom prst="ellipse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F04DCE65-2A17-FF4C-BC7A-83C34DA093AD}"/>
                </a:ext>
              </a:extLst>
            </p:cNvPr>
            <p:cNvSpPr/>
            <p:nvPr/>
          </p:nvSpPr>
          <p:spPr>
            <a:xfrm>
              <a:off x="4349023" y="3445775"/>
              <a:ext cx="530352" cy="530352"/>
            </a:xfrm>
            <a:prstGeom prst="ellipse">
              <a:avLst/>
            </a:prstGeom>
            <a:grpFill/>
            <a:ln>
              <a:solidFill>
                <a:srgbClr val="AB6E32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2C6E9AD-41A8-CE4D-B217-4BA97A9378D3}"/>
              </a:ext>
            </a:extLst>
          </p:cNvPr>
          <p:cNvSpPr/>
          <p:nvPr/>
        </p:nvSpPr>
        <p:spPr>
          <a:xfrm>
            <a:off x="756843" y="5137046"/>
            <a:ext cx="1229471" cy="32817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à coins arrondis 37">
            <a:extLst>
              <a:ext uri="{FF2B5EF4-FFF2-40B4-BE49-F238E27FC236}">
                <a16:creationId xmlns:a16="http://schemas.microsoft.com/office/drawing/2014/main" id="{19EFC910-4AA8-C94A-9650-004DAE5343D2}"/>
              </a:ext>
            </a:extLst>
          </p:cNvPr>
          <p:cNvSpPr/>
          <p:nvPr/>
        </p:nvSpPr>
        <p:spPr>
          <a:xfrm>
            <a:off x="309911" y="2424263"/>
            <a:ext cx="3841574" cy="474444"/>
          </a:xfrm>
          <a:prstGeom prst="roundRect">
            <a:avLst>
              <a:gd name="adj" fmla="val 8292"/>
            </a:avLst>
          </a:prstGeom>
          <a:solidFill>
            <a:schemeClr val="accent2">
              <a:lumMod val="25000"/>
              <a:lumOff val="75000"/>
            </a:schemeClr>
          </a:solidFill>
          <a:ln>
            <a:solidFill>
              <a:schemeClr val="accent2">
                <a:lumMod val="90000"/>
                <a:lumOff val="1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90000" bIns="90000" rtlCol="0" anchor="t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Hardware control (moteurs, capteurs…)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14C8F1-584D-6A47-B6AD-C6634280DD02}"/>
              </a:ext>
            </a:extLst>
          </p:cNvPr>
          <p:cNvSpPr/>
          <p:nvPr/>
        </p:nvSpPr>
        <p:spPr>
          <a:xfrm>
            <a:off x="3413827" y="5927319"/>
            <a:ext cx="1158173" cy="34523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>
            <a:extLst>
              <a:ext uri="{FF2B5EF4-FFF2-40B4-BE49-F238E27FC236}">
                <a16:creationId xmlns:a16="http://schemas.microsoft.com/office/drawing/2014/main" id="{109AF74F-B8CF-AA42-AB7A-D4EEA5AB122B}"/>
              </a:ext>
            </a:extLst>
          </p:cNvPr>
          <p:cNvSpPr/>
          <p:nvPr/>
        </p:nvSpPr>
        <p:spPr>
          <a:xfrm flipV="1">
            <a:off x="1098665" y="5465217"/>
            <a:ext cx="2315162" cy="786610"/>
          </a:xfrm>
          <a:custGeom>
            <a:avLst/>
            <a:gdLst>
              <a:gd name="connsiteX0" fmla="*/ 1689519 w 1689519"/>
              <a:gd name="connsiteY0" fmla="*/ 0 h 2706624"/>
              <a:gd name="connsiteX1" fmla="*/ 1058583 w 1689519"/>
              <a:gd name="connsiteY1" fmla="*/ 164592 h 2706624"/>
              <a:gd name="connsiteX2" fmla="*/ 1049439 w 1689519"/>
              <a:gd name="connsiteY2" fmla="*/ 868680 h 2706624"/>
              <a:gd name="connsiteX3" fmla="*/ 509943 w 1689519"/>
              <a:gd name="connsiteY3" fmla="*/ 1106424 h 2706624"/>
              <a:gd name="connsiteX4" fmla="*/ 500799 w 1689519"/>
              <a:gd name="connsiteY4" fmla="*/ 1810512 h 2706624"/>
              <a:gd name="connsiteX5" fmla="*/ 16167 w 1689519"/>
              <a:gd name="connsiteY5" fmla="*/ 2011680 h 2706624"/>
              <a:gd name="connsiteX6" fmla="*/ 162471 w 1689519"/>
              <a:gd name="connsiteY6" fmla="*/ 2706624 h 27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9519" h="2706624">
                <a:moveTo>
                  <a:pt x="1689519" y="0"/>
                </a:moveTo>
                <a:cubicBezTo>
                  <a:pt x="1427391" y="9906"/>
                  <a:pt x="1165263" y="19812"/>
                  <a:pt x="1058583" y="164592"/>
                </a:cubicBezTo>
                <a:cubicBezTo>
                  <a:pt x="951903" y="309372"/>
                  <a:pt x="1140879" y="711708"/>
                  <a:pt x="1049439" y="868680"/>
                </a:cubicBezTo>
                <a:cubicBezTo>
                  <a:pt x="957999" y="1025652"/>
                  <a:pt x="601383" y="949452"/>
                  <a:pt x="509943" y="1106424"/>
                </a:cubicBezTo>
                <a:cubicBezTo>
                  <a:pt x="418503" y="1263396"/>
                  <a:pt x="583095" y="1659636"/>
                  <a:pt x="500799" y="1810512"/>
                </a:cubicBezTo>
                <a:cubicBezTo>
                  <a:pt x="418503" y="1961388"/>
                  <a:pt x="72555" y="1862328"/>
                  <a:pt x="16167" y="2011680"/>
                </a:cubicBezTo>
                <a:cubicBezTo>
                  <a:pt x="-40221" y="2161032"/>
                  <a:pt x="61125" y="2433828"/>
                  <a:pt x="162471" y="2706624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3B5C9E5-B78F-2D40-A74A-542AE71618BA}"/>
              </a:ext>
            </a:extLst>
          </p:cNvPr>
          <p:cNvSpPr/>
          <p:nvPr/>
        </p:nvSpPr>
        <p:spPr>
          <a:xfrm>
            <a:off x="3702253" y="6012084"/>
            <a:ext cx="59504" cy="595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98A471E-2E95-C546-96AA-EFE5D0C663D0}"/>
              </a:ext>
            </a:extLst>
          </p:cNvPr>
          <p:cNvSpPr/>
          <p:nvPr/>
        </p:nvSpPr>
        <p:spPr>
          <a:xfrm>
            <a:off x="3838297" y="6021228"/>
            <a:ext cx="59504" cy="5950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463E2AD-1D5B-A749-BF07-511040ACE7AC}"/>
              </a:ext>
            </a:extLst>
          </p:cNvPr>
          <p:cNvCxnSpPr>
            <a:cxnSpLocks/>
          </p:cNvCxnSpPr>
          <p:nvPr/>
        </p:nvCxnSpPr>
        <p:spPr>
          <a:xfrm>
            <a:off x="4307305" y="2045368"/>
            <a:ext cx="0" cy="448504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à coins arrondis 46">
            <a:extLst>
              <a:ext uri="{FF2B5EF4-FFF2-40B4-BE49-F238E27FC236}">
                <a16:creationId xmlns:a16="http://schemas.microsoft.com/office/drawing/2014/main" id="{29E1BB07-6704-474F-9033-D1217B9DC097}"/>
              </a:ext>
            </a:extLst>
          </p:cNvPr>
          <p:cNvSpPr/>
          <p:nvPr/>
        </p:nvSpPr>
        <p:spPr>
          <a:xfrm>
            <a:off x="3750381" y="3894273"/>
            <a:ext cx="1122526" cy="718560"/>
          </a:xfrm>
          <a:prstGeom prst="roundRect">
            <a:avLst>
              <a:gd name="adj" fmla="val 8292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t"/>
          <a:lstStyle/>
          <a:p>
            <a:pPr algn="ctr"/>
            <a:r>
              <a:rPr lang="fr-FR" dirty="0" err="1">
                <a:solidFill>
                  <a:sysClr val="windowText" lastClr="000000"/>
                </a:solidFill>
              </a:rPr>
              <a:t>Ethercat</a:t>
            </a:r>
            <a:endParaRPr lang="fr-FR" dirty="0">
              <a:solidFill>
                <a:sysClr val="windowText" lastClr="000000"/>
              </a:solidFill>
            </a:endParaRP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Interface</a:t>
            </a:r>
          </a:p>
        </p:txBody>
      </p:sp>
      <p:sp>
        <p:nvSpPr>
          <p:cNvPr id="49" name="Rectangle à coins arrondis 48">
            <a:extLst>
              <a:ext uri="{FF2B5EF4-FFF2-40B4-BE49-F238E27FC236}">
                <a16:creationId xmlns:a16="http://schemas.microsoft.com/office/drawing/2014/main" id="{0944367E-E1F8-B346-B2D9-B8CA8207407F}"/>
              </a:ext>
            </a:extLst>
          </p:cNvPr>
          <p:cNvSpPr/>
          <p:nvPr/>
        </p:nvSpPr>
        <p:spPr>
          <a:xfrm>
            <a:off x="6436895" y="3620806"/>
            <a:ext cx="1419726" cy="1278507"/>
          </a:xfrm>
          <a:prstGeom prst="roundRect">
            <a:avLst/>
          </a:prstGeom>
          <a:solidFill>
            <a:schemeClr val="bg2"/>
          </a:solidFill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rapèze 49">
            <a:extLst>
              <a:ext uri="{FF2B5EF4-FFF2-40B4-BE49-F238E27FC236}">
                <a16:creationId xmlns:a16="http://schemas.microsoft.com/office/drawing/2014/main" id="{12497842-412E-0141-A47F-BA9E4DA64559}"/>
              </a:ext>
            </a:extLst>
          </p:cNvPr>
          <p:cNvSpPr/>
          <p:nvPr/>
        </p:nvSpPr>
        <p:spPr>
          <a:xfrm>
            <a:off x="6858000" y="4947265"/>
            <a:ext cx="601579" cy="371333"/>
          </a:xfrm>
          <a:prstGeom prst="trapezoi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rapèze 50">
            <a:extLst>
              <a:ext uri="{FF2B5EF4-FFF2-40B4-BE49-F238E27FC236}">
                <a16:creationId xmlns:a16="http://schemas.microsoft.com/office/drawing/2014/main" id="{44854E56-DD53-0F4B-BC38-EC3D3059D8EB}"/>
              </a:ext>
            </a:extLst>
          </p:cNvPr>
          <p:cNvSpPr/>
          <p:nvPr/>
        </p:nvSpPr>
        <p:spPr>
          <a:xfrm>
            <a:off x="6426485" y="5366550"/>
            <a:ext cx="1435201" cy="423305"/>
          </a:xfrm>
          <a:prstGeom prst="trapezoi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90E7A496-9026-A54A-82F7-B9279D0F43DF}"/>
              </a:ext>
            </a:extLst>
          </p:cNvPr>
          <p:cNvCxnSpPr>
            <a:cxnSpLocks/>
          </p:cNvCxnSpPr>
          <p:nvPr/>
        </p:nvCxnSpPr>
        <p:spPr>
          <a:xfrm>
            <a:off x="6509561" y="5465217"/>
            <a:ext cx="1272909" cy="1042"/>
          </a:xfrm>
          <a:prstGeom prst="line">
            <a:avLst/>
          </a:prstGeom>
          <a:ln>
            <a:solidFill>
              <a:srgbClr val="0B2B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CA63C41-8F7E-E044-A24E-37494F174E18}"/>
              </a:ext>
            </a:extLst>
          </p:cNvPr>
          <p:cNvCxnSpPr>
            <a:cxnSpLocks/>
          </p:cNvCxnSpPr>
          <p:nvPr/>
        </p:nvCxnSpPr>
        <p:spPr>
          <a:xfrm flipV="1">
            <a:off x="6492777" y="5538767"/>
            <a:ext cx="1309834" cy="2314"/>
          </a:xfrm>
          <a:prstGeom prst="line">
            <a:avLst/>
          </a:prstGeom>
          <a:ln>
            <a:solidFill>
              <a:srgbClr val="0B2B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F9C27994-BB9D-5F45-8A15-4EA0D38E4AAD}"/>
              </a:ext>
            </a:extLst>
          </p:cNvPr>
          <p:cNvCxnSpPr>
            <a:cxnSpLocks/>
          </p:cNvCxnSpPr>
          <p:nvPr/>
        </p:nvCxnSpPr>
        <p:spPr>
          <a:xfrm>
            <a:off x="6476664" y="5617618"/>
            <a:ext cx="1342060" cy="1712"/>
          </a:xfrm>
          <a:prstGeom prst="line">
            <a:avLst/>
          </a:prstGeom>
          <a:ln>
            <a:solidFill>
              <a:srgbClr val="0B2B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C9BC5A15-370C-F246-989E-396588E7A643}"/>
              </a:ext>
            </a:extLst>
          </p:cNvPr>
          <p:cNvCxnSpPr>
            <a:cxnSpLocks/>
          </p:cNvCxnSpPr>
          <p:nvPr/>
        </p:nvCxnSpPr>
        <p:spPr>
          <a:xfrm>
            <a:off x="6452149" y="5698281"/>
            <a:ext cx="1390744" cy="1613"/>
          </a:xfrm>
          <a:prstGeom prst="line">
            <a:avLst/>
          </a:prstGeom>
          <a:ln>
            <a:solidFill>
              <a:srgbClr val="0B2B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orme libre 66">
            <a:extLst>
              <a:ext uri="{FF2B5EF4-FFF2-40B4-BE49-F238E27FC236}">
                <a16:creationId xmlns:a16="http://schemas.microsoft.com/office/drawing/2014/main" id="{2500E259-CA34-0C4B-847C-2041E65DEBDF}"/>
              </a:ext>
            </a:extLst>
          </p:cNvPr>
          <p:cNvSpPr/>
          <p:nvPr/>
        </p:nvSpPr>
        <p:spPr>
          <a:xfrm flipH="1" flipV="1">
            <a:off x="4584120" y="5803826"/>
            <a:ext cx="3608904" cy="432805"/>
          </a:xfrm>
          <a:custGeom>
            <a:avLst/>
            <a:gdLst>
              <a:gd name="connsiteX0" fmla="*/ 1689519 w 1689519"/>
              <a:gd name="connsiteY0" fmla="*/ 0 h 2706624"/>
              <a:gd name="connsiteX1" fmla="*/ 1058583 w 1689519"/>
              <a:gd name="connsiteY1" fmla="*/ 164592 h 2706624"/>
              <a:gd name="connsiteX2" fmla="*/ 1049439 w 1689519"/>
              <a:gd name="connsiteY2" fmla="*/ 868680 h 2706624"/>
              <a:gd name="connsiteX3" fmla="*/ 509943 w 1689519"/>
              <a:gd name="connsiteY3" fmla="*/ 1106424 h 2706624"/>
              <a:gd name="connsiteX4" fmla="*/ 500799 w 1689519"/>
              <a:gd name="connsiteY4" fmla="*/ 1810512 h 2706624"/>
              <a:gd name="connsiteX5" fmla="*/ 16167 w 1689519"/>
              <a:gd name="connsiteY5" fmla="*/ 2011680 h 2706624"/>
              <a:gd name="connsiteX6" fmla="*/ 162471 w 1689519"/>
              <a:gd name="connsiteY6" fmla="*/ 2706624 h 27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9519" h="2706624">
                <a:moveTo>
                  <a:pt x="1689519" y="0"/>
                </a:moveTo>
                <a:cubicBezTo>
                  <a:pt x="1427391" y="9906"/>
                  <a:pt x="1165263" y="19812"/>
                  <a:pt x="1058583" y="164592"/>
                </a:cubicBezTo>
                <a:cubicBezTo>
                  <a:pt x="951903" y="309372"/>
                  <a:pt x="1140879" y="711708"/>
                  <a:pt x="1049439" y="868680"/>
                </a:cubicBezTo>
                <a:cubicBezTo>
                  <a:pt x="957999" y="1025652"/>
                  <a:pt x="601383" y="949452"/>
                  <a:pt x="509943" y="1106424"/>
                </a:cubicBezTo>
                <a:cubicBezTo>
                  <a:pt x="418503" y="1263396"/>
                  <a:pt x="583095" y="1659636"/>
                  <a:pt x="500799" y="1810512"/>
                </a:cubicBezTo>
                <a:cubicBezTo>
                  <a:pt x="418503" y="1961388"/>
                  <a:pt x="72555" y="1862328"/>
                  <a:pt x="16167" y="2011680"/>
                </a:cubicBezTo>
                <a:cubicBezTo>
                  <a:pt x="-40221" y="2161032"/>
                  <a:pt x="61125" y="2433828"/>
                  <a:pt x="162471" y="2706624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à coins arrondis 67">
            <a:extLst>
              <a:ext uri="{FF2B5EF4-FFF2-40B4-BE49-F238E27FC236}">
                <a16:creationId xmlns:a16="http://schemas.microsoft.com/office/drawing/2014/main" id="{4830FF57-421D-364B-9574-5A977AE13049}"/>
              </a:ext>
            </a:extLst>
          </p:cNvPr>
          <p:cNvSpPr/>
          <p:nvPr/>
        </p:nvSpPr>
        <p:spPr>
          <a:xfrm>
            <a:off x="4777477" y="2424263"/>
            <a:ext cx="1910377" cy="474444"/>
          </a:xfrm>
          <a:prstGeom prst="roundRect">
            <a:avLst>
              <a:gd name="adj" fmla="val 8292"/>
            </a:avLst>
          </a:prstGeom>
          <a:solidFill>
            <a:schemeClr val="accent2">
              <a:lumMod val="25000"/>
              <a:lumOff val="75000"/>
            </a:schemeClr>
          </a:solidFill>
          <a:ln>
            <a:solidFill>
              <a:schemeClr val="accent2">
                <a:lumMod val="90000"/>
                <a:lumOff val="1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90000" bIns="90000" rtlCol="0" anchor="t"/>
          <a:lstStyle/>
          <a:p>
            <a:pPr algn="ctr"/>
            <a:r>
              <a:rPr lang="fr-FR" dirty="0" err="1">
                <a:solidFill>
                  <a:sysClr val="windowText" lastClr="000000"/>
                </a:solidFill>
              </a:rPr>
              <a:t>YouBot</a:t>
            </a:r>
            <a:r>
              <a:rPr lang="fr-FR" dirty="0">
                <a:solidFill>
                  <a:sysClr val="windowText" lastClr="000000"/>
                </a:solidFill>
              </a:rPr>
              <a:t> API (C++)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8C32D15F-CC0D-C04B-A4A6-2927B0525A7F}"/>
              </a:ext>
            </a:extLst>
          </p:cNvPr>
          <p:cNvCxnSpPr>
            <a:cxnSpLocks/>
          </p:cNvCxnSpPr>
          <p:nvPr/>
        </p:nvCxnSpPr>
        <p:spPr>
          <a:xfrm>
            <a:off x="7152105" y="2045368"/>
            <a:ext cx="0" cy="448504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à coins arrondis 69">
            <a:extLst>
              <a:ext uri="{FF2B5EF4-FFF2-40B4-BE49-F238E27FC236}">
                <a16:creationId xmlns:a16="http://schemas.microsoft.com/office/drawing/2014/main" id="{FC5EFE13-5D56-C245-B794-53E46C94FD0E}"/>
              </a:ext>
            </a:extLst>
          </p:cNvPr>
          <p:cNvSpPr/>
          <p:nvPr/>
        </p:nvSpPr>
        <p:spPr>
          <a:xfrm>
            <a:off x="7547566" y="2424263"/>
            <a:ext cx="2449339" cy="729306"/>
          </a:xfrm>
          <a:prstGeom prst="roundRect">
            <a:avLst>
              <a:gd name="adj" fmla="val 8292"/>
            </a:avLst>
          </a:prstGeom>
          <a:solidFill>
            <a:schemeClr val="accent2">
              <a:lumMod val="25000"/>
              <a:lumOff val="75000"/>
            </a:schemeClr>
          </a:solidFill>
          <a:ln>
            <a:solidFill>
              <a:schemeClr val="accent2">
                <a:lumMod val="90000"/>
                <a:lumOff val="1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90000" bIns="90000" rtlCol="0" anchor="t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ROS </a:t>
            </a:r>
            <a:r>
              <a:rPr lang="fr-FR" dirty="0" err="1">
                <a:solidFill>
                  <a:sysClr val="windowText" lastClr="000000"/>
                </a:solidFill>
              </a:rPr>
              <a:t>nodes</a:t>
            </a:r>
            <a:r>
              <a:rPr lang="fr-FR" dirty="0">
                <a:solidFill>
                  <a:sysClr val="windowText" lastClr="000000"/>
                </a:solidFill>
              </a:rPr>
              <a:t> (simulation, transparence…)</a:t>
            </a:r>
          </a:p>
        </p:txBody>
      </p:sp>
      <p:sp>
        <p:nvSpPr>
          <p:cNvPr id="71" name="Rectangle à coins arrondis 70">
            <a:extLst>
              <a:ext uri="{FF2B5EF4-FFF2-40B4-BE49-F238E27FC236}">
                <a16:creationId xmlns:a16="http://schemas.microsoft.com/office/drawing/2014/main" id="{5BC4F41F-0061-964B-9AD3-9D9921C983C6}"/>
              </a:ext>
            </a:extLst>
          </p:cNvPr>
          <p:cNvSpPr/>
          <p:nvPr/>
        </p:nvSpPr>
        <p:spPr>
          <a:xfrm>
            <a:off x="6589349" y="3881541"/>
            <a:ext cx="1122526" cy="718560"/>
          </a:xfrm>
          <a:prstGeom prst="roundRect">
            <a:avLst>
              <a:gd name="adj" fmla="val 8292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t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ROS interface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AEFE7A3-A3E4-D14E-9D44-3E0FF891773C}"/>
              </a:ext>
            </a:extLst>
          </p:cNvPr>
          <p:cNvSpPr txBox="1"/>
          <p:nvPr/>
        </p:nvSpPr>
        <p:spPr>
          <a:xfrm>
            <a:off x="1310803" y="3975115"/>
            <a:ext cx="1705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 axes actionnés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67D63A7F-321F-6043-9A99-24F4F0D03312}"/>
              </a:ext>
            </a:extLst>
          </p:cNvPr>
          <p:cNvSpPr txBox="1"/>
          <p:nvPr/>
        </p:nvSpPr>
        <p:spPr>
          <a:xfrm>
            <a:off x="8695078" y="4305872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kHz</a:t>
            </a:r>
          </a:p>
        </p:txBody>
      </p:sp>
      <p:sp>
        <p:nvSpPr>
          <p:cNvPr id="76" name="Flèche en arc 75">
            <a:extLst>
              <a:ext uri="{FF2B5EF4-FFF2-40B4-BE49-F238E27FC236}">
                <a16:creationId xmlns:a16="http://schemas.microsoft.com/office/drawing/2014/main" id="{C46D0242-10F7-824B-8280-9553DC8A4582}"/>
              </a:ext>
            </a:extLst>
          </p:cNvPr>
          <p:cNvSpPr/>
          <p:nvPr/>
        </p:nvSpPr>
        <p:spPr>
          <a:xfrm>
            <a:off x="8556577" y="3881541"/>
            <a:ext cx="978408" cy="97840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7" name="Flèche en arc 76">
            <a:extLst>
              <a:ext uri="{FF2B5EF4-FFF2-40B4-BE49-F238E27FC236}">
                <a16:creationId xmlns:a16="http://schemas.microsoft.com/office/drawing/2014/main" id="{0EEDA836-15E6-2642-9E7C-0B0E48BCD08A}"/>
              </a:ext>
            </a:extLst>
          </p:cNvPr>
          <p:cNvSpPr/>
          <p:nvPr/>
        </p:nvSpPr>
        <p:spPr>
          <a:xfrm rot="10800000">
            <a:off x="8556577" y="4097454"/>
            <a:ext cx="978408" cy="97840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2A8B3F0-2233-C847-8549-DF241B620090}"/>
              </a:ext>
            </a:extLst>
          </p:cNvPr>
          <p:cNvSpPr txBox="1"/>
          <p:nvPr/>
        </p:nvSpPr>
        <p:spPr>
          <a:xfrm>
            <a:off x="3548406" y="6295606"/>
            <a:ext cx="88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routeur</a:t>
            </a:r>
          </a:p>
        </p:txBody>
      </p:sp>
      <p:sp>
        <p:nvSpPr>
          <p:cNvPr id="52" name="Forme libre 51"/>
          <p:cNvSpPr/>
          <p:nvPr/>
        </p:nvSpPr>
        <p:spPr>
          <a:xfrm>
            <a:off x="0" y="-14416"/>
            <a:ext cx="6740525" cy="558800"/>
          </a:xfrm>
          <a:custGeom>
            <a:avLst/>
            <a:gdLst>
              <a:gd name="connsiteX0" fmla="*/ 0 w 6740525"/>
              <a:gd name="connsiteY0" fmla="*/ 0 h 762000"/>
              <a:gd name="connsiteX1" fmla="*/ 6346825 w 6740525"/>
              <a:gd name="connsiteY1" fmla="*/ 0 h 762000"/>
              <a:gd name="connsiteX2" fmla="*/ 6740525 w 6740525"/>
              <a:gd name="connsiteY2" fmla="*/ 762000 h 762000"/>
              <a:gd name="connsiteX3" fmla="*/ 6346825 w 6740525"/>
              <a:gd name="connsiteY3" fmla="*/ 762000 h 762000"/>
              <a:gd name="connsiteX4" fmla="*/ 5953125 w 6740525"/>
              <a:gd name="connsiteY4" fmla="*/ 762000 h 762000"/>
              <a:gd name="connsiteX5" fmla="*/ 0 w 6740525"/>
              <a:gd name="connsiteY5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0525" h="762000">
                <a:moveTo>
                  <a:pt x="0" y="0"/>
                </a:moveTo>
                <a:lnTo>
                  <a:pt x="6346825" y="0"/>
                </a:lnTo>
                <a:lnTo>
                  <a:pt x="6740525" y="762000"/>
                </a:lnTo>
                <a:lnTo>
                  <a:pt x="6346825" y="762000"/>
                </a:lnTo>
                <a:lnTo>
                  <a:pt x="5953125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83000">
                <a:schemeClr val="accent4">
                  <a:alpha val="55000"/>
                </a:schemeClr>
              </a:gs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 smtClean="0">
                <a:latin typeface="Century Gothic" panose="020B0502020202020204" pitchFamily="34" charset="0"/>
              </a:rPr>
              <a:t>CADRE EXPERIMENTAL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grpSp>
        <p:nvGrpSpPr>
          <p:cNvPr id="54" name="Groupe 53"/>
          <p:cNvGrpSpPr/>
          <p:nvPr/>
        </p:nvGrpSpPr>
        <p:grpSpPr>
          <a:xfrm>
            <a:off x="6705922" y="95238"/>
            <a:ext cx="4794250" cy="342900"/>
            <a:chOff x="6762750" y="2227299"/>
            <a:chExt cx="4794250" cy="342900"/>
          </a:xfrm>
        </p:grpSpPr>
        <p:grpSp>
          <p:nvGrpSpPr>
            <p:cNvPr id="55" name="Groupe 54"/>
            <p:cNvGrpSpPr/>
            <p:nvPr/>
          </p:nvGrpSpPr>
          <p:grpSpPr>
            <a:xfrm>
              <a:off x="6762750" y="2273337"/>
              <a:ext cx="4794250" cy="260351"/>
              <a:chOff x="755650" y="1900714"/>
              <a:chExt cx="4794250" cy="260351"/>
            </a:xfrm>
          </p:grpSpPr>
          <p:grpSp>
            <p:nvGrpSpPr>
              <p:cNvPr id="57" name="Groupe 56"/>
              <p:cNvGrpSpPr/>
              <p:nvPr/>
            </p:nvGrpSpPr>
            <p:grpSpPr>
              <a:xfrm>
                <a:off x="1260475" y="1900715"/>
                <a:ext cx="4289425" cy="260350"/>
                <a:chOff x="1254125" y="2712560"/>
                <a:chExt cx="4289425" cy="260350"/>
              </a:xfrm>
            </p:grpSpPr>
            <p:sp>
              <p:nvSpPr>
                <p:cNvPr id="63" name="Ellipse 62"/>
                <p:cNvSpPr/>
                <p:nvPr/>
              </p:nvSpPr>
              <p:spPr>
                <a:xfrm>
                  <a:off x="12541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64" name="Ellipse 63"/>
                <p:cNvSpPr/>
                <p:nvPr/>
              </p:nvSpPr>
              <p:spPr>
                <a:xfrm>
                  <a:off x="17589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65" name="Ellipse 64"/>
                <p:cNvSpPr/>
                <p:nvPr/>
              </p:nvSpPr>
              <p:spPr>
                <a:xfrm>
                  <a:off x="22637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66" name="Ellipse 65"/>
                <p:cNvSpPr/>
                <p:nvPr/>
              </p:nvSpPr>
              <p:spPr>
                <a:xfrm>
                  <a:off x="27686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327342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377825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79" name="Ellipse 78"/>
                <p:cNvSpPr/>
                <p:nvPr/>
              </p:nvSpPr>
              <p:spPr>
                <a:xfrm>
                  <a:off x="4283075" y="2712560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0" name="Ellipse 79"/>
                <p:cNvSpPr/>
                <p:nvPr/>
              </p:nvSpPr>
              <p:spPr>
                <a:xfrm>
                  <a:off x="4787900" y="2722085"/>
                  <a:ext cx="250825" cy="250825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1" name="Ellipse 80"/>
                <p:cNvSpPr/>
                <p:nvPr/>
              </p:nvSpPr>
              <p:spPr>
                <a:xfrm>
                  <a:off x="5292725" y="2712560"/>
                  <a:ext cx="250825" cy="2508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59" name="Ellipse 58"/>
              <p:cNvSpPr/>
              <p:nvPr/>
            </p:nvSpPr>
            <p:spPr>
              <a:xfrm>
                <a:off x="755650" y="1900714"/>
                <a:ext cx="250825" cy="25082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56" name="Ellipse 55"/>
            <p:cNvSpPr/>
            <p:nvPr/>
          </p:nvSpPr>
          <p:spPr>
            <a:xfrm>
              <a:off x="10296525" y="2227299"/>
              <a:ext cx="342900" cy="3429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dirty="0" smtClean="0"/>
                <a:t>8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978242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0955" r="5896"/>
          <a:stretch/>
        </p:blipFill>
        <p:spPr>
          <a:xfrm>
            <a:off x="8125416" y="0"/>
            <a:ext cx="4066584" cy="6858000"/>
          </a:xfrm>
        </p:spPr>
      </p:pic>
      <p:grpSp>
        <p:nvGrpSpPr>
          <p:cNvPr id="138" name="Groupe 137" descr="élément décoratif">
            <a:extLst>
              <a:ext uri="{FF2B5EF4-FFF2-40B4-BE49-F238E27FC236}">
                <a16:creationId xmlns:a16="http://schemas.microsoft.com/office/drawing/2014/main" id="{9EEDF825-8B7D-4A4A-97BF-E00C2F4D77D1}"/>
              </a:ext>
            </a:extLst>
          </p:cNvPr>
          <p:cNvGrpSpPr/>
          <p:nvPr/>
        </p:nvGrpSpPr>
        <p:grpSpPr>
          <a:xfrm>
            <a:off x="2595847" y="0"/>
            <a:ext cx="9207132" cy="6858000"/>
            <a:chOff x="1826589" y="0"/>
            <a:chExt cx="7388298" cy="6858000"/>
          </a:xfrm>
        </p:grpSpPr>
        <p:sp>
          <p:nvSpPr>
            <p:cNvPr id="139" name="Parallélogramme 9">
              <a:extLst>
                <a:ext uri="{FF2B5EF4-FFF2-40B4-BE49-F238E27FC236}">
                  <a16:creationId xmlns:a16="http://schemas.microsoft.com/office/drawing/2014/main" id="{4F5C5DAF-3611-6340-AE18-EA7B96E03B8E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40" name="Parallélogramme 8">
              <a:extLst>
                <a:ext uri="{FF2B5EF4-FFF2-40B4-BE49-F238E27FC236}">
                  <a16:creationId xmlns:a16="http://schemas.microsoft.com/office/drawing/2014/main" id="{CABC9660-2F99-1946-811D-83B6D2B88D09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41" name="Parallélogramme 21">
              <a:extLst>
                <a:ext uri="{FF2B5EF4-FFF2-40B4-BE49-F238E27FC236}">
                  <a16:creationId xmlns:a16="http://schemas.microsoft.com/office/drawing/2014/main" id="{615D21C0-FB29-7449-A4F1-95856C6DC398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14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8790214" cy="830997"/>
          </a:xfrm>
        </p:spPr>
        <p:txBody>
          <a:bodyPr rtlCol="0"/>
          <a:lstStyle/>
          <a:p>
            <a:r>
              <a:rPr lang="fr-FR" dirty="0"/>
              <a:t>Commande de robot pour une interaction collaborative</a:t>
            </a:r>
          </a:p>
        </p:txBody>
      </p:sp>
      <p:sp>
        <p:nvSpPr>
          <p:cNvPr id="20" name="Rectangle à coins arrondis 19">
            <a:extLst>
              <a:ext uri="{FF2B5EF4-FFF2-40B4-BE49-F238E27FC236}">
                <a16:creationId xmlns:a16="http://schemas.microsoft.com/office/drawing/2014/main" id="{2553C628-E97B-3D46-BC8A-A6B560C56CCD}"/>
              </a:ext>
            </a:extLst>
          </p:cNvPr>
          <p:cNvSpPr/>
          <p:nvPr/>
        </p:nvSpPr>
        <p:spPr>
          <a:xfrm>
            <a:off x="975597" y="3095841"/>
            <a:ext cx="1276933" cy="58429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tx1"/>
                </a:solidFill>
                <a:latin typeface="Arial"/>
                <a:cs typeface="Arial"/>
              </a:rPr>
              <a:t>Impedance</a:t>
            </a:r>
            <a:r>
              <a:rPr lang="fr-FR" sz="1600" dirty="0">
                <a:solidFill>
                  <a:schemeClr val="tx1"/>
                </a:solidFill>
                <a:latin typeface="Arial"/>
                <a:cs typeface="Arial"/>
              </a:rPr>
              <a:t> command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9E22CEB-0E14-0C48-9AA7-6BC7DBA958DC}"/>
              </a:ext>
            </a:extLst>
          </p:cNvPr>
          <p:cNvCxnSpPr>
            <a:cxnSpLocks/>
            <a:stCxn id="25" idx="0"/>
            <a:endCxn id="110" idx="4"/>
          </p:cNvCxnSpPr>
          <p:nvPr/>
        </p:nvCxnSpPr>
        <p:spPr>
          <a:xfrm flipH="1" flipV="1">
            <a:off x="614270" y="3526492"/>
            <a:ext cx="8406" cy="760535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à coins arrondis 24">
            <a:extLst>
              <a:ext uri="{FF2B5EF4-FFF2-40B4-BE49-F238E27FC236}">
                <a16:creationId xmlns:a16="http://schemas.microsoft.com/office/drawing/2014/main" id="{F1A4412C-1691-3C42-91A3-1EE38BEB1750}"/>
              </a:ext>
            </a:extLst>
          </p:cNvPr>
          <p:cNvSpPr/>
          <p:nvPr/>
        </p:nvSpPr>
        <p:spPr>
          <a:xfrm>
            <a:off x="367613" y="4287027"/>
            <a:ext cx="510125" cy="510125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pple Chancery"/>
                <a:cs typeface="Apple Chancery"/>
              </a:rPr>
              <a:t>J</a:t>
            </a:r>
            <a:r>
              <a:rPr lang="fr-FR" sz="1600" baseline="30000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</a:p>
        </p:txBody>
      </p:sp>
      <p:cxnSp>
        <p:nvCxnSpPr>
          <p:cNvPr id="26" name="Connecteur en angle 25">
            <a:extLst>
              <a:ext uri="{FF2B5EF4-FFF2-40B4-BE49-F238E27FC236}">
                <a16:creationId xmlns:a16="http://schemas.microsoft.com/office/drawing/2014/main" id="{9167FF29-6DCB-5E4F-A4B4-F57F512EF447}"/>
              </a:ext>
            </a:extLst>
          </p:cNvPr>
          <p:cNvCxnSpPr>
            <a:cxnSpLocks/>
            <a:stCxn id="27" idx="1"/>
            <a:endCxn id="25" idx="2"/>
          </p:cNvCxnSpPr>
          <p:nvPr/>
        </p:nvCxnSpPr>
        <p:spPr>
          <a:xfrm rot="10800000">
            <a:off x="622677" y="4797152"/>
            <a:ext cx="8342645" cy="432710"/>
          </a:xfrm>
          <a:prstGeom prst="bentConnector2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à coins arrondis 26">
            <a:extLst>
              <a:ext uri="{FF2B5EF4-FFF2-40B4-BE49-F238E27FC236}">
                <a16:creationId xmlns:a16="http://schemas.microsoft.com/office/drawing/2014/main" id="{35AF9081-5812-5F4F-913B-A906324F17AD}"/>
              </a:ext>
            </a:extLst>
          </p:cNvPr>
          <p:cNvSpPr/>
          <p:nvPr/>
        </p:nvSpPr>
        <p:spPr>
          <a:xfrm>
            <a:off x="8965321" y="5011423"/>
            <a:ext cx="1131923" cy="43687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800" dirty="0">
                <a:solidFill>
                  <a:schemeClr val="tx1"/>
                </a:solidFill>
                <a:latin typeface="Calibri"/>
                <a:cs typeface="Calibri"/>
              </a:rPr>
              <a:t>F/</a:t>
            </a:r>
            <a:r>
              <a:rPr lang="fr-FR" sz="1800" dirty="0" err="1">
                <a:solidFill>
                  <a:schemeClr val="tx1"/>
                </a:solidFill>
                <a:latin typeface="Calibri"/>
                <a:cs typeface="Calibri"/>
              </a:rPr>
              <a:t>T</a:t>
            </a:r>
            <a:r>
              <a:rPr lang="fr-FR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fr-FR" sz="1800" dirty="0" err="1">
                <a:solidFill>
                  <a:schemeClr val="tx1"/>
                </a:solidFill>
                <a:latin typeface="Calibri"/>
                <a:cs typeface="Calibri"/>
              </a:rPr>
              <a:t>sensor</a:t>
            </a:r>
            <a:endParaRPr lang="fr-FR" sz="1200" baseline="30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8" name="Flèche à angle droit 27">
            <a:extLst>
              <a:ext uri="{FF2B5EF4-FFF2-40B4-BE49-F238E27FC236}">
                <a16:creationId xmlns:a16="http://schemas.microsoft.com/office/drawing/2014/main" id="{1B64B87C-8A2A-DA4F-AFD7-4852B3A3D495}"/>
              </a:ext>
            </a:extLst>
          </p:cNvPr>
          <p:cNvSpPr/>
          <p:nvPr/>
        </p:nvSpPr>
        <p:spPr>
          <a:xfrm rot="10800000" flipH="1">
            <a:off x="5521407" y="1706508"/>
            <a:ext cx="701422" cy="1530376"/>
          </a:xfrm>
          <a:prstGeom prst="bentUpArrow">
            <a:avLst>
              <a:gd name="adj1" fmla="val 7210"/>
              <a:gd name="adj2" fmla="val 11054"/>
              <a:gd name="adj3" fmla="val 24661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à coins arrondis 28">
            <a:extLst>
              <a:ext uri="{FF2B5EF4-FFF2-40B4-BE49-F238E27FC236}">
                <a16:creationId xmlns:a16="http://schemas.microsoft.com/office/drawing/2014/main" id="{3A097771-0EFA-BB41-904A-6BBE9BE1A4E5}"/>
              </a:ext>
            </a:extLst>
          </p:cNvPr>
          <p:cNvSpPr/>
          <p:nvPr/>
        </p:nvSpPr>
        <p:spPr>
          <a:xfrm>
            <a:off x="4446247" y="1495005"/>
            <a:ext cx="1068409" cy="4718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fr-FR" sz="1200" dirty="0"/>
              <a:t>perturbations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à coins arrondis 31">
                <a:extLst>
                  <a:ext uri="{FF2B5EF4-FFF2-40B4-BE49-F238E27FC236}">
                    <a16:creationId xmlns:a16="http://schemas.microsoft.com/office/drawing/2014/main" id="{311CBBA2-CC0E-3C4B-BF02-4AED1290C917}"/>
                  </a:ext>
                </a:extLst>
              </p:cNvPr>
              <p:cNvSpPr/>
              <p:nvPr/>
            </p:nvSpPr>
            <p:spPr>
              <a:xfrm>
                <a:off x="5120261" y="5011423"/>
                <a:ext cx="1131923" cy="436878"/>
              </a:xfrm>
              <a:prstGeom prst="roundRect">
                <a:avLst/>
              </a:prstGeom>
              <a:solidFill>
                <a:schemeClr val="accent2">
                  <a:lumMod val="25000"/>
                  <a:lumOff val="75000"/>
                </a:schemeClr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𝑡𝑓</m:t>
                      </m:r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(</m:t>
                      </m:r>
                      <m:sSub>
                        <m:sSubPr>
                          <m:ctrlPr>
                            <a:rPr lang="fr-F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𝜃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𝑖</m:t>
                          </m:r>
                        </m:sub>
                      </m:sSub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Rectangle à coins arrondis 31">
                <a:extLst>
                  <a:ext uri="{FF2B5EF4-FFF2-40B4-BE49-F238E27FC236}">
                    <a16:creationId xmlns:a16="http://schemas.microsoft.com/office/drawing/2014/main" id="{311CBBA2-CC0E-3C4B-BF02-4AED1290C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61" y="5011423"/>
                <a:ext cx="1131923" cy="43687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à coins arrondis 32">
            <a:extLst>
              <a:ext uri="{FF2B5EF4-FFF2-40B4-BE49-F238E27FC236}">
                <a16:creationId xmlns:a16="http://schemas.microsoft.com/office/drawing/2014/main" id="{F18D2679-63A7-F448-AEE9-09A8746A6AD7}"/>
              </a:ext>
            </a:extLst>
          </p:cNvPr>
          <p:cNvSpPr/>
          <p:nvPr/>
        </p:nvSpPr>
        <p:spPr>
          <a:xfrm>
            <a:off x="2866271" y="3197600"/>
            <a:ext cx="771591" cy="38259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tx1"/>
                </a:solidFill>
                <a:latin typeface="Arial"/>
                <a:cs typeface="Arial"/>
              </a:rPr>
              <a:t>Ramp</a:t>
            </a:r>
            <a:endParaRPr lang="fr-FR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F79DB3D-4131-8D42-BF3F-8515BDD54177}"/>
              </a:ext>
            </a:extLst>
          </p:cNvPr>
          <p:cNvCxnSpPr>
            <a:cxnSpLocks/>
            <a:stCxn id="20" idx="3"/>
            <a:endCxn id="33" idx="1"/>
          </p:cNvCxnSpPr>
          <p:nvPr/>
        </p:nvCxnSpPr>
        <p:spPr>
          <a:xfrm>
            <a:off x="2252530" y="3387990"/>
            <a:ext cx="613741" cy="907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BD3906F8-68CC-934B-8B11-AE6A74822020}"/>
                  </a:ext>
                </a:extLst>
              </p:cNvPr>
              <p:cNvSpPr txBox="1"/>
              <p:nvPr/>
            </p:nvSpPr>
            <p:spPr>
              <a:xfrm>
                <a:off x="2233229" y="2993851"/>
                <a:ext cx="647357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BD3906F8-68CC-934B-8B11-AE6A74822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229" y="2993851"/>
                <a:ext cx="647357" cy="391582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à coins arrondis 39">
            <a:extLst>
              <a:ext uri="{FF2B5EF4-FFF2-40B4-BE49-F238E27FC236}">
                <a16:creationId xmlns:a16="http://schemas.microsoft.com/office/drawing/2014/main" id="{DF545571-D3DD-854D-A6AC-C9D40BCE65B1}"/>
              </a:ext>
            </a:extLst>
          </p:cNvPr>
          <p:cNvSpPr/>
          <p:nvPr/>
        </p:nvSpPr>
        <p:spPr>
          <a:xfrm>
            <a:off x="4446247" y="3101677"/>
            <a:ext cx="973089" cy="5784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tx1"/>
                </a:solidFill>
                <a:latin typeface="Arial"/>
                <a:cs typeface="Arial"/>
              </a:rPr>
              <a:t>Velocity</a:t>
            </a:r>
            <a:r>
              <a:rPr lang="fr-FR" sz="1600" dirty="0">
                <a:solidFill>
                  <a:schemeClr val="tx1"/>
                </a:solidFill>
                <a:latin typeface="Arial"/>
                <a:cs typeface="Arial"/>
              </a:rPr>
              <a:t> PI 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161D1E05-4061-0E46-AD8E-FD9C0C99316A}"/>
              </a:ext>
            </a:extLst>
          </p:cNvPr>
          <p:cNvCxnSpPr>
            <a:cxnSpLocks/>
            <a:stCxn id="33" idx="3"/>
            <a:endCxn id="62" idx="2"/>
          </p:cNvCxnSpPr>
          <p:nvPr/>
        </p:nvCxnSpPr>
        <p:spPr>
          <a:xfrm>
            <a:off x="3637862" y="3388897"/>
            <a:ext cx="235182" cy="0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064B8721-F0ED-F14D-8CD3-57B036B10DB7}"/>
              </a:ext>
            </a:extLst>
          </p:cNvPr>
          <p:cNvCxnSpPr>
            <a:cxnSpLocks/>
            <a:stCxn id="40" idx="3"/>
            <a:endCxn id="76" idx="2"/>
          </p:cNvCxnSpPr>
          <p:nvPr/>
        </p:nvCxnSpPr>
        <p:spPr>
          <a:xfrm>
            <a:off x="5419336" y="3390908"/>
            <a:ext cx="591123" cy="1006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8899CC8C-04A4-FD41-BE25-C8154400549C}"/>
                  </a:ext>
                </a:extLst>
              </p:cNvPr>
              <p:cNvSpPr txBox="1"/>
              <p:nvPr/>
            </p:nvSpPr>
            <p:spPr>
              <a:xfrm>
                <a:off x="5415534" y="2989111"/>
                <a:ext cx="607474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8899CC8C-04A4-FD41-BE25-C81544005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534" y="2989111"/>
                <a:ext cx="607474" cy="391582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à coins arrondis 58">
            <a:extLst>
              <a:ext uri="{FF2B5EF4-FFF2-40B4-BE49-F238E27FC236}">
                <a16:creationId xmlns:a16="http://schemas.microsoft.com/office/drawing/2014/main" id="{87438720-F7FC-754A-A0BF-C44BA9FD2DDB}"/>
              </a:ext>
            </a:extLst>
          </p:cNvPr>
          <p:cNvSpPr/>
          <p:nvPr/>
        </p:nvSpPr>
        <p:spPr>
          <a:xfrm>
            <a:off x="6567102" y="3106351"/>
            <a:ext cx="973089" cy="5784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tx1"/>
                </a:solidFill>
                <a:latin typeface="Arial"/>
                <a:cs typeface="Arial"/>
              </a:rPr>
              <a:t>Current</a:t>
            </a:r>
            <a:r>
              <a:rPr lang="fr-FR" sz="1600" dirty="0">
                <a:solidFill>
                  <a:schemeClr val="tx1"/>
                </a:solidFill>
                <a:latin typeface="Arial"/>
                <a:cs typeface="Arial"/>
              </a:rPr>
              <a:t> PI </a:t>
            </a:r>
          </a:p>
        </p:txBody>
      </p: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666A183E-76CD-8944-AF6C-A70F69E14E70}"/>
              </a:ext>
            </a:extLst>
          </p:cNvPr>
          <p:cNvGrpSpPr/>
          <p:nvPr/>
        </p:nvGrpSpPr>
        <p:grpSpPr>
          <a:xfrm>
            <a:off x="3873044" y="3247477"/>
            <a:ext cx="282840" cy="282840"/>
            <a:chOff x="3873044" y="3247477"/>
            <a:chExt cx="282840" cy="28284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07A88DAF-7D5F-3346-A12C-7F227A1187D2}"/>
                </a:ext>
              </a:extLst>
            </p:cNvPr>
            <p:cNvSpPr/>
            <p:nvPr/>
          </p:nvSpPr>
          <p:spPr>
            <a:xfrm>
              <a:off x="3873044" y="3247477"/>
              <a:ext cx="282840" cy="282840"/>
            </a:xfrm>
            <a:prstGeom prst="ellips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9A0E2B39-B11B-AF4C-9AD7-725FE3B46804}"/>
                </a:ext>
              </a:extLst>
            </p:cNvPr>
            <p:cNvCxnSpPr>
              <a:stCxn id="62" idx="1"/>
              <a:endCxn id="62" idx="5"/>
            </p:cNvCxnSpPr>
            <p:nvPr/>
          </p:nvCxnSpPr>
          <p:spPr>
            <a:xfrm>
              <a:off x="3914465" y="3288898"/>
              <a:ext cx="199998" cy="19999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4DFC181F-B445-5349-85A4-24E27D303E14}"/>
                </a:ext>
              </a:extLst>
            </p:cNvPr>
            <p:cNvCxnSpPr>
              <a:cxnSpLocks/>
              <a:stCxn id="62" idx="7"/>
              <a:endCxn id="62" idx="3"/>
            </p:cNvCxnSpPr>
            <p:nvPr/>
          </p:nvCxnSpPr>
          <p:spPr>
            <a:xfrm flipH="1">
              <a:off x="3914465" y="3288898"/>
              <a:ext cx="199998" cy="19999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D75131A7-77F9-DD43-BC73-DEE7F87384CE}"/>
              </a:ext>
            </a:extLst>
          </p:cNvPr>
          <p:cNvCxnSpPr>
            <a:cxnSpLocks/>
            <a:stCxn id="62" idx="6"/>
            <a:endCxn id="40" idx="1"/>
          </p:cNvCxnSpPr>
          <p:nvPr/>
        </p:nvCxnSpPr>
        <p:spPr>
          <a:xfrm>
            <a:off x="4155884" y="3388897"/>
            <a:ext cx="290363" cy="2011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306803D5-9119-4348-9C58-D5DDB96F760F}"/>
              </a:ext>
            </a:extLst>
          </p:cNvPr>
          <p:cNvGrpSpPr/>
          <p:nvPr/>
        </p:nvGrpSpPr>
        <p:grpSpPr>
          <a:xfrm>
            <a:off x="6010459" y="3250494"/>
            <a:ext cx="282840" cy="282840"/>
            <a:chOff x="3873044" y="3247477"/>
            <a:chExt cx="282840" cy="282840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52BB7D87-9196-D349-9A6A-CEF82B8BEE82}"/>
                </a:ext>
              </a:extLst>
            </p:cNvPr>
            <p:cNvSpPr/>
            <p:nvPr/>
          </p:nvSpPr>
          <p:spPr>
            <a:xfrm>
              <a:off x="3873044" y="3247477"/>
              <a:ext cx="282840" cy="282840"/>
            </a:xfrm>
            <a:prstGeom prst="ellips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8C68629F-5301-1C44-82C7-CD1C5EB532D6}"/>
                </a:ext>
              </a:extLst>
            </p:cNvPr>
            <p:cNvCxnSpPr>
              <a:stCxn id="76" idx="1"/>
              <a:endCxn id="76" idx="5"/>
            </p:cNvCxnSpPr>
            <p:nvPr/>
          </p:nvCxnSpPr>
          <p:spPr>
            <a:xfrm>
              <a:off x="3914465" y="3288898"/>
              <a:ext cx="199998" cy="19999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77">
              <a:extLst>
                <a:ext uri="{FF2B5EF4-FFF2-40B4-BE49-F238E27FC236}">
                  <a16:creationId xmlns:a16="http://schemas.microsoft.com/office/drawing/2014/main" id="{A033AF95-68BF-E44A-A0D2-372A7A7352E4}"/>
                </a:ext>
              </a:extLst>
            </p:cNvPr>
            <p:cNvCxnSpPr>
              <a:cxnSpLocks/>
              <a:stCxn id="76" idx="7"/>
              <a:endCxn id="76" idx="3"/>
            </p:cNvCxnSpPr>
            <p:nvPr/>
          </p:nvCxnSpPr>
          <p:spPr>
            <a:xfrm flipH="1">
              <a:off x="3914465" y="3288898"/>
              <a:ext cx="199998" cy="19999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28FE2E7-A24E-9548-8527-00252107DDCA}"/>
              </a:ext>
            </a:extLst>
          </p:cNvPr>
          <p:cNvCxnSpPr>
            <a:cxnSpLocks/>
            <a:stCxn id="76" idx="6"/>
            <a:endCxn id="59" idx="1"/>
          </p:cNvCxnSpPr>
          <p:nvPr/>
        </p:nvCxnSpPr>
        <p:spPr>
          <a:xfrm>
            <a:off x="6293299" y="3391914"/>
            <a:ext cx="273803" cy="3668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à coins arrondis 83">
            <a:extLst>
              <a:ext uri="{FF2B5EF4-FFF2-40B4-BE49-F238E27FC236}">
                <a16:creationId xmlns:a16="http://schemas.microsoft.com/office/drawing/2014/main" id="{E082E7A7-6E8C-624F-9773-CF62F75FCFCC}"/>
              </a:ext>
            </a:extLst>
          </p:cNvPr>
          <p:cNvSpPr/>
          <p:nvPr/>
        </p:nvSpPr>
        <p:spPr>
          <a:xfrm>
            <a:off x="8965323" y="4467410"/>
            <a:ext cx="1131923" cy="43687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alibri"/>
                <a:cs typeface="Calibri"/>
              </a:rPr>
              <a:t>E</a:t>
            </a:r>
            <a:r>
              <a:rPr lang="fr-FR" sz="1800" dirty="0">
                <a:solidFill>
                  <a:schemeClr val="tx1"/>
                </a:solidFill>
                <a:latin typeface="Calibri"/>
                <a:cs typeface="Calibri"/>
              </a:rPr>
              <a:t>ncoder</a:t>
            </a:r>
            <a:endParaRPr lang="fr-FR" sz="1200" baseline="30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5" name="Rectangle à coins arrondis 84">
            <a:extLst>
              <a:ext uri="{FF2B5EF4-FFF2-40B4-BE49-F238E27FC236}">
                <a16:creationId xmlns:a16="http://schemas.microsoft.com/office/drawing/2014/main" id="{4B92B1B3-393E-8A4C-9AC9-AC87866AA176}"/>
              </a:ext>
            </a:extLst>
          </p:cNvPr>
          <p:cNvSpPr/>
          <p:nvPr/>
        </p:nvSpPr>
        <p:spPr>
          <a:xfrm>
            <a:off x="8965323" y="3930220"/>
            <a:ext cx="1131923" cy="43687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800" dirty="0">
                <a:solidFill>
                  <a:schemeClr val="tx1"/>
                </a:solidFill>
                <a:latin typeface="Calibri"/>
                <a:cs typeface="Calibri"/>
              </a:rPr>
              <a:t>Hall </a:t>
            </a:r>
            <a:r>
              <a:rPr lang="fr-FR" sz="1800" dirty="0" err="1">
                <a:solidFill>
                  <a:schemeClr val="tx1"/>
                </a:solidFill>
                <a:latin typeface="Calibri"/>
                <a:cs typeface="Calibri"/>
              </a:rPr>
              <a:t>sensor</a:t>
            </a:r>
            <a:endParaRPr lang="fr-FR" sz="1200" baseline="30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86" name="Connecteur en angle 85">
            <a:extLst>
              <a:ext uri="{FF2B5EF4-FFF2-40B4-BE49-F238E27FC236}">
                <a16:creationId xmlns:a16="http://schemas.microsoft.com/office/drawing/2014/main" id="{050889A6-4AC2-EB43-AD01-4CC6EFA6BAFA}"/>
              </a:ext>
            </a:extLst>
          </p:cNvPr>
          <p:cNvCxnSpPr>
            <a:cxnSpLocks/>
            <a:stCxn id="84" idx="1"/>
            <a:endCxn id="62" idx="4"/>
          </p:cNvCxnSpPr>
          <p:nvPr/>
        </p:nvCxnSpPr>
        <p:spPr>
          <a:xfrm rot="10800000">
            <a:off x="4014465" y="3530317"/>
            <a:ext cx="4950859" cy="1155532"/>
          </a:xfrm>
          <a:prstGeom prst="bentConnector2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en angle 88">
            <a:extLst>
              <a:ext uri="{FF2B5EF4-FFF2-40B4-BE49-F238E27FC236}">
                <a16:creationId xmlns:a16="http://schemas.microsoft.com/office/drawing/2014/main" id="{3A34DCA1-2DEB-0D46-989F-3A96472E6CF6}"/>
              </a:ext>
            </a:extLst>
          </p:cNvPr>
          <p:cNvCxnSpPr>
            <a:cxnSpLocks/>
            <a:stCxn id="85" idx="1"/>
            <a:endCxn id="76" idx="4"/>
          </p:cNvCxnSpPr>
          <p:nvPr/>
        </p:nvCxnSpPr>
        <p:spPr>
          <a:xfrm rot="10800000">
            <a:off x="6151879" y="3533335"/>
            <a:ext cx="2813444" cy="615325"/>
          </a:xfrm>
          <a:prstGeom prst="bentConnector2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42BCF73A-2682-BD41-9F2A-D0BCF920B5D6}"/>
              </a:ext>
            </a:extLst>
          </p:cNvPr>
          <p:cNvGrpSpPr/>
          <p:nvPr/>
        </p:nvGrpSpPr>
        <p:grpSpPr>
          <a:xfrm>
            <a:off x="472850" y="3243652"/>
            <a:ext cx="282840" cy="282840"/>
            <a:chOff x="3873044" y="3247477"/>
            <a:chExt cx="282840" cy="282840"/>
          </a:xfrm>
        </p:grpSpPr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0B2B02BB-6DEC-3742-B8C6-ECA77FFE30FF}"/>
                </a:ext>
              </a:extLst>
            </p:cNvPr>
            <p:cNvSpPr/>
            <p:nvPr/>
          </p:nvSpPr>
          <p:spPr>
            <a:xfrm>
              <a:off x="3873044" y="3247477"/>
              <a:ext cx="282840" cy="282840"/>
            </a:xfrm>
            <a:prstGeom prst="ellips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CA5CF506-B2DD-4444-8112-7F9F70A5EBF1}"/>
                </a:ext>
              </a:extLst>
            </p:cNvPr>
            <p:cNvCxnSpPr>
              <a:stCxn id="110" idx="1"/>
              <a:endCxn id="110" idx="5"/>
            </p:cNvCxnSpPr>
            <p:nvPr/>
          </p:nvCxnSpPr>
          <p:spPr>
            <a:xfrm>
              <a:off x="3914465" y="3288898"/>
              <a:ext cx="199998" cy="19999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18856715-5DDF-E241-BE37-1975B0751597}"/>
                </a:ext>
              </a:extLst>
            </p:cNvPr>
            <p:cNvCxnSpPr>
              <a:cxnSpLocks/>
              <a:stCxn id="110" idx="7"/>
              <a:endCxn id="110" idx="3"/>
            </p:cNvCxnSpPr>
            <p:nvPr/>
          </p:nvCxnSpPr>
          <p:spPr>
            <a:xfrm flipH="1">
              <a:off x="3914465" y="3288898"/>
              <a:ext cx="199998" cy="19999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40B85D81-965F-4149-8605-B5489FFAEDBD}"/>
              </a:ext>
            </a:extLst>
          </p:cNvPr>
          <p:cNvCxnSpPr>
            <a:cxnSpLocks/>
            <a:stCxn id="110" idx="6"/>
            <a:endCxn id="20" idx="1"/>
          </p:cNvCxnSpPr>
          <p:nvPr/>
        </p:nvCxnSpPr>
        <p:spPr>
          <a:xfrm>
            <a:off x="755690" y="3385072"/>
            <a:ext cx="219907" cy="2918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à coins arrondis 118">
            <a:extLst>
              <a:ext uri="{FF2B5EF4-FFF2-40B4-BE49-F238E27FC236}">
                <a16:creationId xmlns:a16="http://schemas.microsoft.com/office/drawing/2014/main" id="{1DE45E4A-641C-A14E-A510-F343BC08A3A8}"/>
              </a:ext>
            </a:extLst>
          </p:cNvPr>
          <p:cNvSpPr/>
          <p:nvPr/>
        </p:nvSpPr>
        <p:spPr>
          <a:xfrm>
            <a:off x="7803221" y="3103303"/>
            <a:ext cx="815262" cy="5784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  <a:latin typeface="Arial"/>
                <a:cs typeface="Arial"/>
              </a:rPr>
              <a:t>PWM</a:t>
            </a:r>
          </a:p>
        </p:txBody>
      </p: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813C619D-739A-FD45-BD46-AAAEE86BA941}"/>
              </a:ext>
            </a:extLst>
          </p:cNvPr>
          <p:cNvCxnSpPr>
            <a:cxnSpLocks/>
            <a:stCxn id="59" idx="3"/>
            <a:endCxn id="119" idx="1"/>
          </p:cNvCxnSpPr>
          <p:nvPr/>
        </p:nvCxnSpPr>
        <p:spPr>
          <a:xfrm flipV="1">
            <a:off x="7540191" y="3392534"/>
            <a:ext cx="263030" cy="3048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à coins arrondis 125">
            <a:extLst>
              <a:ext uri="{FF2B5EF4-FFF2-40B4-BE49-F238E27FC236}">
                <a16:creationId xmlns:a16="http://schemas.microsoft.com/office/drawing/2014/main" id="{DB5A5A16-0F97-D948-8A7B-12E08D507FA4}"/>
              </a:ext>
            </a:extLst>
          </p:cNvPr>
          <p:cNvSpPr/>
          <p:nvPr/>
        </p:nvSpPr>
        <p:spPr>
          <a:xfrm>
            <a:off x="8992929" y="3178278"/>
            <a:ext cx="1131923" cy="43687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800" dirty="0" err="1">
                <a:solidFill>
                  <a:schemeClr val="tx1"/>
                </a:solidFill>
                <a:latin typeface="Calibri"/>
                <a:cs typeface="Calibri"/>
              </a:rPr>
              <a:t>Motor</a:t>
            </a:r>
            <a:endParaRPr lang="fr-FR" sz="1200" baseline="30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40FBEDC4-179A-9F4B-BC74-302E403CA2D9}"/>
              </a:ext>
            </a:extLst>
          </p:cNvPr>
          <p:cNvCxnSpPr>
            <a:cxnSpLocks/>
            <a:stCxn id="119" idx="3"/>
            <a:endCxn id="126" idx="1"/>
          </p:cNvCxnSpPr>
          <p:nvPr/>
        </p:nvCxnSpPr>
        <p:spPr>
          <a:xfrm>
            <a:off x="8618483" y="3392534"/>
            <a:ext cx="374446" cy="4183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Moins 130">
            <a:extLst>
              <a:ext uri="{FF2B5EF4-FFF2-40B4-BE49-F238E27FC236}">
                <a16:creationId xmlns:a16="http://schemas.microsoft.com/office/drawing/2014/main" id="{27FD544D-623C-7A46-B4B2-DE776CD47E52}"/>
              </a:ext>
            </a:extLst>
          </p:cNvPr>
          <p:cNvSpPr/>
          <p:nvPr/>
        </p:nvSpPr>
        <p:spPr>
          <a:xfrm>
            <a:off x="4114463" y="3400772"/>
            <a:ext cx="163868" cy="388299"/>
          </a:xfrm>
          <a:prstGeom prst="mathMinus">
            <a:avLst>
              <a:gd name="adj1" fmla="val 97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Moins 131">
            <a:extLst>
              <a:ext uri="{FF2B5EF4-FFF2-40B4-BE49-F238E27FC236}">
                <a16:creationId xmlns:a16="http://schemas.microsoft.com/office/drawing/2014/main" id="{0DEEDDDE-A8FD-FE4A-A703-4F66B7779704}"/>
              </a:ext>
            </a:extLst>
          </p:cNvPr>
          <p:cNvSpPr/>
          <p:nvPr/>
        </p:nvSpPr>
        <p:spPr>
          <a:xfrm>
            <a:off x="6272376" y="3417560"/>
            <a:ext cx="163868" cy="388299"/>
          </a:xfrm>
          <a:prstGeom prst="mathMinus">
            <a:avLst>
              <a:gd name="adj1" fmla="val 97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B718F0EF-1D2C-C94F-AF60-1CFC05358278}"/>
              </a:ext>
            </a:extLst>
          </p:cNvPr>
          <p:cNvCxnSpPr>
            <a:cxnSpLocks/>
            <a:endCxn id="110" idx="0"/>
          </p:cNvCxnSpPr>
          <p:nvPr/>
        </p:nvCxnSpPr>
        <p:spPr>
          <a:xfrm>
            <a:off x="599633" y="2556938"/>
            <a:ext cx="14637" cy="686714"/>
          </a:xfrm>
          <a:prstGeom prst="straightConnector1">
            <a:avLst/>
          </a:prstGeom>
          <a:ln w="19050" cmpd="sng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à coins arrondis 141">
            <a:extLst>
              <a:ext uri="{FF2B5EF4-FFF2-40B4-BE49-F238E27FC236}">
                <a16:creationId xmlns:a16="http://schemas.microsoft.com/office/drawing/2014/main" id="{670D43DE-E027-FC4C-8DE7-12B803BE1724}"/>
              </a:ext>
            </a:extLst>
          </p:cNvPr>
          <p:cNvSpPr/>
          <p:nvPr/>
        </p:nvSpPr>
        <p:spPr>
          <a:xfrm>
            <a:off x="1164009" y="5811458"/>
            <a:ext cx="761760" cy="4186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Arial"/>
                <a:cs typeface="Arial"/>
              </a:rPr>
              <a:t>YouBot</a:t>
            </a:r>
            <a:r>
              <a:rPr lang="fr-FR" sz="1100" dirty="0">
                <a:solidFill>
                  <a:schemeClr val="tx1"/>
                </a:solidFill>
                <a:latin typeface="Arial"/>
                <a:cs typeface="Arial"/>
              </a:rPr>
              <a:t> API</a:t>
            </a:r>
          </a:p>
        </p:txBody>
      </p:sp>
      <p:sp>
        <p:nvSpPr>
          <p:cNvPr id="144" name="Rectangle à coins arrondis 143">
            <a:extLst>
              <a:ext uri="{FF2B5EF4-FFF2-40B4-BE49-F238E27FC236}">
                <a16:creationId xmlns:a16="http://schemas.microsoft.com/office/drawing/2014/main" id="{9A0D9614-E223-EE45-870B-1A2514DAA8B3}"/>
              </a:ext>
            </a:extLst>
          </p:cNvPr>
          <p:cNvSpPr/>
          <p:nvPr/>
        </p:nvSpPr>
        <p:spPr>
          <a:xfrm>
            <a:off x="142255" y="5818497"/>
            <a:ext cx="761760" cy="411565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Calibri"/>
                <a:cs typeface="Calibri"/>
              </a:rPr>
              <a:t>ROS</a:t>
            </a:r>
            <a:endParaRPr lang="fr-FR" sz="1200" baseline="30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58D20FBA-A465-1D4D-A508-3DB227230F5E}"/>
                  </a:ext>
                </a:extLst>
              </p:cNvPr>
              <p:cNvSpPr txBox="1"/>
              <p:nvPr/>
            </p:nvSpPr>
            <p:spPr>
              <a:xfrm>
                <a:off x="571342" y="3813375"/>
                <a:ext cx="4179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58D20FBA-A465-1D4D-A508-3DB227230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42" y="3813375"/>
                <a:ext cx="4179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8773EC12-E0C2-4740-A407-FCBD341FA340}"/>
                  </a:ext>
                </a:extLst>
              </p:cNvPr>
              <p:cNvSpPr txBox="1"/>
              <p:nvPr/>
            </p:nvSpPr>
            <p:spPr>
              <a:xfrm>
                <a:off x="2671586" y="4807431"/>
                <a:ext cx="822533" cy="3979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8773EC12-E0C2-4740-A407-FCBD341FA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586" y="4807431"/>
                <a:ext cx="822533" cy="397929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0458F75B-3A0A-CE4B-A9BD-8BBED4566E8D}"/>
                  </a:ext>
                </a:extLst>
              </p:cNvPr>
              <p:cNvSpPr txBox="1"/>
              <p:nvPr/>
            </p:nvSpPr>
            <p:spPr>
              <a:xfrm>
                <a:off x="7124815" y="4798045"/>
                <a:ext cx="976101" cy="3979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𝑠𝑒𝑛𝑠𝑜𝑟</m:t>
                              </m:r>
                            </m:sub>
                          </m:sSub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0458F75B-3A0A-CE4B-A9BD-8BBED4566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815" y="4798045"/>
                <a:ext cx="976101" cy="397929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97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3C2A7DCB-B005-424A-8446-ACA533D0BC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0955" r="5896"/>
          <a:stretch/>
        </p:blipFill>
        <p:spPr>
          <a:xfrm>
            <a:off x="8125416" y="0"/>
            <a:ext cx="4066584" cy="6858000"/>
          </a:xfrm>
        </p:spPr>
      </p:pic>
      <p:grpSp>
        <p:nvGrpSpPr>
          <p:cNvPr id="11" name="Groupe 10" descr="élément décoratif">
            <a:extLst>
              <a:ext uri="{FF2B5EF4-FFF2-40B4-BE49-F238E27FC236}">
                <a16:creationId xmlns:a16="http://schemas.microsoft.com/office/drawing/2014/main" id="{AB025618-C830-4992-9CD3-D9E49BC79E67}"/>
              </a:ext>
            </a:extLst>
          </p:cNvPr>
          <p:cNvGrpSpPr/>
          <p:nvPr/>
        </p:nvGrpSpPr>
        <p:grpSpPr>
          <a:xfrm>
            <a:off x="2595847" y="0"/>
            <a:ext cx="9207132" cy="6858000"/>
            <a:chOff x="1826589" y="0"/>
            <a:chExt cx="7388298" cy="6858000"/>
          </a:xfrm>
        </p:grpSpPr>
        <p:sp>
          <p:nvSpPr>
            <p:cNvPr id="10" name="Parallélogramme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9" name="Parallélogramme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22" name="Parallélogramme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11457662-C1A5-4B93-8E30-88025E27C462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15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C3930A4E-1302-4AC9-86A3-C4E8AF186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Maecenas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congue</a:t>
            </a:r>
            <a:r>
              <a:rPr lang="fr-FR" dirty="0"/>
              <a:t> massa. </a:t>
            </a:r>
            <a:r>
              <a:rPr lang="fr-FR" dirty="0" err="1"/>
              <a:t>Fusce</a:t>
            </a:r>
            <a:r>
              <a:rPr lang="fr-FR" dirty="0"/>
              <a:t> </a:t>
            </a:r>
            <a:r>
              <a:rPr lang="fr-FR" dirty="0" err="1"/>
              <a:t>posuere</a:t>
            </a:r>
            <a:r>
              <a:rPr lang="fr-FR" dirty="0"/>
              <a:t>, magna </a:t>
            </a:r>
            <a:r>
              <a:rPr lang="fr-FR" dirty="0" err="1"/>
              <a:t>sed</a:t>
            </a:r>
            <a:r>
              <a:rPr lang="fr-FR" dirty="0"/>
              <a:t> </a:t>
            </a:r>
            <a:r>
              <a:rPr lang="fr-FR" dirty="0" err="1"/>
              <a:t>pulvinar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, </a:t>
            </a:r>
            <a:r>
              <a:rPr lang="fr-FR" dirty="0" err="1"/>
              <a:t>purus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malesuada</a:t>
            </a:r>
            <a:r>
              <a:rPr lang="fr-FR" dirty="0"/>
              <a:t> libero,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magna </a:t>
            </a:r>
            <a:r>
              <a:rPr lang="fr-FR" dirty="0" err="1"/>
              <a:t>eros</a:t>
            </a:r>
            <a:r>
              <a:rPr lang="fr-FR" dirty="0"/>
              <a:t>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.</a:t>
            </a:r>
          </a:p>
          <a:p>
            <a:pPr rtl="0"/>
            <a:r>
              <a:rPr lang="fr-FR" dirty="0"/>
              <a:t>Nunc </a:t>
            </a:r>
            <a:r>
              <a:rPr lang="fr-FR" dirty="0" err="1"/>
              <a:t>viverra</a:t>
            </a:r>
            <a:r>
              <a:rPr lang="fr-FR" dirty="0"/>
              <a:t> </a:t>
            </a:r>
            <a:r>
              <a:rPr lang="fr-FR" dirty="0" err="1"/>
              <a:t>imperdiet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. </a:t>
            </a:r>
            <a:r>
              <a:rPr lang="fr-FR" dirty="0" err="1"/>
              <a:t>Fusce</a:t>
            </a:r>
            <a:r>
              <a:rPr lang="fr-FR" dirty="0"/>
              <a:t> est. </a:t>
            </a:r>
            <a:r>
              <a:rPr lang="fr-FR" dirty="0" err="1"/>
              <a:t>Vivamus</a:t>
            </a:r>
            <a:r>
              <a:rPr lang="fr-FR" dirty="0"/>
              <a:t> a </a:t>
            </a:r>
            <a:r>
              <a:rPr lang="fr-FR" dirty="0" err="1"/>
              <a:t>tellus</a:t>
            </a:r>
            <a:r>
              <a:rPr lang="fr-FR" dirty="0"/>
              <a:t>.</a:t>
            </a:r>
          </a:p>
          <a:p>
            <a:pPr rtl="0"/>
            <a:r>
              <a:rPr lang="fr-FR" dirty="0" err="1"/>
              <a:t>Pellentesque</a:t>
            </a:r>
            <a:r>
              <a:rPr lang="fr-FR" dirty="0"/>
              <a:t> habitant </a:t>
            </a:r>
            <a:r>
              <a:rPr lang="fr-FR" dirty="0" err="1"/>
              <a:t>morbi</a:t>
            </a:r>
            <a:r>
              <a:rPr lang="fr-FR" dirty="0"/>
              <a:t> tristique </a:t>
            </a:r>
            <a:r>
              <a:rPr lang="fr-FR" dirty="0" err="1"/>
              <a:t>senectus</a:t>
            </a:r>
            <a:r>
              <a:rPr lang="fr-FR" dirty="0"/>
              <a:t> et </a:t>
            </a:r>
            <a:r>
              <a:rPr lang="fr-FR" dirty="0" err="1"/>
              <a:t>netus</a:t>
            </a:r>
            <a:r>
              <a:rPr lang="fr-FR" dirty="0"/>
              <a:t> et </a:t>
            </a:r>
            <a:r>
              <a:rPr lang="fr-FR" dirty="0" err="1"/>
              <a:t>malesuada</a:t>
            </a:r>
            <a:r>
              <a:rPr lang="fr-FR" dirty="0"/>
              <a:t> </a:t>
            </a:r>
            <a:r>
              <a:rPr lang="fr-FR" dirty="0" err="1"/>
              <a:t>fames</a:t>
            </a:r>
            <a:r>
              <a:rPr lang="fr-FR" dirty="0"/>
              <a:t>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egestas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pede</a:t>
            </a:r>
            <a:r>
              <a:rPr lang="fr-FR" dirty="0"/>
              <a:t>. </a:t>
            </a:r>
            <a:r>
              <a:rPr lang="fr-FR" dirty="0" err="1"/>
              <a:t>Mauris</a:t>
            </a:r>
            <a:r>
              <a:rPr lang="fr-FR" dirty="0"/>
              <a:t> et </a:t>
            </a:r>
            <a:r>
              <a:rPr lang="fr-FR" dirty="0" err="1"/>
              <a:t>orci</a:t>
            </a:r>
            <a:r>
              <a:rPr lang="fr-FR" dirty="0"/>
              <a:t>.</a:t>
            </a:r>
          </a:p>
          <a:p>
            <a:pPr rtl="0"/>
            <a:endParaRPr lang="fr-FR" dirty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B88939B0-5B9A-4423-AFD1-CF6B22268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Description du cadre expérimental pour la mesure de l’impédance  ?</a:t>
            </a:r>
          </a:p>
        </p:txBody>
      </p:sp>
      <p:pic>
        <p:nvPicPr>
          <p:cNvPr id="36" name="Espace réservé du contenu 35" descr="Médaille">
            <a:extLst>
              <a:ext uri="{FF2B5EF4-FFF2-40B4-BE49-F238E27FC236}">
                <a16:creationId xmlns:a16="http://schemas.microsoft.com/office/drawing/2014/main" id="{A960174C-A9DE-472D-BF1C-B13108BD70B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529558" y="1981200"/>
            <a:ext cx="548640" cy="548640"/>
          </a:xfr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5" y="557439"/>
            <a:ext cx="7979473" cy="830997"/>
          </a:xfrm>
        </p:spPr>
        <p:txBody>
          <a:bodyPr rtlCol="0"/>
          <a:lstStyle/>
          <a:p>
            <a:r>
              <a:rPr lang="fr-FR" dirty="0"/>
              <a:t>Estimation de l’impédance au cours d’une tâche rythmique</a:t>
            </a:r>
          </a:p>
        </p:txBody>
      </p:sp>
      <p:pic>
        <p:nvPicPr>
          <p:cNvPr id="18" name="Espace réservé du contenu 96" descr="Crayon">
            <a:extLst>
              <a:ext uri="{FF2B5EF4-FFF2-40B4-BE49-F238E27FC236}">
                <a16:creationId xmlns:a16="http://schemas.microsoft.com/office/drawing/2014/main" id="{D543E597-6791-E64E-8177-03F07626610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91319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’image 8" descr="Livre ouvert">
            <a:extLst>
              <a:ext uri="{FF2B5EF4-FFF2-40B4-BE49-F238E27FC236}">
                <a16:creationId xmlns:a16="http://schemas.microsoft.com/office/drawing/2014/main" id="{A799F565-1DAB-4AD3-BCE4-5DAC8012F3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9" name="Rectangle 28" descr="élément décoratif">
            <a:extLst>
              <a:ext uri="{FF2B5EF4-FFF2-40B4-BE49-F238E27FC236}">
                <a16:creationId xmlns:a16="http://schemas.microsoft.com/office/drawing/2014/main" id="{5C2DDD60-EB1C-44D8-84E1-D86EB3558F11}"/>
              </a:ext>
            </a:extLst>
          </p:cNvPr>
          <p:cNvSpPr/>
          <p:nvPr/>
        </p:nvSpPr>
        <p:spPr>
          <a:xfrm>
            <a:off x="0" y="0"/>
            <a:ext cx="12192000" cy="6863626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7" name="Groupe 6" descr="élément décoratif">
            <a:extLst>
              <a:ext uri="{FF2B5EF4-FFF2-40B4-BE49-F238E27FC236}">
                <a16:creationId xmlns:a16="http://schemas.microsoft.com/office/drawing/2014/main" id="{F5325EDA-7343-463C-83EC-5D799E8B8195}"/>
              </a:ext>
            </a:extLst>
          </p:cNvPr>
          <p:cNvGrpSpPr/>
          <p:nvPr/>
        </p:nvGrpSpPr>
        <p:grpSpPr>
          <a:xfrm>
            <a:off x="9621170" y="0"/>
            <a:ext cx="2570831" cy="6858001"/>
            <a:chOff x="9621170" y="0"/>
            <a:chExt cx="2570831" cy="6858001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25DFF88D-A516-4508-BC03-10D68E4034CF}"/>
                </a:ext>
              </a:extLst>
            </p:cNvPr>
            <p:cNvSpPr/>
            <p:nvPr/>
          </p:nvSpPr>
          <p:spPr>
            <a:xfrm>
              <a:off x="9621170" y="0"/>
              <a:ext cx="2570831" cy="6858000"/>
            </a:xfrm>
            <a:custGeom>
              <a:avLst/>
              <a:gdLst>
                <a:gd name="connsiteX0" fmla="*/ 1649197 w 2570831"/>
                <a:gd name="connsiteY0" fmla="*/ 0 h 6858000"/>
                <a:gd name="connsiteX1" fmla="*/ 2570831 w 2570831"/>
                <a:gd name="connsiteY1" fmla="*/ 0 h 6858000"/>
                <a:gd name="connsiteX2" fmla="*/ 2570831 w 2570831"/>
                <a:gd name="connsiteY2" fmla="*/ 6858000 h 6858000"/>
                <a:gd name="connsiteX3" fmla="*/ 0 w 257083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831" h="6858000">
                  <a:moveTo>
                    <a:pt x="1649197" y="0"/>
                  </a:moveTo>
                  <a:lnTo>
                    <a:pt x="2570831" y="0"/>
                  </a:lnTo>
                  <a:lnTo>
                    <a:pt x="257083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F990A05A-2B0C-4EA2-8A33-D5A7D8C1BC4F}"/>
                </a:ext>
              </a:extLst>
            </p:cNvPr>
            <p:cNvSpPr/>
            <p:nvPr/>
          </p:nvSpPr>
          <p:spPr>
            <a:xfrm>
              <a:off x="9754598" y="0"/>
              <a:ext cx="2437402" cy="6858000"/>
            </a:xfrm>
            <a:custGeom>
              <a:avLst/>
              <a:gdLst>
                <a:gd name="connsiteX0" fmla="*/ 1649197 w 2437402"/>
                <a:gd name="connsiteY0" fmla="*/ 0 h 6858000"/>
                <a:gd name="connsiteX1" fmla="*/ 2437402 w 2437402"/>
                <a:gd name="connsiteY1" fmla="*/ 0 h 6858000"/>
                <a:gd name="connsiteX2" fmla="*/ 2437402 w 2437402"/>
                <a:gd name="connsiteY2" fmla="*/ 6858000 h 6858000"/>
                <a:gd name="connsiteX3" fmla="*/ 0 w 243740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7402" h="6858000">
                  <a:moveTo>
                    <a:pt x="1649197" y="0"/>
                  </a:moveTo>
                  <a:lnTo>
                    <a:pt x="2437402" y="0"/>
                  </a:lnTo>
                  <a:lnTo>
                    <a:pt x="243740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79BF84DA-56CC-4319-9B18-B6303F93EF5A}"/>
                </a:ext>
              </a:extLst>
            </p:cNvPr>
            <p:cNvSpPr/>
            <p:nvPr/>
          </p:nvSpPr>
          <p:spPr>
            <a:xfrm>
              <a:off x="10011320" y="0"/>
              <a:ext cx="2180680" cy="6858000"/>
            </a:xfrm>
            <a:custGeom>
              <a:avLst/>
              <a:gdLst>
                <a:gd name="connsiteX0" fmla="*/ 1649197 w 2180680"/>
                <a:gd name="connsiteY0" fmla="*/ 0 h 6858000"/>
                <a:gd name="connsiteX1" fmla="*/ 2180680 w 2180680"/>
                <a:gd name="connsiteY1" fmla="*/ 0 h 6858000"/>
                <a:gd name="connsiteX2" fmla="*/ 2180680 w 2180680"/>
                <a:gd name="connsiteY2" fmla="*/ 6858000 h 6858000"/>
                <a:gd name="connsiteX3" fmla="*/ 0 w 218068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680" h="6858000">
                  <a:moveTo>
                    <a:pt x="1649197" y="0"/>
                  </a:moveTo>
                  <a:lnTo>
                    <a:pt x="2180680" y="0"/>
                  </a:lnTo>
                  <a:lnTo>
                    <a:pt x="218068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3FE4855B-D7C3-4EA7-8050-5BDDB9E3A78A}"/>
                </a:ext>
              </a:extLst>
            </p:cNvPr>
            <p:cNvSpPr/>
            <p:nvPr/>
          </p:nvSpPr>
          <p:spPr>
            <a:xfrm>
              <a:off x="10544156" y="5626"/>
              <a:ext cx="1647844" cy="6852374"/>
            </a:xfrm>
            <a:custGeom>
              <a:avLst/>
              <a:gdLst>
                <a:gd name="connsiteX0" fmla="*/ 1647844 w 1647844"/>
                <a:gd name="connsiteY0" fmla="*/ 0 h 6852374"/>
                <a:gd name="connsiteX1" fmla="*/ 1647844 w 1647844"/>
                <a:gd name="connsiteY1" fmla="*/ 6852374 h 6852374"/>
                <a:gd name="connsiteX2" fmla="*/ 0 w 1647844"/>
                <a:gd name="connsiteY2" fmla="*/ 6852374 h 685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7844" h="6852374">
                  <a:moveTo>
                    <a:pt x="1647844" y="0"/>
                  </a:moveTo>
                  <a:lnTo>
                    <a:pt x="1647844" y="6852374"/>
                  </a:lnTo>
                  <a:lnTo>
                    <a:pt x="0" y="6852374"/>
                  </a:lnTo>
                  <a:close/>
                </a:path>
              </a:pathLst>
            </a:cu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EC066EC5-6C2C-4006-B87D-E6C5CFDEF302}"/>
                </a:ext>
              </a:extLst>
            </p:cNvPr>
            <p:cNvSpPr/>
            <p:nvPr/>
          </p:nvSpPr>
          <p:spPr>
            <a:xfrm>
              <a:off x="10803086" y="1082358"/>
              <a:ext cx="1388914" cy="5775643"/>
            </a:xfrm>
            <a:custGeom>
              <a:avLst/>
              <a:gdLst>
                <a:gd name="connsiteX0" fmla="*/ 1388914 w 1388914"/>
                <a:gd name="connsiteY0" fmla="*/ 0 h 5775643"/>
                <a:gd name="connsiteX1" fmla="*/ 1388914 w 1388914"/>
                <a:gd name="connsiteY1" fmla="*/ 5775643 h 5775643"/>
                <a:gd name="connsiteX2" fmla="*/ 0 w 1388914"/>
                <a:gd name="connsiteY2" fmla="*/ 5775643 h 577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8914" h="5775643">
                  <a:moveTo>
                    <a:pt x="1388914" y="0"/>
                  </a:moveTo>
                  <a:lnTo>
                    <a:pt x="1388914" y="5775643"/>
                  </a:lnTo>
                  <a:lnTo>
                    <a:pt x="0" y="57756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</p:grpSp>
      <p:grpSp>
        <p:nvGrpSpPr>
          <p:cNvPr id="5" name="Groupe 4" descr="élément décoratif">
            <a:extLst>
              <a:ext uri="{FF2B5EF4-FFF2-40B4-BE49-F238E27FC236}">
                <a16:creationId xmlns:a16="http://schemas.microsoft.com/office/drawing/2014/main" id="{1A141F7B-AE96-45F9-BC57-F7C86174910A}"/>
              </a:ext>
            </a:extLst>
          </p:cNvPr>
          <p:cNvGrpSpPr/>
          <p:nvPr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14" name="Rectangle 13">
              <a:extLst>
                <a:ext uri="{FF2B5EF4-FFF2-40B4-BE49-F238E27FC236}">
                  <a16:creationId xmlns:a16="http://schemas.microsoft.com/office/drawing/2014/main" id="{C862BC4D-BD7A-417E-A34A-59CE4D4A6AC8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652937FB-CDE3-46B3-8481-AB5DB8C4BABA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DB02A950-05E3-4691-9BC9-47B314EEA71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16</a:t>
            </a:fld>
            <a:endParaRPr lang="fr-FR" sz="1200">
              <a:solidFill>
                <a:schemeClr val="bg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CONCLUSIONS &amp; PERSPECTIVES</a:t>
            </a:r>
          </a:p>
        </p:txBody>
      </p:sp>
      <p:pic>
        <p:nvPicPr>
          <p:cNvPr id="83" name="Espace réservé du contenu 82" descr="Cloche">
            <a:extLst>
              <a:ext uri="{FF2B5EF4-FFF2-40B4-BE49-F238E27FC236}">
                <a16:creationId xmlns:a16="http://schemas.microsoft.com/office/drawing/2014/main" id="{604095CF-E62F-46A4-A86C-5F465AE6E2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/>
      </p:pic>
      <p:pic>
        <p:nvPicPr>
          <p:cNvPr id="95" name="Espace réservé du contenu 94" descr="Microscope">
            <a:extLst>
              <a:ext uri="{FF2B5EF4-FFF2-40B4-BE49-F238E27FC236}">
                <a16:creationId xmlns:a16="http://schemas.microsoft.com/office/drawing/2014/main" id="{96991F60-484C-4906-ADB8-676435D3D6E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803775" y="1981993"/>
            <a:ext cx="547688" cy="547688"/>
          </a:xfrm>
        </p:spPr>
      </p:pic>
      <p:pic>
        <p:nvPicPr>
          <p:cNvPr id="97" name="Espace réservé du contenu 96" descr="Crayon">
            <a:extLst>
              <a:ext uri="{FF2B5EF4-FFF2-40B4-BE49-F238E27FC236}">
                <a16:creationId xmlns:a16="http://schemas.microsoft.com/office/drawing/2014/main" id="{40D9C27B-A51D-4036-B3F9-56081BD60AB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/>
      </p:pic>
      <p:sp>
        <p:nvSpPr>
          <p:cNvPr id="88" name="Espace réservé du texte 87">
            <a:extLst>
              <a:ext uri="{FF2B5EF4-FFF2-40B4-BE49-F238E27FC236}">
                <a16:creationId xmlns:a16="http://schemas.microsoft.com/office/drawing/2014/main" id="{D01EBAE5-B81D-4150-B62C-F56241C555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fr-F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fr-FR"/>
              <a:t>Nunc viverra imperdiet enim. Fusce est. Vivamus a tellus.</a:t>
            </a:r>
          </a:p>
          <a:p>
            <a:pPr rtl="0"/>
            <a:r>
              <a:rPr lang="fr-FR"/>
              <a:t>Pellentesque habitant morbi tristique senectus et netus et malesuada fames ac turpis egestas. Proin pharetra nonummy pede. Mauris et</a:t>
            </a:r>
          </a:p>
        </p:txBody>
      </p:sp>
      <p:sp>
        <p:nvSpPr>
          <p:cNvPr id="87" name="Espace réservé du texte 86">
            <a:extLst>
              <a:ext uri="{FF2B5EF4-FFF2-40B4-BE49-F238E27FC236}">
                <a16:creationId xmlns:a16="http://schemas.microsoft.com/office/drawing/2014/main" id="{1F4C9CA2-B224-40CD-8DB2-CAE478D236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rtl="0"/>
            <a:r>
              <a:rPr lang="fr-F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fr-FR"/>
              <a:t>Nunc viverra imperdiet enim. Fusce est. Vivamus a tellus.</a:t>
            </a:r>
          </a:p>
          <a:p>
            <a:pPr rtl="0"/>
            <a:r>
              <a:rPr lang="fr-FR"/>
              <a:t>Pellentesque habitant morbi tristique senectus et netus et malesuada fames ac turpis egestas. Proin pharetra nonummy pede. Mauris et</a:t>
            </a:r>
          </a:p>
        </p:txBody>
      </p:sp>
      <p:sp>
        <p:nvSpPr>
          <p:cNvPr id="90" name="Espace réservé du texte 89">
            <a:extLst>
              <a:ext uri="{FF2B5EF4-FFF2-40B4-BE49-F238E27FC236}">
                <a16:creationId xmlns:a16="http://schemas.microsoft.com/office/drawing/2014/main" id="{AC38A326-FA47-4BD6-B27D-DEB6A4485A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fr-F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fr-FR"/>
              <a:t>Nunc viverra imperdiet enim. Fusce est. Vivamus a tellus.</a:t>
            </a:r>
          </a:p>
          <a:p>
            <a:pPr rtl="0"/>
            <a:r>
              <a:rPr lang="fr-FR"/>
              <a:t>Pellentesque habitant morbi tristique senectus et netus et malesuada fames ac turpis egestas. Proin pharetra nonummy pede. Mauris et</a:t>
            </a:r>
          </a:p>
        </p:txBody>
      </p:sp>
    </p:spTree>
    <p:extLst>
      <p:ext uri="{BB962C8B-B14F-4D97-AF65-F5344CB8AC3E}">
        <p14:creationId xmlns:p14="http://schemas.microsoft.com/office/powerpoint/2010/main" val="319101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LOREM IPSUM DOLOR SIT AMET, CONSECTETUER ADIPISCING ELIT.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018DA92-5FF3-4104-A4AD-2CBC58FC3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227750"/>
              </p:ext>
            </p:extLst>
          </p:nvPr>
        </p:nvGraphicFramePr>
        <p:xfrm>
          <a:off x="633186" y="1512416"/>
          <a:ext cx="10949215" cy="382074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89843">
                  <a:extLst>
                    <a:ext uri="{9D8B030D-6E8A-4147-A177-3AD203B41FA5}">
                      <a16:colId xmlns:a16="http://schemas.microsoft.com/office/drawing/2014/main" val="2752061506"/>
                    </a:ext>
                  </a:extLst>
                </a:gridCol>
                <a:gridCol w="2189843">
                  <a:extLst>
                    <a:ext uri="{9D8B030D-6E8A-4147-A177-3AD203B41FA5}">
                      <a16:colId xmlns:a16="http://schemas.microsoft.com/office/drawing/2014/main" val="3057165699"/>
                    </a:ext>
                  </a:extLst>
                </a:gridCol>
                <a:gridCol w="2189843">
                  <a:extLst>
                    <a:ext uri="{9D8B030D-6E8A-4147-A177-3AD203B41FA5}">
                      <a16:colId xmlns:a16="http://schemas.microsoft.com/office/drawing/2014/main" val="932898841"/>
                    </a:ext>
                  </a:extLst>
                </a:gridCol>
                <a:gridCol w="2189843">
                  <a:extLst>
                    <a:ext uri="{9D8B030D-6E8A-4147-A177-3AD203B41FA5}">
                      <a16:colId xmlns:a16="http://schemas.microsoft.com/office/drawing/2014/main" val="1832443924"/>
                    </a:ext>
                  </a:extLst>
                </a:gridCol>
                <a:gridCol w="2189843">
                  <a:extLst>
                    <a:ext uri="{9D8B030D-6E8A-4147-A177-3AD203B41FA5}">
                      <a16:colId xmlns:a16="http://schemas.microsoft.com/office/drawing/2014/main" val="1078784030"/>
                    </a:ext>
                  </a:extLst>
                </a:gridCol>
              </a:tblGrid>
              <a:tr h="545821">
                <a:tc>
                  <a:txBody>
                    <a:bodyPr/>
                    <a:lstStyle/>
                    <a:p>
                      <a:pPr algn="ctr" rtl="0"/>
                      <a:r>
                        <a:rPr lang="fr-FR" noProof="0" dirty="0">
                          <a:solidFill>
                            <a:schemeClr val="bg1"/>
                          </a:solidFill>
                          <a:latin typeface="+mj-lt"/>
                        </a:rPr>
                        <a:t>Titre</a:t>
                      </a:r>
                      <a:endParaRPr lang="fr-FR" b="1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1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Titre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1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Titre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1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Titre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-FR" sz="180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</a:rPr>
                        <a:t>Titre</a:t>
                      </a:r>
                      <a:endParaRPr lang="fr-FR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578168"/>
                  </a:ext>
                </a:extLst>
              </a:tr>
              <a:tr h="545821"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539862"/>
                  </a:ext>
                </a:extLst>
              </a:tr>
              <a:tr h="545821"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35978"/>
                  </a:ext>
                </a:extLst>
              </a:tr>
              <a:tr h="545821"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75193"/>
                  </a:ext>
                </a:extLst>
              </a:tr>
              <a:tr h="545821"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034183"/>
                  </a:ext>
                </a:extLst>
              </a:tr>
              <a:tr h="545821"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849101"/>
                  </a:ext>
                </a:extLst>
              </a:tr>
              <a:tr h="545821"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fr-FR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1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59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’image 5" descr="Un groupe de personnes assises autour d’une table en bois&#10;">
            <a:extLst>
              <a:ext uri="{FF2B5EF4-FFF2-40B4-BE49-F238E27FC236}">
                <a16:creationId xmlns:a16="http://schemas.microsoft.com/office/drawing/2014/main" id="{D48306FF-9A46-43AC-BC11-DE5D9F2D18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</p:spPr>
      </p:pic>
      <p:sp>
        <p:nvSpPr>
          <p:cNvPr id="52" name="Rectangle 51" descr="élément décoratif">
            <a:extLst>
              <a:ext uri="{FF2B5EF4-FFF2-40B4-BE49-F238E27FC236}">
                <a16:creationId xmlns:a16="http://schemas.microsoft.com/office/drawing/2014/main" id="{31664CF3-C0D1-4769-8E59-8694AF07951A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2" name="Titre 41">
            <a:extLst>
              <a:ext uri="{FF2B5EF4-FFF2-40B4-BE49-F238E27FC236}">
                <a16:creationId xmlns:a16="http://schemas.microsoft.com/office/drawing/2014/main" id="{72FCEAE4-FA74-4446-B2F5-9AFA2DA13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80" y="2142271"/>
            <a:ext cx="5578995" cy="879928"/>
          </a:xfrm>
        </p:spPr>
        <p:txBody>
          <a:bodyPr rtlCol="0"/>
          <a:lstStyle/>
          <a:p>
            <a:pPr rtl="0"/>
            <a:r>
              <a:rPr lang="fr-FR" b="0" dirty="0"/>
              <a:t>MERCI</a:t>
            </a:r>
          </a:p>
        </p:txBody>
      </p:sp>
      <p:sp>
        <p:nvSpPr>
          <p:cNvPr id="80" name="Espace réservé du texte 79">
            <a:extLst>
              <a:ext uri="{FF2B5EF4-FFF2-40B4-BE49-F238E27FC236}">
                <a16:creationId xmlns:a16="http://schemas.microsoft.com/office/drawing/2014/main" id="{40F0AA8D-0756-4350-8005-9BCD0DDB3B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fr-FR" dirty="0"/>
              <a:t>FORTINEAU Vincent</a:t>
            </a:r>
          </a:p>
        </p:txBody>
      </p:sp>
      <p:sp>
        <p:nvSpPr>
          <p:cNvPr id="86" name="Espace réservé du texte 85">
            <a:extLst>
              <a:ext uri="{FF2B5EF4-FFF2-40B4-BE49-F238E27FC236}">
                <a16:creationId xmlns:a16="http://schemas.microsoft.com/office/drawing/2014/main" id="{60CCF183-9FEB-4677-9379-BC01A7251D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59075" y="4351113"/>
            <a:ext cx="5128222" cy="318037"/>
          </a:xfrm>
        </p:spPr>
        <p:txBody>
          <a:bodyPr rtlCol="0"/>
          <a:lstStyle/>
          <a:p>
            <a:pPr rtl="0"/>
            <a:r>
              <a:rPr lang="fr-FR" dirty="0"/>
              <a:t>L2S (</a:t>
            </a:r>
            <a:r>
              <a:rPr lang="fr-FR" dirty="0" err="1"/>
              <a:t>CentraleSupélec</a:t>
            </a:r>
            <a:r>
              <a:rPr lang="fr-FR" dirty="0"/>
              <a:t>) &amp; CIAMS (Université Paris-Sud)</a:t>
            </a:r>
          </a:p>
        </p:txBody>
      </p:sp>
      <p:sp>
        <p:nvSpPr>
          <p:cNvPr id="87" name="Espace réservé du texte 86">
            <a:extLst>
              <a:ext uri="{FF2B5EF4-FFF2-40B4-BE49-F238E27FC236}">
                <a16:creationId xmlns:a16="http://schemas.microsoft.com/office/drawing/2014/main" id="{DF3FE72B-F9BD-472F-A413-71BEEF95F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fr-FR" dirty="0" err="1"/>
              <a:t>vincent.fortineau@centralesupelec.fr</a:t>
            </a:r>
            <a:endParaRPr lang="fr-FR" dirty="0"/>
          </a:p>
        </p:txBody>
      </p:sp>
      <p:pic>
        <p:nvPicPr>
          <p:cNvPr id="98" name="Espace réservé du contenu 97" descr="Enveloppe">
            <a:extLst>
              <a:ext uri="{FF2B5EF4-FFF2-40B4-BE49-F238E27FC236}">
                <a16:creationId xmlns:a16="http://schemas.microsoft.com/office/drawing/2014/main" id="{0B9C03E0-6367-44D9-A740-AA6436F075E8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/>
      </p:pic>
      <p:pic>
        <p:nvPicPr>
          <p:cNvPr id="94" name="Espace réservé du contenu 93" descr="Utilisateur">
            <a:extLst>
              <a:ext uri="{FF2B5EF4-FFF2-40B4-BE49-F238E27FC236}">
                <a16:creationId xmlns:a16="http://schemas.microsoft.com/office/drawing/2014/main" id="{5AC6F288-703B-45A1-9B56-079BD755B2CB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/>
      </p:pic>
      <p:cxnSp>
        <p:nvCxnSpPr>
          <p:cNvPr id="131" name="Connecteur droit 130" descr="élément décoratif">
            <a:extLst>
              <a:ext uri="{FF2B5EF4-FFF2-40B4-BE49-F238E27FC236}">
                <a16:creationId xmlns:a16="http://schemas.microsoft.com/office/drawing/2014/main" id="{8695A66A-1D9E-4D4E-9067-DC97380D3FDF}"/>
              </a:ext>
            </a:extLst>
          </p:cNvPr>
          <p:cNvCxnSpPr/>
          <p:nvPr/>
        </p:nvCxnSpPr>
        <p:spPr>
          <a:xfrm>
            <a:off x="756601" y="4143058"/>
            <a:ext cx="429768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 descr="élément décoratif">
            <a:extLst>
              <a:ext uri="{FF2B5EF4-FFF2-40B4-BE49-F238E27FC236}">
                <a16:creationId xmlns:a16="http://schemas.microsoft.com/office/drawing/2014/main" id="{529648F7-20E3-4312-823A-D8265A94AF23}"/>
              </a:ext>
            </a:extLst>
          </p:cNvPr>
          <p:cNvCxnSpPr/>
          <p:nvPr/>
        </p:nvCxnSpPr>
        <p:spPr>
          <a:xfrm>
            <a:off x="756601" y="4866958"/>
            <a:ext cx="429768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 descr="élément décoratif">
            <a:extLst>
              <a:ext uri="{FF2B5EF4-FFF2-40B4-BE49-F238E27FC236}">
                <a16:creationId xmlns:a16="http://schemas.microsoft.com/office/drawing/2014/main" id="{8F841485-6093-48AB-9892-0FB58675C726}"/>
              </a:ext>
            </a:extLst>
          </p:cNvPr>
          <p:cNvCxnSpPr/>
          <p:nvPr/>
        </p:nvCxnSpPr>
        <p:spPr>
          <a:xfrm>
            <a:off x="756601" y="5616258"/>
            <a:ext cx="429768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 descr="élément décoratif">
            <a:extLst>
              <a:ext uri="{FF2B5EF4-FFF2-40B4-BE49-F238E27FC236}">
                <a16:creationId xmlns:a16="http://schemas.microsoft.com/office/drawing/2014/main" id="{FF17C705-3351-4B11-BD28-D0CACC12D311}"/>
              </a:ext>
            </a:extLst>
          </p:cNvPr>
          <p:cNvGrpSpPr/>
          <p:nvPr/>
        </p:nvGrpSpPr>
        <p:grpSpPr>
          <a:xfrm>
            <a:off x="822755" y="2930325"/>
            <a:ext cx="469807" cy="79404"/>
            <a:chOff x="9330846" y="5054600"/>
            <a:chExt cx="676275" cy="114300"/>
          </a:xfrm>
          <a:solidFill>
            <a:schemeClr val="bg1"/>
          </a:solidFill>
        </p:grpSpPr>
        <p:sp>
          <p:nvSpPr>
            <p:cNvPr id="155" name="Ovale 154">
              <a:extLst>
                <a:ext uri="{FF2B5EF4-FFF2-40B4-BE49-F238E27FC236}">
                  <a16:creationId xmlns:a16="http://schemas.microsoft.com/office/drawing/2014/main" id="{925FEBFE-A26D-4E0B-B884-7E186CD878E5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2A24665D-D5CF-4F18-A88A-8E4471800E8D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39F2203F-31BF-4705-AC57-E197602982AA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158" name="Ovale 157">
              <a:extLst>
                <a:ext uri="{FF2B5EF4-FFF2-40B4-BE49-F238E27FC236}">
                  <a16:creationId xmlns:a16="http://schemas.microsoft.com/office/drawing/2014/main" id="{D4734E32-080E-49F2-89F3-16F0DBB5D130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grpSp>
        <p:nvGrpSpPr>
          <p:cNvPr id="7" name="Groupe 6" descr="élément décoratif">
            <a:extLst>
              <a:ext uri="{FF2B5EF4-FFF2-40B4-BE49-F238E27FC236}">
                <a16:creationId xmlns:a16="http://schemas.microsoft.com/office/drawing/2014/main" id="{F5325EDA-7343-463C-83EC-5D799E8B8195}"/>
              </a:ext>
            </a:extLst>
          </p:cNvPr>
          <p:cNvGrpSpPr/>
          <p:nvPr/>
        </p:nvGrpSpPr>
        <p:grpSpPr>
          <a:xfrm>
            <a:off x="9621169" y="0"/>
            <a:ext cx="2570831" cy="6858001"/>
            <a:chOff x="9621170" y="0"/>
            <a:chExt cx="2570831" cy="6858001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25DFF88D-A516-4508-BC03-10D68E4034CF}"/>
                </a:ext>
              </a:extLst>
            </p:cNvPr>
            <p:cNvSpPr/>
            <p:nvPr/>
          </p:nvSpPr>
          <p:spPr>
            <a:xfrm>
              <a:off x="9621170" y="0"/>
              <a:ext cx="2570831" cy="6858000"/>
            </a:xfrm>
            <a:custGeom>
              <a:avLst/>
              <a:gdLst>
                <a:gd name="connsiteX0" fmla="*/ 1649197 w 2570831"/>
                <a:gd name="connsiteY0" fmla="*/ 0 h 6858000"/>
                <a:gd name="connsiteX1" fmla="*/ 2570831 w 2570831"/>
                <a:gd name="connsiteY1" fmla="*/ 0 h 6858000"/>
                <a:gd name="connsiteX2" fmla="*/ 2570831 w 2570831"/>
                <a:gd name="connsiteY2" fmla="*/ 6858000 h 6858000"/>
                <a:gd name="connsiteX3" fmla="*/ 0 w 257083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831" h="6858000">
                  <a:moveTo>
                    <a:pt x="1649197" y="0"/>
                  </a:moveTo>
                  <a:lnTo>
                    <a:pt x="2570831" y="0"/>
                  </a:lnTo>
                  <a:lnTo>
                    <a:pt x="257083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F990A05A-2B0C-4EA2-8A33-D5A7D8C1BC4F}"/>
                </a:ext>
              </a:extLst>
            </p:cNvPr>
            <p:cNvSpPr/>
            <p:nvPr/>
          </p:nvSpPr>
          <p:spPr>
            <a:xfrm>
              <a:off x="9754598" y="0"/>
              <a:ext cx="2437402" cy="6858000"/>
            </a:xfrm>
            <a:custGeom>
              <a:avLst/>
              <a:gdLst>
                <a:gd name="connsiteX0" fmla="*/ 1649197 w 2437402"/>
                <a:gd name="connsiteY0" fmla="*/ 0 h 6858000"/>
                <a:gd name="connsiteX1" fmla="*/ 2437402 w 2437402"/>
                <a:gd name="connsiteY1" fmla="*/ 0 h 6858000"/>
                <a:gd name="connsiteX2" fmla="*/ 2437402 w 2437402"/>
                <a:gd name="connsiteY2" fmla="*/ 6858000 h 6858000"/>
                <a:gd name="connsiteX3" fmla="*/ 0 w 243740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7402" h="6858000">
                  <a:moveTo>
                    <a:pt x="1649197" y="0"/>
                  </a:moveTo>
                  <a:lnTo>
                    <a:pt x="2437402" y="0"/>
                  </a:lnTo>
                  <a:lnTo>
                    <a:pt x="243740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79BF84DA-56CC-4319-9B18-B6303F93EF5A}"/>
                </a:ext>
              </a:extLst>
            </p:cNvPr>
            <p:cNvSpPr/>
            <p:nvPr/>
          </p:nvSpPr>
          <p:spPr>
            <a:xfrm>
              <a:off x="10011320" y="0"/>
              <a:ext cx="2180680" cy="6858000"/>
            </a:xfrm>
            <a:custGeom>
              <a:avLst/>
              <a:gdLst>
                <a:gd name="connsiteX0" fmla="*/ 1649197 w 2180680"/>
                <a:gd name="connsiteY0" fmla="*/ 0 h 6858000"/>
                <a:gd name="connsiteX1" fmla="*/ 2180680 w 2180680"/>
                <a:gd name="connsiteY1" fmla="*/ 0 h 6858000"/>
                <a:gd name="connsiteX2" fmla="*/ 2180680 w 2180680"/>
                <a:gd name="connsiteY2" fmla="*/ 6858000 h 6858000"/>
                <a:gd name="connsiteX3" fmla="*/ 0 w 218068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680" h="6858000">
                  <a:moveTo>
                    <a:pt x="1649197" y="0"/>
                  </a:moveTo>
                  <a:lnTo>
                    <a:pt x="2180680" y="0"/>
                  </a:lnTo>
                  <a:lnTo>
                    <a:pt x="218068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3FE4855B-D7C3-4EA7-8050-5BDDB9E3A78A}"/>
                </a:ext>
              </a:extLst>
            </p:cNvPr>
            <p:cNvSpPr/>
            <p:nvPr/>
          </p:nvSpPr>
          <p:spPr>
            <a:xfrm>
              <a:off x="10544156" y="5626"/>
              <a:ext cx="1647844" cy="6852374"/>
            </a:xfrm>
            <a:custGeom>
              <a:avLst/>
              <a:gdLst>
                <a:gd name="connsiteX0" fmla="*/ 1647844 w 1647844"/>
                <a:gd name="connsiteY0" fmla="*/ 0 h 6852374"/>
                <a:gd name="connsiteX1" fmla="*/ 1647844 w 1647844"/>
                <a:gd name="connsiteY1" fmla="*/ 6852374 h 6852374"/>
                <a:gd name="connsiteX2" fmla="*/ 0 w 1647844"/>
                <a:gd name="connsiteY2" fmla="*/ 6852374 h 685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7844" h="6852374">
                  <a:moveTo>
                    <a:pt x="1647844" y="0"/>
                  </a:moveTo>
                  <a:lnTo>
                    <a:pt x="1647844" y="6852374"/>
                  </a:lnTo>
                  <a:lnTo>
                    <a:pt x="0" y="6852374"/>
                  </a:lnTo>
                  <a:close/>
                </a:path>
              </a:pathLst>
            </a:custGeom>
            <a:solidFill>
              <a:schemeClr val="accent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EC066EC5-6C2C-4006-B87D-E6C5CFDEF302}"/>
                </a:ext>
              </a:extLst>
            </p:cNvPr>
            <p:cNvSpPr/>
            <p:nvPr/>
          </p:nvSpPr>
          <p:spPr>
            <a:xfrm>
              <a:off x="10803086" y="1082358"/>
              <a:ext cx="1388914" cy="5775643"/>
            </a:xfrm>
            <a:custGeom>
              <a:avLst/>
              <a:gdLst>
                <a:gd name="connsiteX0" fmla="*/ 1388914 w 1388914"/>
                <a:gd name="connsiteY0" fmla="*/ 0 h 5775643"/>
                <a:gd name="connsiteX1" fmla="*/ 1388914 w 1388914"/>
                <a:gd name="connsiteY1" fmla="*/ 5775643 h 5775643"/>
                <a:gd name="connsiteX2" fmla="*/ 0 w 1388914"/>
                <a:gd name="connsiteY2" fmla="*/ 5775643 h 577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8914" h="5775643">
                  <a:moveTo>
                    <a:pt x="1388914" y="0"/>
                  </a:moveTo>
                  <a:lnTo>
                    <a:pt x="1388914" y="5775643"/>
                  </a:lnTo>
                  <a:lnTo>
                    <a:pt x="0" y="5775643"/>
                  </a:lnTo>
                  <a:close/>
                </a:path>
              </a:pathLst>
            </a:custGeom>
            <a:solidFill>
              <a:schemeClr val="accent1">
                <a:lumMod val="75000"/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/>
            </a:p>
          </p:txBody>
        </p:sp>
      </p:grpSp>
      <p:pic>
        <p:nvPicPr>
          <p:cNvPr id="29" name="Espace réservé du contenu 94" descr="Microscope">
            <a:extLst>
              <a:ext uri="{FF2B5EF4-FFF2-40B4-BE49-F238E27FC236}">
                <a16:creationId xmlns:a16="http://schemas.microsoft.com/office/drawing/2014/main" id="{D3899A9F-0354-DC45-818D-C4B0272C2949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742002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SFT_04_Educa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2606E"/>
      </a:accent1>
      <a:accent2>
        <a:srgbClr val="0F3955"/>
      </a:accent2>
      <a:accent3>
        <a:srgbClr val="FFC000"/>
      </a:accent3>
      <a:accent4>
        <a:srgbClr val="BF678E"/>
      </a:accent4>
      <a:accent5>
        <a:srgbClr val="731F1C"/>
      </a:accent5>
      <a:accent6>
        <a:srgbClr val="7A9E56"/>
      </a:accent6>
      <a:hlink>
        <a:srgbClr val="00B0F0"/>
      </a:hlink>
      <a:folHlink>
        <a:srgbClr val="595959"/>
      </a:folHlink>
    </a:clrScheme>
    <a:fontScheme name="MSFT_04_Education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22_TF00475556" id="{1773F893-1B64-4C50-B449-C7130E3DEDFD}" vid="{AA1B2606-3863-43D4-81FC-E4C93E7D8FD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49A191-EC8C-4AA6-9C64-D32B5F04743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941CEA3-A3B3-4568-9E84-C4619CC82D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4148EB-7DAD-48FA-A275-D42F48043C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pédagogique</Template>
  <TotalTime>0</TotalTime>
  <Words>902</Words>
  <Application>Microsoft Office PowerPoint</Application>
  <PresentationFormat>Grand écran</PresentationFormat>
  <Paragraphs>229</Paragraphs>
  <Slides>18</Slides>
  <Notes>17</Notes>
  <HiddenSlides>5</HiddenSlides>
  <MMClips>1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Apple Chancery</vt:lpstr>
      <vt:lpstr>Arial</vt:lpstr>
      <vt:lpstr>Calibri</vt:lpstr>
      <vt:lpstr>Calibri Light</vt:lpstr>
      <vt:lpstr>Cambria Math</vt:lpstr>
      <vt:lpstr>Century Gothic</vt:lpstr>
      <vt:lpstr>Corbel</vt:lpstr>
      <vt:lpstr>Thème Office</vt:lpstr>
      <vt:lpstr>COMMANDE BIO-INSPIREE DE ROBOT POUR DES TACHES RYTHMIQUES EN INTERACTION AVEC L’ENVIRONNEMENT</vt:lpstr>
      <vt:lpstr>Présentation PowerPoint</vt:lpstr>
      <vt:lpstr>Présentation PowerPoint</vt:lpstr>
      <vt:lpstr>CONTEXTE</vt:lpstr>
      <vt:lpstr>Mouvements rythmiques bio-inspirés </vt:lpstr>
      <vt:lpstr>Interactions physique avec l’environnement</vt:lpstr>
      <vt:lpstr>IMPEDANCE MECANIQUE</vt:lpstr>
      <vt:lpstr>Définitions de l’impédance</vt:lpstr>
      <vt:lpstr>Méthodes d’estimation de l’impédance</vt:lpstr>
      <vt:lpstr>Variation des paramètres d’impédance</vt:lpstr>
      <vt:lpstr>EXPERIENCE</vt:lpstr>
      <vt:lpstr>Description de l’expérience</vt:lpstr>
      <vt:lpstr>KUKA YouBot</vt:lpstr>
      <vt:lpstr>Commande de robot pour une interaction collaborative</vt:lpstr>
      <vt:lpstr>Estimation de l’impédance au cours d’une tâche rythmique</vt:lpstr>
      <vt:lpstr>CONCLUSIONS &amp; PERSPECTIVES</vt:lpstr>
      <vt:lpstr>LOREM IPSUM DOLOR SIT AMET, CONSECTETUER ADIPISCING ELIT. </vt:lpstr>
      <vt:lpstr>MERCI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2019-10-21T11:42:01Z</dcterms:created>
  <dcterms:modified xsi:type="dcterms:W3CDTF">2019-11-08T17:03:53Z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