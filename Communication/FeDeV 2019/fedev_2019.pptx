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24"/>
  </p:notesMasterIdLst>
  <p:handoutMasterIdLst>
    <p:handoutMasterId r:id="rId25"/>
  </p:handoutMasterIdLst>
  <p:sldIdLst>
    <p:sldId id="281" r:id="rId5"/>
    <p:sldId id="277" r:id="rId6"/>
    <p:sldId id="267" r:id="rId7"/>
    <p:sldId id="257" r:id="rId8"/>
    <p:sldId id="283" r:id="rId9"/>
    <p:sldId id="296" r:id="rId10"/>
    <p:sldId id="297" r:id="rId11"/>
    <p:sldId id="298" r:id="rId12"/>
    <p:sldId id="299" r:id="rId13"/>
    <p:sldId id="300" r:id="rId14"/>
    <p:sldId id="301" r:id="rId15"/>
    <p:sldId id="302" r:id="rId16"/>
    <p:sldId id="303" r:id="rId17"/>
    <p:sldId id="264" r:id="rId18"/>
    <p:sldId id="284" r:id="rId19"/>
    <p:sldId id="285" r:id="rId20"/>
    <p:sldId id="286" r:id="rId21"/>
    <p:sldId id="291" r:id="rId22"/>
    <p:sldId id="295" r:id="rId23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408" userDrawn="1">
          <p15:clr>
            <a:srgbClr val="A4A3A4"/>
          </p15:clr>
        </p15:guide>
        <p15:guide id="4" orient="horz" pos="432" userDrawn="1">
          <p15:clr>
            <a:srgbClr val="A4A3A4"/>
          </p15:clr>
        </p15:guide>
        <p15:guide id="5" pos="72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A81C"/>
    <a:srgbClr val="E7992F"/>
    <a:srgbClr val="E9A030"/>
    <a:srgbClr val="E28C89"/>
    <a:srgbClr val="FFD966"/>
    <a:srgbClr val="0F3955"/>
    <a:srgbClr val="0D3047"/>
    <a:srgbClr val="0B2B41"/>
    <a:srgbClr val="114263"/>
    <a:srgbClr val="4019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8B1032C-EA38-4F05-BA0D-38AFFFC7BED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94703" autoAdjust="0"/>
  </p:normalViewPr>
  <p:slideViewPr>
    <p:cSldViewPr snapToGrid="0">
      <p:cViewPr varScale="1">
        <p:scale>
          <a:sx n="87" d="100"/>
          <a:sy n="87" d="100"/>
        </p:scale>
        <p:origin x="90" y="624"/>
      </p:cViewPr>
      <p:guideLst>
        <p:guide orient="horz" pos="2160"/>
        <p:guide pos="3864"/>
        <p:guide pos="408"/>
        <p:guide orient="horz" pos="432"/>
        <p:guide pos="72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03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AC49572-5098-4FC4-AF0C-4155D5E78B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8AA88ED-9106-452F-A16C-BA63DCB68E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142A3-90E2-478A-BA2C-6CC385EA1380}" type="datetimeFigureOut">
              <a:rPr lang="fr-FR" smtClean="0"/>
              <a:t>21/10/2019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CA1C77C-B810-49D7-A7A2-0F7E9D8635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752286-8EA3-4402-A03D-C0595845B2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02C78-D536-4665-BE56-C8F556A0504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25785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4F2451-6A58-4377-953A-113910610DCC}" type="datetimeFigureOut">
              <a:rPr lang="fr-FR" noProof="0" smtClean="0"/>
              <a:t>21/10/2019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E5BA3-7562-41F3-85A3-5244B451D190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523381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61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218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8603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053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2077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78200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724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71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4435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1736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746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40202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622983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3099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5910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45700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9189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383241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noProof="0" smtClean="0"/>
              <a:t>19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602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6676569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667656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124204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5512953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550468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1270854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47CEAAF6-CCA9-40F8-8A3D-FAAD92220D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6020" y="2404234"/>
            <a:ext cx="5330038" cy="1746504"/>
          </a:xfrm>
        </p:spPr>
        <p:txBody>
          <a:bodyPr vert="horz" lIns="0" tIns="45720" rIns="0" bIns="45720" rtlCol="0" anchor="b" anchorCtr="1">
            <a:noAutofit/>
          </a:bodyPr>
          <a:lstStyle>
            <a:lvl1pPr>
              <a:defRPr lang="en-GB" dirty="0">
                <a:solidFill>
                  <a:schemeClr val="bg1"/>
                </a:solidFill>
              </a:defRPr>
            </a:lvl1pPr>
          </a:lstStyle>
          <a:p>
            <a:pPr marL="0"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3180" y="4553291"/>
            <a:ext cx="5049510" cy="521208"/>
          </a:xfrm>
        </p:spPr>
        <p:txBody>
          <a:bodyPr vert="horz" lIns="0" tIns="0" rIns="0" bIns="0" rtlCol="0" anchor="t" anchorCtr="1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2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477175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AAF32A0B-D38A-4E4A-BD5E-94B67129650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DCD3B46-48AB-439D-A981-D3596F977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0288" y="2313432"/>
            <a:ext cx="6592824" cy="285273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28D712-0D13-4ECD-9BEB-B8EE651FF63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90288" y="5193792"/>
            <a:ext cx="6592824" cy="97840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11308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Content_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36125" y="0"/>
            <a:ext cx="5355875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86558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68915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06451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45309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8" name="Espace réservé du numéro de diapositive 7">
            <a:extLst>
              <a:ext uri="{FF2B5EF4-FFF2-40B4-BE49-F238E27FC236}">
                <a16:creationId xmlns:a16="http://schemas.microsoft.com/office/drawing/2014/main" id="{8728750D-82C7-4A8D-A7C7-554934667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72049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Content_3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88842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 dirty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00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3242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texte 12">
            <a:extLst>
              <a:ext uri="{FF2B5EF4-FFF2-40B4-BE49-F238E27FC236}">
                <a16:creationId xmlns:a16="http://schemas.microsoft.com/office/drawing/2014/main" id="{DEF523FD-B1FC-40A7-93AA-389CB38E17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985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15">
            <a:extLst>
              <a:ext uri="{FF2B5EF4-FFF2-40B4-BE49-F238E27FC236}">
                <a16:creationId xmlns:a16="http://schemas.microsoft.com/office/drawing/2014/main" id="{B60C8CC8-C869-4395-B389-D76DF4A56AA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4385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numéro de diapositive 7">
            <a:extLst>
              <a:ext uri="{FF2B5EF4-FFF2-40B4-BE49-F238E27FC236}">
                <a16:creationId xmlns:a16="http://schemas.microsoft.com/office/drawing/2014/main" id="{E10AF5F6-7B7D-4CE6-A1D0-2F46804D3C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5480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_2 column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9750" y="1847927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2304413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C3BB8EAB-4266-4938-A8CB-6D18C9380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09750" y="4048520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contenu 15">
            <a:extLst>
              <a:ext uri="{FF2B5EF4-FFF2-40B4-BE49-F238E27FC236}">
                <a16:creationId xmlns:a16="http://schemas.microsoft.com/office/drawing/2014/main" id="{716D363C-A0A5-4FB1-8CC2-850C0CD9F4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7700" y="4505006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5" name="Espace réservé du numéro de diapositive 7">
            <a:extLst>
              <a:ext uri="{FF2B5EF4-FFF2-40B4-BE49-F238E27FC236}">
                <a16:creationId xmlns:a16="http://schemas.microsoft.com/office/drawing/2014/main" id="{AAF4A39B-C3C3-4691-BB94-371047ADD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47190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ontent_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2438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100F546D-5491-4A19-9725-5C920C573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1597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8534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0AC1958-0DCB-4970-ADE3-E64DAAFC501D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2" name="Rectangle 11">
              <a:extLst>
                <a:ext uri="{FF2B5EF4-FFF2-40B4-BE49-F238E27FC236}">
                  <a16:creationId xmlns:a16="http://schemas.microsoft.com/office/drawing/2014/main" id="{9E71A8D8-5A28-4968-9E80-110E9CB88F92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7239C02C-1FAD-4E73-AB32-5A30A946A44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FF40D550-A563-4E50-AEE9-6D9D19499F9F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65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09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e Images_Importa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’image 16">
            <a:extLst>
              <a:ext uri="{FF2B5EF4-FFF2-40B4-BE49-F238E27FC236}">
                <a16:creationId xmlns:a16="http://schemas.microsoft.com/office/drawing/2014/main" id="{D935D313-376E-4CA0-9732-D0CACCC07F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64300" y="0"/>
            <a:ext cx="5727700" cy="6858000"/>
          </a:xfrm>
          <a:custGeom>
            <a:avLst/>
            <a:gdLst>
              <a:gd name="connsiteX0" fmla="*/ 1708150 w 5727700"/>
              <a:gd name="connsiteY0" fmla="*/ 0 h 6858000"/>
              <a:gd name="connsiteX1" fmla="*/ 5727700 w 5727700"/>
              <a:gd name="connsiteY1" fmla="*/ 0 h 6858000"/>
              <a:gd name="connsiteX2" fmla="*/ 5727700 w 5727700"/>
              <a:gd name="connsiteY2" fmla="*/ 6858000 h 6858000"/>
              <a:gd name="connsiteX3" fmla="*/ 0 w 5727700"/>
              <a:gd name="connsiteY3" fmla="*/ 6858000 h 6858000"/>
              <a:gd name="connsiteX4" fmla="*/ 0 w 5727700"/>
              <a:gd name="connsiteY4" fmla="*/ 68326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27700" h="6858000">
                <a:moveTo>
                  <a:pt x="1708150" y="0"/>
                </a:moveTo>
                <a:lnTo>
                  <a:pt x="5727700" y="0"/>
                </a:lnTo>
                <a:lnTo>
                  <a:pt x="5727700" y="6858000"/>
                </a:lnTo>
                <a:lnTo>
                  <a:pt x="0" y="6858000"/>
                </a:lnTo>
                <a:lnTo>
                  <a:pt x="0" y="6832600"/>
                </a:lnTo>
                <a:close/>
              </a:path>
            </a:pathLst>
          </a:custGeom>
        </p:spPr>
        <p:txBody>
          <a:bodyPr vert="horz" wrap="square" lIns="91440" tIns="45720" rIns="91440" bIns="45720" rtlCol="0" anchor="ctr" anchorCtr="1">
            <a:noAutofit/>
          </a:bodyPr>
          <a:lstStyle>
            <a:lvl1pPr marL="0" indent="0">
              <a:buNone/>
              <a:defRPr lang="en-GB" sz="1800"/>
            </a:lvl1pPr>
          </a:lstStyle>
          <a:p>
            <a:pPr marL="228600" lvl="0" indent="-228600" algn="ctr" rtl="0"/>
            <a:r>
              <a:rPr lang="fr-FR" noProof="0"/>
              <a:t>Insérer une image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3A2DEF1-03FF-475D-994A-6FC6FB1414F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8087304" cy="6858000"/>
          </a:xfrm>
          <a:custGeom>
            <a:avLst/>
            <a:gdLst>
              <a:gd name="connsiteX0" fmla="*/ 0 w 8087304"/>
              <a:gd name="connsiteY0" fmla="*/ 0 h 6858000"/>
              <a:gd name="connsiteX1" fmla="*/ 8087304 w 8087304"/>
              <a:gd name="connsiteY1" fmla="*/ 0 h 6858000"/>
              <a:gd name="connsiteX2" fmla="*/ 8087304 w 8087304"/>
              <a:gd name="connsiteY2" fmla="*/ 7620 h 6858000"/>
              <a:gd name="connsiteX3" fmla="*/ 6368365 w 8087304"/>
              <a:gd name="connsiteY3" fmla="*/ 6858000 h 6858000"/>
              <a:gd name="connsiteX4" fmla="*/ 0 w 808730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87304" h="6858000">
                <a:moveTo>
                  <a:pt x="0" y="0"/>
                </a:moveTo>
                <a:lnTo>
                  <a:pt x="8087304" y="0"/>
                </a:lnTo>
                <a:lnTo>
                  <a:pt x="8087304" y="7620"/>
                </a:lnTo>
                <a:lnTo>
                  <a:pt x="636836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 anchor="ctr" anchorCtr="1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/>
            </a:lvl1pPr>
          </a:lstStyle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586" y="5047107"/>
            <a:ext cx="5005614" cy="1005840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6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586" y="4081468"/>
            <a:ext cx="5005614" cy="822960"/>
          </a:xfrm>
        </p:spPr>
        <p:txBody>
          <a:bodyPr vert="horz" wrap="square" lIns="0" tIns="45720" rIns="91440" bIns="45720" rtlCol="0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GB" sz="2400" dirty="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marL="0"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20" name="Espace réservé du numéro de diapositive 7">
            <a:extLst>
              <a:ext uri="{FF2B5EF4-FFF2-40B4-BE49-F238E27FC236}">
                <a16:creationId xmlns:a16="http://schemas.microsoft.com/office/drawing/2014/main" id="{1CEA3362-50AD-4D98-92C4-DA1D8C857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91417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5F3686C7-DF83-47D9-A485-35F4F1D36A69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90B36CF-9391-49E9-B599-8B724B6EF267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68CE156-5D60-42B0-A4F9-33FA8553780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5" name="Espace réservé du numéro de diapositive 7">
            <a:extLst>
              <a:ext uri="{FF2B5EF4-FFF2-40B4-BE49-F238E27FC236}">
                <a16:creationId xmlns:a16="http://schemas.microsoft.com/office/drawing/2014/main" id="{9E4521A1-4C9D-4795-B551-D151E8856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0370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éc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A75C086E-F523-4C77-938F-0DB6203DBC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1080" y="2139696"/>
            <a:ext cx="5578995" cy="879928"/>
          </a:xfrm>
        </p:spPr>
        <p:txBody>
          <a:bodyPr vert="horz" lIns="91440" tIns="45720" rIns="91440" bIns="45720" rtlCol="0" anchor="ctr" anchorCtr="0">
            <a:noAutofit/>
          </a:bodyPr>
          <a:lstStyle>
            <a:lvl1pPr algn="l">
              <a:defRPr lang="en-GB" b="0" dirty="0">
                <a:solidFill>
                  <a:schemeClr val="bg1"/>
                </a:solidFill>
              </a:defRPr>
            </a:lvl1pPr>
          </a:lstStyle>
          <a:p>
            <a:pPr marL="0" lvl="0" algn="ctr" rtl="0"/>
            <a:r>
              <a:rPr lang="fr-FR" noProof="0" dirty="0"/>
              <a:t>TITRE</a:t>
            </a:r>
          </a:p>
        </p:txBody>
      </p:sp>
      <p:sp>
        <p:nvSpPr>
          <p:cNvPr id="17" name="Espace réservé du texte 4">
            <a:extLst>
              <a:ext uri="{FF2B5EF4-FFF2-40B4-BE49-F238E27FC236}">
                <a16:creationId xmlns:a16="http://schemas.microsoft.com/office/drawing/2014/main" id="{B293AB9F-7C1D-4A06-9F42-4FD67BF27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9075" y="3653097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Nom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224AF9FB-5C6E-4050-AE8D-3B218C0F1D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9075" y="4392151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Téléphone</a:t>
            </a:r>
          </a:p>
        </p:txBody>
      </p:sp>
      <p:sp>
        <p:nvSpPr>
          <p:cNvPr id="19" name="Espace réservé du texte 4">
            <a:extLst>
              <a:ext uri="{FF2B5EF4-FFF2-40B4-BE49-F238E27FC236}">
                <a16:creationId xmlns:a16="http://schemas.microsoft.com/office/drawing/2014/main" id="{68A48B85-2E0B-42B6-AB4A-1302D3C828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59075" y="5131205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Adresse électronique</a:t>
            </a:r>
          </a:p>
        </p:txBody>
      </p:sp>
      <p:sp>
        <p:nvSpPr>
          <p:cNvPr id="20" name="Espace réservé du texte 4">
            <a:extLst>
              <a:ext uri="{FF2B5EF4-FFF2-40B4-BE49-F238E27FC236}">
                <a16:creationId xmlns:a16="http://schemas.microsoft.com/office/drawing/2014/main" id="{9244D33F-3A47-4DE3-8198-7AC5316E31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59075" y="5870258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Site web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220C8B-2E18-4D91-A806-6C7C3940B00F}"/>
              </a:ext>
            </a:extLst>
          </p:cNvPr>
          <p:cNvSpPr>
            <a:spLocks noGrp="1" noChangeAspect="1"/>
          </p:cNvSpPr>
          <p:nvPr>
            <p:ph sz="quarter" idx="19" hasCustomPrompt="1"/>
          </p:nvPr>
        </p:nvSpPr>
        <p:spPr>
          <a:xfrm>
            <a:off x="691080" y="4295744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3D1C5933-D103-4989-B652-C7B692341BC3}"/>
              </a:ext>
            </a:extLst>
          </p:cNvPr>
          <p:cNvSpPr>
            <a:spLocks noGrp="1" noChangeAspect="1"/>
          </p:cNvSpPr>
          <p:nvPr>
            <p:ph sz="quarter" idx="20" hasCustomPrompt="1"/>
          </p:nvPr>
        </p:nvSpPr>
        <p:spPr>
          <a:xfrm>
            <a:off x="691080" y="5034798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A80EBF65-A9A1-4724-B962-DB9B79A924AA}"/>
              </a:ext>
            </a:extLst>
          </p:cNvPr>
          <p:cNvSpPr>
            <a:spLocks noGrp="1" noChangeAspect="1"/>
          </p:cNvSpPr>
          <p:nvPr>
            <p:ph sz="quarter" idx="21" hasCustomPrompt="1"/>
          </p:nvPr>
        </p:nvSpPr>
        <p:spPr>
          <a:xfrm>
            <a:off x="691080" y="5773851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06251342-E6E3-4C57-A0A9-C7BB3DCAE115}"/>
              </a:ext>
            </a:extLst>
          </p:cNvPr>
          <p:cNvSpPr>
            <a:spLocks noGrp="1" noChangeAspect="1"/>
          </p:cNvSpPr>
          <p:nvPr>
            <p:ph sz="quarter" idx="22" hasCustomPrompt="1"/>
          </p:nvPr>
        </p:nvSpPr>
        <p:spPr>
          <a:xfrm>
            <a:off x="691080" y="3556690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4169354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5BE10AC4-CBFC-4ECF-92D5-9CE1874F58D7}"/>
              </a:ext>
            </a:extLst>
          </p:cNvPr>
          <p:cNvSpPr/>
          <p:nvPr userDrawn="1"/>
        </p:nvSpPr>
        <p:spPr>
          <a:xfrm>
            <a:off x="0" y="0"/>
            <a:ext cx="8568965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667344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4334810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38734915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C7BBA6D3-FEB9-412B-8FBB-095FC3A60AB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3186" y="1825625"/>
            <a:ext cx="10815864" cy="4351338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01002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64A4F74B-B2CD-407C-865A-037EDFAC9DB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3186" y="1825625"/>
            <a:ext cx="5386614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0" name="Espace réservé du contenu 3">
            <a:extLst>
              <a:ext uri="{FF2B5EF4-FFF2-40B4-BE49-F238E27FC236}">
                <a16:creationId xmlns:a16="http://schemas.microsoft.com/office/drawing/2014/main" id="{A2548E2E-973A-4D52-ACB9-BF564F4073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276850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510698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 smtClean="0"/>
              <a:t>Modifiez le style du titre</a:t>
            </a:r>
            <a:endParaRPr lang="fr-FR" noProof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10CD1AD0-C8B7-4785-A47D-D822CF4F24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33186" y="1681163"/>
            <a:ext cx="533214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90A1BBCF-EEF1-4C9A-BA10-9657A79560D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276850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79F8415A-57A2-4D5C-97B0-E78499CC7C6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186" y="2505075"/>
            <a:ext cx="5332147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xmlns:a16="http://schemas.microsoft.com/office/drawing/2014/main" id="{37A31490-A10D-455A-B515-E26064D0E10A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276850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9490708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9F5DF135-B773-4FF0-A198-68776815912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4D4BA48E-457A-42FA-BC00-3AE386B38A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265862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43DF8AE6-3466-400C-B6F1-335DF4DED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9769864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A3EA16B2-FFAE-4A6E-977D-191BC1DB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0" name="Espace réservé du texte 3">
            <a:extLst>
              <a:ext uri="{FF2B5EF4-FFF2-40B4-BE49-F238E27FC236}">
                <a16:creationId xmlns:a16="http://schemas.microsoft.com/office/drawing/2014/main" id="{436B2E80-B2B9-4309-8C9B-11D0B83C43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’image 2">
            <a:extLst>
              <a:ext uri="{FF2B5EF4-FFF2-40B4-BE49-F238E27FC236}">
                <a16:creationId xmlns:a16="http://schemas.microsoft.com/office/drawing/2014/main" id="{03DB89DF-F372-4E54-9DFD-D53E42A2B8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 smtClean="0"/>
              <a:t>Cliquez sur l'icône pour ajouter une image</a:t>
            </a:r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94346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0F2147C-DDBF-4431-95AC-650CCE32F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tx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  <p:sp>
        <p:nvSpPr>
          <p:cNvPr id="2" name="Espace réservé au titre 1">
            <a:extLst>
              <a:ext uri="{FF2B5EF4-FFF2-40B4-BE49-F238E27FC236}">
                <a16:creationId xmlns:a16="http://schemas.microsoft.com/office/drawing/2014/main" id="{224C3681-351A-40D9-8C08-632E9823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07CEF16-92A3-4A77-B95D-A9DB52319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96770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70" r:id="rId10"/>
    <p:sldLayoutId id="2147483669" r:id="rId11"/>
    <p:sldLayoutId id="2147483655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8.sv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8.sv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5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svg"/><Relationship Id="rId5" Type="http://schemas.openxmlformats.org/officeDocument/2006/relationships/image" Target="../media/image6.png"/><Relationship Id="rId4" Type="http://schemas.openxmlformats.org/officeDocument/2006/relationships/image" Target="../media/image10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10" Type="http://schemas.openxmlformats.org/officeDocument/2006/relationships/image" Target="../media/image16.svg"/><Relationship Id="rId4" Type="http://schemas.openxmlformats.org/officeDocument/2006/relationships/image" Target="../media/image7.png"/><Relationship Id="rId9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8.sv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8.sv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8.sv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8.svg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6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8.png"/><Relationship Id="rId5" Type="http://schemas.openxmlformats.org/officeDocument/2006/relationships/image" Target="../media/image14.svg"/><Relationship Id="rId4" Type="http://schemas.openxmlformats.org/officeDocument/2006/relationships/image" Target="../media/image17.png"/><Relationship Id="rId9" Type="http://schemas.openxmlformats.org/officeDocument/2006/relationships/image" Target="../media/image18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7" Type="http://schemas.openxmlformats.org/officeDocument/2006/relationships/image" Target="../media/image1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21.sv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1.svg"/><Relationship Id="rId5" Type="http://schemas.openxmlformats.org/officeDocument/2006/relationships/image" Target="../media/image21.png"/><Relationship Id="rId4" Type="http://schemas.microsoft.com/office/2007/relationships/hdphoto" Target="../media/hdphoto2.wdp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4.jpeg"/><Relationship Id="rId7" Type="http://schemas.openxmlformats.org/officeDocument/2006/relationships/image" Target="../media/image39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6.png"/><Relationship Id="rId11" Type="http://schemas.openxmlformats.org/officeDocument/2006/relationships/image" Target="../media/image43.svg"/><Relationship Id="rId5" Type="http://schemas.openxmlformats.org/officeDocument/2006/relationships/image" Target="../media/image37.svg"/><Relationship Id="rId10" Type="http://schemas.openxmlformats.org/officeDocument/2006/relationships/image" Target="../media/image28.png"/><Relationship Id="rId4" Type="http://schemas.openxmlformats.org/officeDocument/2006/relationships/image" Target="../media/image25.png"/><Relationship Id="rId9" Type="http://schemas.openxmlformats.org/officeDocument/2006/relationships/image" Target="../media/image4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BAA8DA-C40B-4AB9-9407-30FB703351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C</a:t>
            </a:r>
            <a:r>
              <a:rPr lang="fr-FR" sz="3600" dirty="0" smtClean="0"/>
              <a:t>OMMANDE BIO-INSPIREE DE ROBOT POUR DES TACHES RYTHMIQUES EN INTERACTION AVEC L’ENVIRONNEMENT</a:t>
            </a:r>
            <a:endParaRPr lang="fr-FR" sz="3600" dirty="0"/>
          </a:p>
        </p:txBody>
      </p:sp>
      <p:sp>
        <p:nvSpPr>
          <p:cNvPr id="12" name="Sous-titre 11">
            <a:extLst>
              <a:ext uri="{FF2B5EF4-FFF2-40B4-BE49-F238E27FC236}">
                <a16:creationId xmlns:a16="http://schemas.microsoft.com/office/drawing/2014/main" id="{B28A8D9C-5123-4D2B-9272-016EF90E0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fr-FR" dirty="0" smtClean="0"/>
              <a:t>Vincent FORTINEAU, Isabelle SIEGLER, Maria MAKAROV, Pedro RODRIGUEZ-AYERBE</a:t>
            </a:r>
            <a:endParaRPr lang="fr-FR" dirty="0"/>
          </a:p>
        </p:txBody>
      </p:sp>
      <p:grpSp>
        <p:nvGrpSpPr>
          <p:cNvPr id="4" name="Groupe 3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3740" y="0"/>
            <a:ext cx="6208649" cy="6858000"/>
            <a:chOff x="-3740" y="0"/>
            <a:chExt cx="6208649" cy="6858000"/>
          </a:xfrm>
        </p:grpSpPr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pic>
        <p:nvPicPr>
          <p:cNvPr id="7" name="Espace réservé pour une image  6"/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" r="26092"/>
          <a:stretch/>
        </p:blipFill>
        <p:spPr>
          <a:xfrm>
            <a:off x="-1" y="0"/>
            <a:ext cx="6676568" cy="6858000"/>
          </a:xfrm>
        </p:spPr>
      </p:pic>
      <p:grpSp>
        <p:nvGrpSpPr>
          <p:cNvPr id="13" name="Groupe 12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5888" y="10731"/>
            <a:ext cx="6208649" cy="6858000"/>
            <a:chOff x="-3740" y="0"/>
            <a:chExt cx="6208649" cy="6858000"/>
          </a:xfrm>
        </p:grpSpPr>
        <p:sp>
          <p:nvSpPr>
            <p:cNvPr id="15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8" name="ZoneTexte 7"/>
          <p:cNvSpPr txBox="1"/>
          <p:nvPr/>
        </p:nvSpPr>
        <p:spPr>
          <a:xfrm>
            <a:off x="89953" y="6596390"/>
            <a:ext cx="12795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smtClean="0"/>
              <a:t>Pollen </a:t>
            </a:r>
            <a:r>
              <a:rPr lang="fr-FR" sz="1100" i="1" dirty="0" err="1"/>
              <a:t>R</a:t>
            </a:r>
            <a:r>
              <a:rPr lang="fr-FR" sz="1100" i="1" dirty="0" err="1" smtClean="0"/>
              <a:t>obotics</a:t>
            </a:r>
            <a:r>
              <a:rPr lang="fr-FR" sz="1100" i="1" dirty="0" smtClean="0"/>
              <a:t> SAS</a:t>
            </a:r>
            <a:endParaRPr lang="fr-FR" sz="1100" i="1" dirty="0"/>
          </a:p>
        </p:txBody>
      </p:sp>
    </p:spTree>
    <p:extLst>
      <p:ext uri="{BB962C8B-B14F-4D97-AF65-F5344CB8AC3E}">
        <p14:creationId xmlns:p14="http://schemas.microsoft.com/office/powerpoint/2010/main" val="17255684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pour une image  5"/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9" r="7899"/>
          <a:stretch>
            <a:fillRect/>
          </a:stretch>
        </p:blipFill>
        <p:spPr>
          <a:xfrm>
            <a:off x="121490" y="-482601"/>
            <a:ext cx="12192001" cy="6858000"/>
          </a:xfrm>
        </p:spPr>
      </p:pic>
      <p:grpSp>
        <p:nvGrpSpPr>
          <p:cNvPr id="3" name="Groupe 2" descr="élément décoratif">
            <a:extLst>
              <a:ext uri="{FF2B5EF4-FFF2-40B4-BE49-F238E27FC236}">
                <a16:creationId xmlns:a16="http://schemas.microsoft.com/office/drawing/2014/main" id="{B96D2D9B-E0B9-499F-9404-108DB59E4502}"/>
              </a:ext>
            </a:extLst>
          </p:cNvPr>
          <p:cNvGrpSpPr/>
          <p:nvPr/>
        </p:nvGrpSpPr>
        <p:grpSpPr>
          <a:xfrm>
            <a:off x="0" y="0"/>
            <a:ext cx="7765989" cy="6858000"/>
            <a:chOff x="0" y="0"/>
            <a:chExt cx="6957056" cy="6858000"/>
          </a:xfrm>
        </p:grpSpPr>
        <p:sp>
          <p:nvSpPr>
            <p:cNvPr id="33" name="Parallélogramme 32">
              <a:extLst>
                <a:ext uri="{FF2B5EF4-FFF2-40B4-BE49-F238E27FC236}">
                  <a16:creationId xmlns:a16="http://schemas.microsoft.com/office/drawing/2014/main" id="{7E2E6584-76E9-4C56-A349-C9CDC96DC5F0}"/>
                </a:ext>
              </a:extLst>
            </p:cNvPr>
            <p:cNvSpPr/>
            <p:nvPr/>
          </p:nvSpPr>
          <p:spPr>
            <a:xfrm>
              <a:off x="1150750" y="0"/>
              <a:ext cx="5491804" cy="6858000"/>
            </a:xfrm>
            <a:prstGeom prst="parallelogram">
              <a:avLst>
                <a:gd name="adj" fmla="val 32713"/>
              </a:avLst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B73F00D5-E18D-4210-AD3E-3ED73CEE4865}"/>
                </a:ext>
              </a:extLst>
            </p:cNvPr>
            <p:cNvSpPr/>
            <p:nvPr/>
          </p:nvSpPr>
          <p:spPr>
            <a:xfrm flipH="1" flipV="1">
              <a:off x="0" y="482600"/>
              <a:ext cx="6957056" cy="5892799"/>
            </a:xfrm>
            <a:custGeom>
              <a:avLst/>
              <a:gdLst>
                <a:gd name="connsiteX0" fmla="*/ 6957056 w 6957056"/>
                <a:gd name="connsiteY0" fmla="*/ 5892799 h 5892799"/>
                <a:gd name="connsiteX1" fmla="*/ 0 w 6957056"/>
                <a:gd name="connsiteY1" fmla="*/ 5892799 h 5892799"/>
                <a:gd name="connsiteX2" fmla="*/ 1473200 w 6957056"/>
                <a:gd name="connsiteY2" fmla="*/ 0 h 5892799"/>
                <a:gd name="connsiteX3" fmla="*/ 6957056 w 6957056"/>
                <a:gd name="connsiteY3" fmla="*/ 0 h 589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957056" h="5892799">
                  <a:moveTo>
                    <a:pt x="6957056" y="5892799"/>
                  </a:moveTo>
                  <a:lnTo>
                    <a:pt x="0" y="5892799"/>
                  </a:lnTo>
                  <a:lnTo>
                    <a:pt x="1473200" y="0"/>
                  </a:lnTo>
                  <a:lnTo>
                    <a:pt x="6957056" y="0"/>
                  </a:lnTo>
                  <a:close/>
                </a:path>
              </a:pathLst>
            </a:custGeom>
            <a:solidFill>
              <a:schemeClr val="accent2">
                <a:alpha val="6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C6577883-A694-450C-A2C7-C9C8A85D9915}"/>
                </a:ext>
              </a:extLst>
            </p:cNvPr>
            <p:cNvSpPr/>
            <p:nvPr/>
          </p:nvSpPr>
          <p:spPr>
            <a:xfrm flipH="1" flipV="1">
              <a:off x="0" y="1511040"/>
              <a:ext cx="4929512" cy="317760"/>
            </a:xfrm>
            <a:custGeom>
              <a:avLst/>
              <a:gdLst>
                <a:gd name="connsiteX0" fmla="*/ 6267450 w 6267450"/>
                <a:gd name="connsiteY0" fmla="*/ 883839 h 883839"/>
                <a:gd name="connsiteX1" fmla="*/ 0 w 6267450"/>
                <a:gd name="connsiteY1" fmla="*/ 883839 h 883839"/>
                <a:gd name="connsiteX2" fmla="*/ 220960 w 6267450"/>
                <a:gd name="connsiteY2" fmla="*/ 0 h 883839"/>
                <a:gd name="connsiteX3" fmla="*/ 6267450 w 6267450"/>
                <a:gd name="connsiteY3" fmla="*/ 0 h 88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7450" h="883839">
                  <a:moveTo>
                    <a:pt x="6267450" y="883839"/>
                  </a:moveTo>
                  <a:lnTo>
                    <a:pt x="0" y="883839"/>
                  </a:lnTo>
                  <a:lnTo>
                    <a:pt x="220960" y="0"/>
                  </a:lnTo>
                  <a:lnTo>
                    <a:pt x="626745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dirty="0"/>
            </a:p>
          </p:txBody>
        </p:sp>
      </p:grpSp>
      <p:sp>
        <p:nvSpPr>
          <p:cNvPr id="12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432" y="1511041"/>
            <a:ext cx="5049510" cy="317759"/>
          </a:xfrm>
        </p:spPr>
        <p:txBody>
          <a:bodyPr rtlCol="0"/>
          <a:lstStyle/>
          <a:p>
            <a:pPr rtl="0"/>
            <a:r>
              <a:rPr lang="fr-FR" dirty="0" smtClean="0"/>
              <a:t>Contexte</a:t>
            </a:r>
            <a:endParaRPr lang="fr-FR" dirty="0"/>
          </a:p>
        </p:txBody>
      </p:sp>
      <p:sp>
        <p:nvSpPr>
          <p:cNvPr id="14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rot="10800000" flipH="1" flipV="1">
            <a:off x="6689308" y="0"/>
            <a:ext cx="5502692" cy="883839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r>
              <a:rPr lang="fr-FR" sz="4400" dirty="0" smtClean="0"/>
              <a:t>SOMMAIRE</a:t>
            </a:r>
            <a:endParaRPr lang="fr-FR" sz="4400" dirty="0"/>
          </a:p>
        </p:txBody>
      </p:sp>
      <p:sp>
        <p:nvSpPr>
          <p:cNvPr id="15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3" y="2423284"/>
            <a:ext cx="5502692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16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36861" y="2423284"/>
            <a:ext cx="5049510" cy="317759"/>
          </a:xfrm>
          <a:prstGeom prst="rect">
            <a:avLst/>
          </a:prstGeom>
        </p:spPr>
        <p:txBody>
          <a:bodyPr vert="horz" lIns="0" tIns="0" rIns="0" bIns="0" rtlCol="0" anchor="t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smtClean="0"/>
              <a:t>Impédance mécanique</a:t>
            </a:r>
            <a:endParaRPr lang="fr-FR" dirty="0"/>
          </a:p>
        </p:txBody>
      </p:sp>
      <p:sp>
        <p:nvSpPr>
          <p:cNvPr id="17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3618991"/>
            <a:ext cx="5502692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18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36864" y="3618991"/>
            <a:ext cx="5049510" cy="317759"/>
          </a:xfrm>
          <a:prstGeom prst="rect">
            <a:avLst/>
          </a:prstGeom>
        </p:spPr>
        <p:txBody>
          <a:bodyPr vert="horz" lIns="0" tIns="0" rIns="0" bIns="0" rtlCol="0" anchor="t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smtClean="0"/>
              <a:t>Expérience</a:t>
            </a:r>
            <a:endParaRPr lang="fr-FR" dirty="0"/>
          </a:p>
        </p:txBody>
      </p:sp>
      <p:sp>
        <p:nvSpPr>
          <p:cNvPr id="19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4816856"/>
            <a:ext cx="5502692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1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25718" y="4816856"/>
            <a:ext cx="5049510" cy="317759"/>
          </a:xfrm>
          <a:prstGeom prst="rect">
            <a:avLst/>
          </a:prstGeom>
        </p:spPr>
        <p:txBody>
          <a:bodyPr vert="horz" lIns="0" tIns="0" rIns="0" bIns="0" rtlCol="0" anchor="t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 smtClean="0"/>
              <a:t>Conclusion</a:t>
            </a:r>
            <a:endParaRPr lang="fr-FR" dirty="0"/>
          </a:p>
        </p:txBody>
      </p:sp>
      <p:sp>
        <p:nvSpPr>
          <p:cNvPr id="22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1824734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3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709928" y="1818567"/>
            <a:ext cx="2286530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Mouvement rythmique</a:t>
            </a:r>
            <a:endParaRPr lang="fr-FR" sz="1800" dirty="0"/>
          </a:p>
        </p:txBody>
      </p:sp>
      <p:sp>
        <p:nvSpPr>
          <p:cNvPr id="24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2106861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5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627632" y="2106860"/>
            <a:ext cx="2369058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800" dirty="0" smtClean="0"/>
              <a:t>Interactions mécaniques</a:t>
            </a:r>
            <a:endParaRPr lang="fr-FR" sz="1800" dirty="0"/>
          </a:p>
        </p:txBody>
      </p:sp>
      <p:sp>
        <p:nvSpPr>
          <p:cNvPr id="26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2738741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7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4094" y="3019157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8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3299573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30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2999232" y="2747063"/>
            <a:ext cx="990424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Définition</a:t>
            </a:r>
            <a:endParaRPr lang="fr-FR" sz="1800" dirty="0"/>
          </a:p>
        </p:txBody>
      </p:sp>
      <p:sp>
        <p:nvSpPr>
          <p:cNvPr id="32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627632" y="3018746"/>
            <a:ext cx="2362023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Méthodes d’estimations</a:t>
            </a:r>
            <a:endParaRPr lang="fr-FR" sz="1800" dirty="0"/>
          </a:p>
        </p:txBody>
      </p:sp>
      <p:sp>
        <p:nvSpPr>
          <p:cNvPr id="34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570331" y="3298231"/>
            <a:ext cx="2362023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Evolution des paramètres</a:t>
            </a:r>
            <a:endParaRPr lang="fr-FR" sz="1800" dirty="0"/>
          </a:p>
        </p:txBody>
      </p:sp>
      <p:sp>
        <p:nvSpPr>
          <p:cNvPr id="35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3930185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36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3390900" y="3943319"/>
            <a:ext cx="580996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Robot</a:t>
            </a:r>
            <a:endParaRPr lang="fr-FR" sz="1800" dirty="0"/>
          </a:p>
        </p:txBody>
      </p:sp>
      <p:sp>
        <p:nvSpPr>
          <p:cNvPr id="37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3" y="4211545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38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2706625" y="4214591"/>
            <a:ext cx="1262224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Transparence</a:t>
            </a:r>
            <a:endParaRPr lang="fr-FR" sz="1800" dirty="0"/>
          </a:p>
        </p:txBody>
      </p:sp>
      <p:sp>
        <p:nvSpPr>
          <p:cNvPr id="39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4499266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40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410173" y="4498857"/>
            <a:ext cx="2547533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 smtClean="0"/>
              <a:t>Estimation de l’impédance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23665782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space réservé pour une image  2"/>
          <p:cNvPicPr>
            <a:picLocks noGrp="1" noChangeAspect="1"/>
          </p:cNvPicPr>
          <p:nvPr>
            <p:ph type="pic" sz="quarter" idx="1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82" r="10682"/>
          <a:stretch>
            <a:fillRect/>
          </a:stretch>
        </p:blipFill>
        <p:spPr/>
      </p:pic>
      <p:sp>
        <p:nvSpPr>
          <p:cNvPr id="8" name="Rectangle 7" descr="élément décoratif">
            <a:extLst>
              <a:ext uri="{FF2B5EF4-FFF2-40B4-BE49-F238E27FC236}">
                <a16:creationId xmlns:a16="http://schemas.microsoft.com/office/drawing/2014/main" id="{4E4A96D9-2D70-4D9E-B61C-9B23F3FD5161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D65CFEB2-BC19-4647-937B-40854EE88A8C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3</a:t>
            </a:fld>
            <a:endParaRPr lang="fr-FR" sz="1200">
              <a:solidFill>
                <a:schemeClr val="bg1"/>
              </a:solidFill>
            </a:endParaRPr>
          </a:p>
        </p:txBody>
      </p:sp>
      <p:pic>
        <p:nvPicPr>
          <p:cNvPr id="12" name="Espace réservé pour une image  11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4" b="2104"/>
          <a:stretch>
            <a:fillRect/>
          </a:stretch>
        </p:blipFill>
        <p:spPr/>
      </p:pic>
      <p:sp>
        <p:nvSpPr>
          <p:cNvPr id="14" name="ZoneTexte 13"/>
          <p:cNvSpPr txBox="1"/>
          <p:nvPr/>
        </p:nvSpPr>
        <p:spPr>
          <a:xfrm>
            <a:off x="10973397" y="6551829"/>
            <a:ext cx="12186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smtClean="0">
                <a:solidFill>
                  <a:schemeClr val="bg1"/>
                </a:solidFill>
              </a:rPr>
              <a:t>Photo par </a:t>
            </a:r>
            <a:r>
              <a:rPr lang="fr-FR" sz="1100" i="1" dirty="0" err="1" smtClean="0">
                <a:solidFill>
                  <a:schemeClr val="bg1"/>
                </a:solidFill>
              </a:rPr>
              <a:t>Javardh</a:t>
            </a:r>
            <a:endParaRPr lang="fr-FR" sz="1100" i="1" dirty="0">
              <a:solidFill>
                <a:schemeClr val="bg1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4507846" y="6499670"/>
            <a:ext cx="1846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err="1">
                <a:solidFill>
                  <a:schemeClr val="bg1"/>
                </a:solidFill>
              </a:rPr>
              <a:t>luckyboot</a:t>
            </a:r>
            <a:r>
              <a:rPr lang="fr-FR" sz="1100" i="1" dirty="0">
                <a:solidFill>
                  <a:schemeClr val="bg1"/>
                </a:solidFill>
              </a:rPr>
              <a:t>—</a:t>
            </a:r>
            <a:r>
              <a:rPr lang="fr-FR" sz="1100" i="1" dirty="0" err="1">
                <a:solidFill>
                  <a:schemeClr val="bg1"/>
                </a:solidFill>
              </a:rPr>
              <a:t>iStock</a:t>
            </a:r>
            <a:r>
              <a:rPr lang="fr-FR" sz="1100" i="1" dirty="0">
                <a:solidFill>
                  <a:schemeClr val="bg1"/>
                </a:solidFill>
              </a:rPr>
              <a:t>/</a:t>
            </a:r>
            <a:r>
              <a:rPr lang="fr-FR" sz="1100" i="1" dirty="0" err="1">
                <a:solidFill>
                  <a:schemeClr val="bg1"/>
                </a:solidFill>
              </a:rPr>
              <a:t>Thinkstock</a:t>
            </a:r>
            <a:endParaRPr lang="fr-FR" sz="1400" i="1" dirty="0">
              <a:solidFill>
                <a:schemeClr val="bg1"/>
              </a:solidFill>
            </a:endParaRPr>
          </a:p>
        </p:txBody>
      </p:sp>
      <p:grpSp>
        <p:nvGrpSpPr>
          <p:cNvPr id="19" name="Groupe 18" descr="élément décoratif">
            <a:extLst>
              <a:ext uri="{FF2B5EF4-FFF2-40B4-BE49-F238E27FC236}">
                <a16:creationId xmlns:a16="http://schemas.microsoft.com/office/drawing/2014/main" id="{E7969C14-1078-4610-9BC5-74119C9B87BE}"/>
              </a:ext>
            </a:extLst>
          </p:cNvPr>
          <p:cNvGrpSpPr/>
          <p:nvPr/>
        </p:nvGrpSpPr>
        <p:grpSpPr>
          <a:xfrm>
            <a:off x="0" y="2481400"/>
            <a:ext cx="7717536" cy="2639239"/>
            <a:chOff x="0" y="3808320"/>
            <a:chExt cx="7833208" cy="2547440"/>
          </a:xfrm>
        </p:grpSpPr>
        <p:sp>
          <p:nvSpPr>
            <p:cNvPr id="20" name="Forme libre : Forme 9">
              <a:extLst>
                <a:ext uri="{FF2B5EF4-FFF2-40B4-BE49-F238E27FC236}">
                  <a16:creationId xmlns:a16="http://schemas.microsoft.com/office/drawing/2014/main" id="{E531D018-EFA3-4346-AB80-7CE436393D9E}"/>
                </a:ext>
              </a:extLst>
            </p:cNvPr>
            <p:cNvSpPr/>
            <p:nvPr/>
          </p:nvSpPr>
          <p:spPr>
            <a:xfrm>
              <a:off x="0" y="3808320"/>
              <a:ext cx="7833208" cy="2547440"/>
            </a:xfrm>
            <a:custGeom>
              <a:avLst/>
              <a:gdLst>
                <a:gd name="connsiteX0" fmla="*/ 0 w 7833208"/>
                <a:gd name="connsiteY0" fmla="*/ 0 h 2547440"/>
                <a:gd name="connsiteX1" fmla="*/ 7833208 w 7833208"/>
                <a:gd name="connsiteY1" fmla="*/ 0 h 2547440"/>
                <a:gd name="connsiteX2" fmla="*/ 7135846 w 7833208"/>
                <a:gd name="connsiteY2" fmla="*/ 2547440 h 2547440"/>
                <a:gd name="connsiteX3" fmla="*/ 0 w 7833208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33208" h="2547440">
                  <a:moveTo>
                    <a:pt x="0" y="0"/>
                  </a:moveTo>
                  <a:lnTo>
                    <a:pt x="7833208" y="0"/>
                  </a:lnTo>
                  <a:lnTo>
                    <a:pt x="7135846" y="2547440"/>
                  </a:lnTo>
                  <a:lnTo>
                    <a:pt x="0" y="254744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1" name="Forme libre : Forme 10">
              <a:extLst>
                <a:ext uri="{FF2B5EF4-FFF2-40B4-BE49-F238E27FC236}">
                  <a16:creationId xmlns:a16="http://schemas.microsoft.com/office/drawing/2014/main" id="{FA9D7AC8-80D5-49DC-A585-FCFFA6CA4B66}"/>
                </a:ext>
              </a:extLst>
            </p:cNvPr>
            <p:cNvSpPr/>
            <p:nvPr/>
          </p:nvSpPr>
          <p:spPr>
            <a:xfrm>
              <a:off x="1" y="3808320"/>
              <a:ext cx="7692571" cy="2547440"/>
            </a:xfrm>
            <a:custGeom>
              <a:avLst/>
              <a:gdLst>
                <a:gd name="connsiteX0" fmla="*/ 0 w 7692571"/>
                <a:gd name="connsiteY0" fmla="*/ 0 h 2547440"/>
                <a:gd name="connsiteX1" fmla="*/ 7692571 w 7692571"/>
                <a:gd name="connsiteY1" fmla="*/ 0 h 2547440"/>
                <a:gd name="connsiteX2" fmla="*/ 6995209 w 7692571"/>
                <a:gd name="connsiteY2" fmla="*/ 2547440 h 2547440"/>
                <a:gd name="connsiteX3" fmla="*/ 0 w 7692571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92571" h="2547440">
                  <a:moveTo>
                    <a:pt x="0" y="0"/>
                  </a:moveTo>
                  <a:lnTo>
                    <a:pt x="7692571" y="0"/>
                  </a:lnTo>
                  <a:lnTo>
                    <a:pt x="6995209" y="2547440"/>
                  </a:lnTo>
                  <a:lnTo>
                    <a:pt x="0" y="2547440"/>
                  </a:lnTo>
                  <a:close/>
                </a:path>
              </a:pathLst>
            </a:custGeom>
            <a:solidFill>
              <a:srgbClr val="0F3955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sp>
        <p:nvSpPr>
          <p:cNvPr id="33" name="Titre 32">
            <a:extLst>
              <a:ext uri="{FF2B5EF4-FFF2-40B4-BE49-F238E27FC236}">
                <a16:creationId xmlns:a16="http://schemas.microsoft.com/office/drawing/2014/main" id="{18CDD97B-6E25-4FB4-B239-493E54AA0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682" y="2766400"/>
            <a:ext cx="5005614" cy="822960"/>
          </a:xfrm>
        </p:spPr>
        <p:txBody>
          <a:bodyPr rtlCol="0"/>
          <a:lstStyle/>
          <a:p>
            <a:pPr algn="ctr" rtl="0"/>
            <a:r>
              <a:rPr lang="fr-FR" sz="4400" dirty="0" smtClean="0"/>
              <a:t>CONTEXTE</a:t>
            </a:r>
            <a:endParaRPr lang="fr-FR" sz="4400" dirty="0"/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859D862E-AE8E-482F-9E23-3C096FF03E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674" y="3589360"/>
            <a:ext cx="6237006" cy="1005840"/>
          </a:xfrm>
        </p:spPr>
        <p:txBody>
          <a:bodyPr rtlCol="0"/>
          <a:lstStyle/>
          <a:p>
            <a:pPr algn="ctr" rtl="0"/>
            <a:r>
              <a:rPr lang="fr-FR" sz="1800" dirty="0" smtClean="0"/>
              <a:t>Mouvement rythmique bio-inspirée</a:t>
            </a:r>
          </a:p>
          <a:p>
            <a:pPr algn="ctr" rtl="0">
              <a:spcBef>
                <a:spcPts val="0"/>
              </a:spcBef>
            </a:pPr>
            <a:r>
              <a:rPr lang="fr-FR" sz="1800" dirty="0" smtClean="0"/>
              <a:t>&amp;</a:t>
            </a:r>
            <a:endParaRPr lang="fr-FR" sz="1800" dirty="0" smtClean="0"/>
          </a:p>
          <a:p>
            <a:pPr algn="ctr" rtl="0">
              <a:spcBef>
                <a:spcPts val="0"/>
              </a:spcBef>
            </a:pPr>
            <a:r>
              <a:rPr lang="fr-FR" sz="1800" dirty="0" smtClean="0"/>
              <a:t>Interactions mécaniques avec des environnements incertains</a:t>
            </a:r>
            <a:endParaRPr lang="fr-FR" sz="1800" dirty="0"/>
          </a:p>
        </p:txBody>
      </p:sp>
    </p:spTree>
    <p:extLst>
      <p:ext uri="{BB962C8B-B14F-4D97-AF65-F5344CB8AC3E}">
        <p14:creationId xmlns:p14="http://schemas.microsoft.com/office/powerpoint/2010/main" val="307731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4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Mouvements rythmiques bio-inspirés 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07125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garçon marchant avec un sac de libre et un vélo">
            <a:extLst>
              <a:ext uri="{FF2B5EF4-FFF2-40B4-BE49-F238E27FC236}">
                <a16:creationId xmlns:a16="http://schemas.microsoft.com/office/drawing/2014/main" id="{3111B687-3781-4457-A624-86311FC6908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836125" y="0"/>
            <a:ext cx="5355875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7" name="Espace réservé du numéro de diapositive 5">
            <a:extLst>
              <a:ext uri="{FF2B5EF4-FFF2-40B4-BE49-F238E27FC236}">
                <a16:creationId xmlns:a16="http://schemas.microsoft.com/office/drawing/2014/main" id="{79161314-0A22-4109-A2B1-41E87EFE1E18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5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Interactions mécaniques avec des environnements incertains</a:t>
            </a:r>
            <a:endParaRPr lang="fr-FR" dirty="0"/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5831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</p:spTree>
    <p:extLst>
      <p:ext uri="{BB962C8B-B14F-4D97-AF65-F5344CB8AC3E}">
        <p14:creationId xmlns:p14="http://schemas.microsoft.com/office/powerpoint/2010/main" val="21188231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pour une image  22"/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" t="9884" r="33644" b="240"/>
          <a:stretch/>
        </p:blipFill>
        <p:spPr>
          <a:xfrm>
            <a:off x="0" y="-18288"/>
            <a:ext cx="8087304" cy="6858000"/>
          </a:xfrm>
        </p:spPr>
      </p:pic>
      <p:sp>
        <p:nvSpPr>
          <p:cNvPr id="8" name="Rectangle 7" descr="élément décoratif">
            <a:extLst>
              <a:ext uri="{FF2B5EF4-FFF2-40B4-BE49-F238E27FC236}">
                <a16:creationId xmlns:a16="http://schemas.microsoft.com/office/drawing/2014/main" id="{4E4A96D9-2D70-4D9E-B61C-9B23F3FD5161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D65CFEB2-BC19-4647-937B-40854EE88A8C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6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10973397" y="6551829"/>
            <a:ext cx="12186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smtClean="0">
                <a:solidFill>
                  <a:schemeClr val="bg1"/>
                </a:solidFill>
              </a:rPr>
              <a:t>Photo par </a:t>
            </a:r>
            <a:r>
              <a:rPr lang="fr-FR" sz="1100" i="1" dirty="0" err="1" smtClean="0">
                <a:solidFill>
                  <a:schemeClr val="bg1"/>
                </a:solidFill>
              </a:rPr>
              <a:t>Javardh</a:t>
            </a:r>
            <a:endParaRPr lang="fr-FR" sz="1100" i="1" dirty="0">
              <a:solidFill>
                <a:schemeClr val="bg1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4507846" y="6499670"/>
            <a:ext cx="4956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smtClean="0">
                <a:solidFill>
                  <a:schemeClr val="bg1"/>
                </a:solidFill>
              </a:rPr>
              <a:t>KUKA</a:t>
            </a:r>
            <a:endParaRPr lang="fr-FR" sz="1400" i="1" dirty="0">
              <a:solidFill>
                <a:schemeClr val="bg1"/>
              </a:solidFill>
            </a:endParaRPr>
          </a:p>
        </p:txBody>
      </p:sp>
      <p:grpSp>
        <p:nvGrpSpPr>
          <p:cNvPr id="19" name="Groupe 18" descr="élément décoratif">
            <a:extLst>
              <a:ext uri="{FF2B5EF4-FFF2-40B4-BE49-F238E27FC236}">
                <a16:creationId xmlns:a16="http://schemas.microsoft.com/office/drawing/2014/main" id="{E7969C14-1078-4610-9BC5-74119C9B87BE}"/>
              </a:ext>
            </a:extLst>
          </p:cNvPr>
          <p:cNvGrpSpPr/>
          <p:nvPr/>
        </p:nvGrpSpPr>
        <p:grpSpPr>
          <a:xfrm>
            <a:off x="0" y="2481400"/>
            <a:ext cx="7717536" cy="2639239"/>
            <a:chOff x="0" y="3808320"/>
            <a:chExt cx="7833208" cy="2547440"/>
          </a:xfrm>
          <a:solidFill>
            <a:srgbClr val="FFD966">
              <a:alpha val="40000"/>
            </a:srgbClr>
          </a:solidFill>
        </p:grpSpPr>
        <p:sp>
          <p:nvSpPr>
            <p:cNvPr id="20" name="Forme libre : Forme 9">
              <a:extLst>
                <a:ext uri="{FF2B5EF4-FFF2-40B4-BE49-F238E27FC236}">
                  <a16:creationId xmlns:a16="http://schemas.microsoft.com/office/drawing/2014/main" id="{E531D018-EFA3-4346-AB80-7CE436393D9E}"/>
                </a:ext>
              </a:extLst>
            </p:cNvPr>
            <p:cNvSpPr/>
            <p:nvPr/>
          </p:nvSpPr>
          <p:spPr>
            <a:xfrm>
              <a:off x="0" y="3808320"/>
              <a:ext cx="7833208" cy="2547440"/>
            </a:xfrm>
            <a:custGeom>
              <a:avLst/>
              <a:gdLst>
                <a:gd name="connsiteX0" fmla="*/ 0 w 7833208"/>
                <a:gd name="connsiteY0" fmla="*/ 0 h 2547440"/>
                <a:gd name="connsiteX1" fmla="*/ 7833208 w 7833208"/>
                <a:gd name="connsiteY1" fmla="*/ 0 h 2547440"/>
                <a:gd name="connsiteX2" fmla="*/ 7135846 w 7833208"/>
                <a:gd name="connsiteY2" fmla="*/ 2547440 h 2547440"/>
                <a:gd name="connsiteX3" fmla="*/ 0 w 7833208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33208" h="2547440">
                  <a:moveTo>
                    <a:pt x="0" y="0"/>
                  </a:moveTo>
                  <a:lnTo>
                    <a:pt x="7833208" y="0"/>
                  </a:lnTo>
                  <a:lnTo>
                    <a:pt x="7135846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1" name="Forme libre : Forme 10">
              <a:extLst>
                <a:ext uri="{FF2B5EF4-FFF2-40B4-BE49-F238E27FC236}">
                  <a16:creationId xmlns:a16="http://schemas.microsoft.com/office/drawing/2014/main" id="{FA9D7AC8-80D5-49DC-A585-FCFFA6CA4B66}"/>
                </a:ext>
              </a:extLst>
            </p:cNvPr>
            <p:cNvSpPr/>
            <p:nvPr/>
          </p:nvSpPr>
          <p:spPr>
            <a:xfrm>
              <a:off x="1" y="3808320"/>
              <a:ext cx="7692571" cy="2547440"/>
            </a:xfrm>
            <a:custGeom>
              <a:avLst/>
              <a:gdLst>
                <a:gd name="connsiteX0" fmla="*/ 0 w 7692571"/>
                <a:gd name="connsiteY0" fmla="*/ 0 h 2547440"/>
                <a:gd name="connsiteX1" fmla="*/ 7692571 w 7692571"/>
                <a:gd name="connsiteY1" fmla="*/ 0 h 2547440"/>
                <a:gd name="connsiteX2" fmla="*/ 6995209 w 7692571"/>
                <a:gd name="connsiteY2" fmla="*/ 2547440 h 2547440"/>
                <a:gd name="connsiteX3" fmla="*/ 0 w 7692571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92571" h="2547440">
                  <a:moveTo>
                    <a:pt x="0" y="0"/>
                  </a:moveTo>
                  <a:lnTo>
                    <a:pt x="7692571" y="0"/>
                  </a:lnTo>
                  <a:lnTo>
                    <a:pt x="6995209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sp>
        <p:nvSpPr>
          <p:cNvPr id="33" name="Titre 32">
            <a:extLst>
              <a:ext uri="{FF2B5EF4-FFF2-40B4-BE49-F238E27FC236}">
                <a16:creationId xmlns:a16="http://schemas.microsoft.com/office/drawing/2014/main" id="{18CDD97B-6E25-4FB4-B239-493E54AA0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682" y="2766400"/>
            <a:ext cx="5005614" cy="822960"/>
          </a:xfrm>
        </p:spPr>
        <p:txBody>
          <a:bodyPr rtlCol="0"/>
          <a:lstStyle/>
          <a:p>
            <a:pPr algn="ctr" rtl="0"/>
            <a:r>
              <a:rPr lang="fr-FR" sz="4400" dirty="0" smtClean="0"/>
              <a:t>IMPEDANCE MECANIQUE</a:t>
            </a:r>
            <a:endParaRPr lang="fr-FR" sz="4400" dirty="0"/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859D862E-AE8E-482F-9E23-3C096FF03E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473" y="4019128"/>
            <a:ext cx="6237006" cy="1005840"/>
          </a:xfrm>
        </p:spPr>
        <p:txBody>
          <a:bodyPr rtlCol="0"/>
          <a:lstStyle/>
          <a:p>
            <a:pPr algn="ctr" rtl="0"/>
            <a:r>
              <a:rPr lang="fr-FR" sz="1800" dirty="0" err="1" smtClean="0"/>
              <a:t>subsusbsubsusb</a:t>
            </a:r>
            <a:endParaRPr lang="fr-FR" sz="1800" dirty="0"/>
          </a:p>
        </p:txBody>
      </p:sp>
      <p:pic>
        <p:nvPicPr>
          <p:cNvPr id="18" name="Espace réservé pour une image  17"/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66" t="9902" r="-135" b="120"/>
          <a:stretch/>
        </p:blipFill>
        <p:spPr/>
      </p:pic>
    </p:spTree>
    <p:extLst>
      <p:ext uri="{BB962C8B-B14F-4D97-AF65-F5344CB8AC3E}">
        <p14:creationId xmlns:p14="http://schemas.microsoft.com/office/powerpoint/2010/main" val="2760029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7</a:t>
            </a:fld>
            <a:endParaRPr lang="fr-FR" sz="12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/>
              </p:cNvSpPr>
              <p:nvPr>
                <p:ph type="body" sz="quarter" idx="11"/>
              </p:nvPr>
            </p:nvSpPr>
            <p:spPr>
              <a:xfrm>
                <a:off x="535871" y="2202430"/>
                <a:ext cx="3558168" cy="3670441"/>
              </a:xfrm>
            </p:spPr>
            <p:txBody>
              <a:bodyPr rtlCol="0"/>
              <a:lstStyle/>
              <a:p>
                <a:pPr rtl="0"/>
                <a:r>
                  <a:rPr lang="fr-FR" sz="1800" b="1" u="sng" dirty="0" smtClean="0">
                    <a:solidFill>
                      <a:schemeClr val="accent3">
                        <a:lumMod val="75000"/>
                      </a:schemeClr>
                    </a:solidFill>
                  </a:rPr>
                  <a:t>Impéda</a:t>
                </a:r>
                <a:r>
                  <a:rPr lang="fr-FR" sz="1800" b="1" u="sng" dirty="0" smtClean="0">
                    <a:solidFill>
                      <a:schemeClr val="accent3">
                        <a:lumMod val="75000"/>
                      </a:schemeClr>
                    </a:solidFill>
                  </a:rPr>
                  <a:t>nce</a:t>
                </a:r>
                <a:r>
                  <a:rPr lang="fr-FR" sz="1800" dirty="0" smtClean="0"/>
                  <a:t> : Flux en entrée (vitesse, courant…) et effort en sortie du système (force, tension…).</a:t>
                </a:r>
              </a:p>
              <a:p>
                <a:pPr rtl="0"/>
                <a:endParaRPr lang="fr-FR" sz="1800" dirty="0"/>
              </a:p>
              <a:p>
                <a:pPr rtl="0"/>
                <a:r>
                  <a:rPr lang="fr-FR" sz="1800" dirty="0" smtClean="0"/>
                  <a:t>L’impédance mécanique, dans le cas linéaire, peut comporter 3 éléments passifs et 2 éléments actifs :</a:t>
                </a:r>
              </a:p>
              <a:p>
                <a:pPr marL="285750" indent="-285750" rtl="0">
                  <a:buFont typeface="Arial" panose="020B0604020202020204" pitchFamily="34" charset="0"/>
                  <a:buChar char="•"/>
                </a:pPr>
                <a:r>
                  <a:rPr lang="fr-FR" sz="1800" b="1" dirty="0" smtClean="0"/>
                  <a:t>Raideur</a:t>
                </a:r>
                <a:r>
                  <a:rPr lang="fr-FR" sz="1800" dirty="0" smtClean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fr-FR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 smtClean="0"/>
                  <a:t>)</a:t>
                </a:r>
              </a:p>
              <a:p>
                <a:pPr marL="285750" indent="-285750" rtl="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fr-FR" sz="1800" b="1" dirty="0" smtClean="0"/>
                  <a:t>Amortissement</a:t>
                </a:r>
                <a:r>
                  <a:rPr lang="fr-FR" sz="1800" dirty="0" smtClean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 smtClean="0"/>
                  <a:t>)</a:t>
                </a:r>
              </a:p>
              <a:p>
                <a:pPr marL="285750" indent="-285750" rtl="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fr-FR" sz="1800" b="1" dirty="0" smtClean="0"/>
                  <a:t>Inertie</a:t>
                </a:r>
                <a:r>
                  <a:rPr lang="fr-FR" sz="1800" dirty="0" smtClean="0"/>
                  <a:t> (</a:t>
                </a:r>
                <a14:m>
                  <m:oMath xmlns:m="http://schemas.openxmlformats.org/officeDocument/2006/math">
                    <m:r>
                      <a:rPr lang="fr-FR" sz="180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fr-FR" sz="1800" dirty="0" smtClean="0"/>
                  <a:t> ou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 smtClean="0"/>
                  <a:t>)</a:t>
                </a:r>
              </a:p>
              <a:p>
                <a:pPr marL="285750" indent="-285750" rtl="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fr-FR" sz="1800" b="1" dirty="0" smtClean="0"/>
                  <a:t>Force</a:t>
                </a:r>
                <a:r>
                  <a:rPr lang="fr-FR" sz="1800" dirty="0" smtClean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 smtClean="0"/>
                  <a:t>)</a:t>
                </a:r>
              </a:p>
              <a:p>
                <a:pPr marL="285750" indent="-285750" rtl="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fr-FR" sz="1800" b="1" dirty="0" smtClean="0"/>
                  <a:t>Vitesse</a:t>
                </a:r>
                <a:r>
                  <a:rPr lang="fr-FR" sz="1800" dirty="0" smtClean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800" b="0" i="0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8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800" i="1" dirty="0" smtClean="0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num>
                          <m:den>
                            <m:r>
                              <a:rPr lang="fr-FR" sz="1800" b="0" i="1" dirty="0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</m:oMath>
                </a14:m>
                <a:endParaRPr lang="fr-FR" sz="1800" dirty="0" smtClean="0"/>
              </a:p>
            </p:txBody>
          </p:sp>
        </mc:Choice>
        <mc:Fallback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>
              <a:xfrm>
                <a:off x="535871" y="2202430"/>
                <a:ext cx="3558168" cy="3670441"/>
              </a:xfrm>
              <a:blipFill>
                <a:blip r:embed="rId4"/>
                <a:stretch>
                  <a:fillRect l="-4110" t="-14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726459" y="1433351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sz="3200" dirty="0" smtClean="0"/>
              <a:t>Définitions de l’impédance</a:t>
            </a:r>
            <a:endParaRPr lang="fr-FR" sz="3200" dirty="0"/>
          </a:p>
        </p:txBody>
      </p:sp>
      <p:grpSp>
        <p:nvGrpSpPr>
          <p:cNvPr id="30" name="Groupe 29"/>
          <p:cNvGrpSpPr/>
          <p:nvPr/>
        </p:nvGrpSpPr>
        <p:grpSpPr>
          <a:xfrm>
            <a:off x="3022229" y="1621360"/>
            <a:ext cx="6250400" cy="736603"/>
            <a:chOff x="3653654" y="1657717"/>
            <a:chExt cx="5711916" cy="736603"/>
          </a:xfrm>
        </p:grpSpPr>
        <p:sp>
          <p:nvSpPr>
            <p:cNvPr id="5" name="Rectangle à coins arrondis 4"/>
            <p:cNvSpPr/>
            <p:nvPr/>
          </p:nvSpPr>
          <p:spPr>
            <a:xfrm>
              <a:off x="4694485" y="1657717"/>
              <a:ext cx="1381125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 smtClean="0"/>
                <a:t>Impédance</a:t>
              </a:r>
            </a:p>
            <a:p>
              <a:pPr algn="ctr"/>
              <a:r>
                <a:rPr lang="fr-FR" sz="1200" dirty="0" smtClean="0"/>
                <a:t>(système)</a:t>
              </a:r>
              <a:endParaRPr lang="fr-FR" sz="1200" dirty="0"/>
            </a:p>
          </p:txBody>
        </p:sp>
        <p:sp>
          <p:nvSpPr>
            <p:cNvPr id="18" name="Rectangle à coins arrondis 17"/>
            <p:cNvSpPr/>
            <p:nvPr/>
          </p:nvSpPr>
          <p:spPr>
            <a:xfrm>
              <a:off x="7009060" y="1657717"/>
              <a:ext cx="1381125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 smtClean="0"/>
                <a:t>Admittance</a:t>
              </a:r>
            </a:p>
            <a:p>
              <a:pPr algn="ctr"/>
              <a:r>
                <a:rPr lang="fr-FR" sz="1200" dirty="0" smtClean="0"/>
                <a:t>(Environnement)</a:t>
              </a:r>
              <a:endParaRPr lang="fr-FR" sz="1200" dirty="0"/>
            </a:p>
          </p:txBody>
        </p:sp>
        <p:cxnSp>
          <p:nvCxnSpPr>
            <p:cNvPr id="8" name="Connecteur droit avec flèche 7"/>
            <p:cNvCxnSpPr>
              <a:stCxn id="5" idx="3"/>
              <a:endCxn id="18" idx="1"/>
            </p:cNvCxnSpPr>
            <p:nvPr/>
          </p:nvCxnSpPr>
          <p:spPr>
            <a:xfrm>
              <a:off x="6075610" y="2026019"/>
              <a:ext cx="933450" cy="0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avec flèche 24"/>
            <p:cNvCxnSpPr>
              <a:endCxn id="5" idx="1"/>
            </p:cNvCxnSpPr>
            <p:nvPr/>
          </p:nvCxnSpPr>
          <p:spPr>
            <a:xfrm>
              <a:off x="3761035" y="2026018"/>
              <a:ext cx="933450" cy="1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/>
            <p:cNvCxnSpPr>
              <a:stCxn id="18" idx="3"/>
            </p:cNvCxnSpPr>
            <p:nvPr/>
          </p:nvCxnSpPr>
          <p:spPr>
            <a:xfrm>
              <a:off x="8390185" y="2026019"/>
              <a:ext cx="975385" cy="0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/>
            <p:cNvSpPr txBox="1"/>
            <p:nvPr/>
          </p:nvSpPr>
          <p:spPr>
            <a:xfrm>
              <a:off x="3653654" y="1718241"/>
              <a:ext cx="9522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 smtClean="0"/>
                <a:t>mouvement</a:t>
              </a:r>
              <a:endParaRPr lang="fr-FR" b="1" dirty="0"/>
            </a:p>
          </p:txBody>
        </p:sp>
        <p:sp>
          <p:nvSpPr>
            <p:cNvPr id="31" name="ZoneTexte 30"/>
            <p:cNvSpPr txBox="1"/>
            <p:nvPr/>
          </p:nvSpPr>
          <p:spPr>
            <a:xfrm>
              <a:off x="6252211" y="1718241"/>
              <a:ext cx="4978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 smtClean="0"/>
                <a:t>force</a:t>
              </a:r>
              <a:endParaRPr lang="fr-FR" b="1" dirty="0"/>
            </a:p>
          </p:txBody>
        </p:sp>
        <p:sp>
          <p:nvSpPr>
            <p:cNvPr id="32" name="ZoneTexte 31"/>
            <p:cNvSpPr txBox="1"/>
            <p:nvPr/>
          </p:nvSpPr>
          <p:spPr>
            <a:xfrm>
              <a:off x="8359495" y="1710571"/>
              <a:ext cx="9522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 smtClean="0"/>
                <a:t>mouvement</a:t>
              </a:r>
              <a:endParaRPr lang="fr-FR" b="1" dirty="0"/>
            </a:p>
          </p:txBody>
        </p:sp>
      </p:grpSp>
      <p:pic>
        <p:nvPicPr>
          <p:cNvPr id="43" name="Image 42"/>
          <p:cNvPicPr>
            <a:picLocks noChangeAspect="1"/>
          </p:cNvPicPr>
          <p:nvPr/>
        </p:nvPicPr>
        <p:blipFill rotWithShape="1">
          <a:blip r:embed="rId7"/>
          <a:srcRect l="8956" t="18380" r="27819" b="10258"/>
          <a:stretch/>
        </p:blipFill>
        <p:spPr>
          <a:xfrm>
            <a:off x="4335302" y="2966796"/>
            <a:ext cx="3769801" cy="2659286"/>
          </a:xfrm>
          <a:prstGeom prst="rect">
            <a:avLst/>
          </a:prstGeom>
        </p:spPr>
      </p:pic>
      <p:sp>
        <p:nvSpPr>
          <p:cNvPr id="33" name="ZoneTexte 32"/>
          <p:cNvSpPr txBox="1"/>
          <p:nvPr/>
        </p:nvSpPr>
        <p:spPr>
          <a:xfrm>
            <a:off x="5125151" y="2492604"/>
            <a:ext cx="2661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/>
              <a:t>Systèmes physiques, </a:t>
            </a:r>
            <a:r>
              <a:rPr lang="fr-FR" sz="1400" dirty="0" err="1" smtClean="0"/>
              <a:t>Hogan</a:t>
            </a:r>
            <a:r>
              <a:rPr lang="fr-FR" sz="1400" dirty="0" smtClean="0"/>
              <a:t> (1985)</a:t>
            </a:r>
            <a:endParaRPr lang="fr-FR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ZoneTexte 37"/>
              <p:cNvSpPr txBox="1"/>
              <p:nvPr/>
            </p:nvSpPr>
            <p:spPr>
              <a:xfrm>
                <a:off x="535871" y="5884365"/>
                <a:ext cx="40756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̈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8" name="ZoneTexte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" y="5884365"/>
                <a:ext cx="4075603" cy="369332"/>
              </a:xfrm>
              <a:prstGeom prst="rect">
                <a:avLst/>
              </a:prstGeom>
              <a:blipFill>
                <a:blip r:embed="rId8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ZoneTexte 40"/>
          <p:cNvSpPr txBox="1"/>
          <p:nvPr/>
        </p:nvSpPr>
        <p:spPr>
          <a:xfrm>
            <a:off x="874702" y="6247591"/>
            <a:ext cx="34422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smtClean="0"/>
              <a:t>Equation de l’impédance, modèle KBI linéaire</a:t>
            </a:r>
            <a:endParaRPr lang="fr-FR" sz="14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5" name="ZoneTexte 44"/>
              <p:cNvSpPr txBox="1"/>
              <p:nvPr/>
            </p:nvSpPr>
            <p:spPr>
              <a:xfrm>
                <a:off x="4604390" y="5598291"/>
                <a:ext cx="39137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dirty="0" smtClean="0"/>
                  <a:t>Position virtuelle non perturbée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fr-FR" sz="1400" dirty="0" smtClean="0"/>
                  <a:t>) et position</a:t>
                </a:r>
              </a:p>
              <a:p>
                <a:r>
                  <a:rPr lang="fr-FR" sz="1400" dirty="0" smtClean="0"/>
                  <a:t>suite à une perturbation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400" dirty="0" smtClean="0"/>
                  <a:t>), </a:t>
                </a:r>
                <a:r>
                  <a:rPr lang="fr-FR" sz="1400" dirty="0" err="1" smtClean="0"/>
                  <a:t>Tsuji</a:t>
                </a:r>
                <a:r>
                  <a:rPr lang="fr-FR" sz="1400" dirty="0" smtClean="0"/>
                  <a:t> &amp; Tanaka (2008) </a:t>
                </a:r>
                <a:endParaRPr lang="fr-FR" sz="1400" dirty="0"/>
              </a:p>
            </p:txBody>
          </p:sp>
        </mc:Choice>
        <mc:Fallback>
          <p:sp>
            <p:nvSpPr>
              <p:cNvPr id="45" name="ZoneTexte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04390" y="5598291"/>
                <a:ext cx="3913764" cy="523220"/>
              </a:xfrm>
              <a:prstGeom prst="rect">
                <a:avLst/>
              </a:prstGeom>
              <a:blipFill>
                <a:blip r:embed="rId9"/>
                <a:stretch>
                  <a:fillRect l="-467" t="-1163" b="-116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019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8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7700" y="2717803"/>
            <a:ext cx="3593794" cy="3368675"/>
          </a:xfrm>
        </p:spPr>
        <p:txBody>
          <a:bodyPr rtlCol="0"/>
          <a:lstStyle/>
          <a:p>
            <a:pPr algn="ctr" rtl="0"/>
            <a:r>
              <a:rPr lang="fr-FR" sz="1800" b="1" u="sng" dirty="0" smtClean="0"/>
              <a:t>Impossibilité de mesures directe !</a:t>
            </a:r>
          </a:p>
          <a:p>
            <a:pPr rtl="0"/>
            <a:r>
              <a:rPr lang="fr-FR" sz="1800" dirty="0" smtClean="0"/>
              <a:t>Nécessité de perturber le système en position ou en force, et de mesurer l’autre grandeur.</a:t>
            </a:r>
          </a:p>
          <a:p>
            <a:pPr rtl="0"/>
            <a:r>
              <a:rPr lang="fr-FR" sz="1800" dirty="0" smtClean="0"/>
              <a:t>On peut ensuite identifier les éléments d’impédance avec un modèle, ou de manière non paramétrique.</a:t>
            </a:r>
            <a:endParaRPr lang="fr-FR" sz="1800" dirty="0"/>
          </a:p>
        </p:txBody>
      </p:sp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Méthodes d’estimation de l’impédance</a:t>
            </a:r>
            <a:endParaRPr lang="fr-FR" dirty="0"/>
          </a:p>
        </p:txBody>
      </p:sp>
      <p:pic>
        <p:nvPicPr>
          <p:cNvPr id="16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sharpenSoften amount="100000"/>
                    </a14:imgEffect>
                    <a14:imgEffect>
                      <a14:colorTemperature colorTemp="1500"/>
                    </a14:imgEffect>
                    <a14:imgEffect>
                      <a14:saturation sat="400000"/>
                    </a14:imgEffect>
                    <a14:imgEffect>
                      <a14:brightnessContrast bright="100000" contrast="-9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71802" y="1982152"/>
            <a:ext cx="547688" cy="54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1679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9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Evolution des paramètres d’impédance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89615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pour une image  5"/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95" r="25"/>
          <a:stretch/>
        </p:blipFill>
        <p:spPr/>
      </p:pic>
      <p:pic>
        <p:nvPicPr>
          <p:cNvPr id="5" name="Espace réservé pour une image  4"/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" t="-139" r="33632" b="139"/>
          <a:stretch/>
        </p:blipFill>
        <p:spPr/>
      </p:pic>
      <p:sp>
        <p:nvSpPr>
          <p:cNvPr id="8" name="Rectangle 7" descr="élément décoratif">
            <a:extLst>
              <a:ext uri="{FF2B5EF4-FFF2-40B4-BE49-F238E27FC236}">
                <a16:creationId xmlns:a16="http://schemas.microsoft.com/office/drawing/2014/main" id="{4E4A96D9-2D70-4D9E-B61C-9B23F3FD5161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D65CFEB2-BC19-4647-937B-40854EE88A8C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10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583680" y="6556013"/>
            <a:ext cx="570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err="1" smtClean="0"/>
              <a:t>Staübli</a:t>
            </a:r>
            <a:endParaRPr lang="fr-FR" sz="1100" i="1" dirty="0"/>
          </a:p>
        </p:txBody>
      </p:sp>
      <p:grpSp>
        <p:nvGrpSpPr>
          <p:cNvPr id="19" name="Groupe 18" descr="élément décoratif">
            <a:extLst>
              <a:ext uri="{FF2B5EF4-FFF2-40B4-BE49-F238E27FC236}">
                <a16:creationId xmlns:a16="http://schemas.microsoft.com/office/drawing/2014/main" id="{E7969C14-1078-4610-9BC5-74119C9B87BE}"/>
              </a:ext>
            </a:extLst>
          </p:cNvPr>
          <p:cNvGrpSpPr/>
          <p:nvPr/>
        </p:nvGrpSpPr>
        <p:grpSpPr>
          <a:xfrm>
            <a:off x="0" y="2481400"/>
            <a:ext cx="7717536" cy="2639239"/>
            <a:chOff x="0" y="3808320"/>
            <a:chExt cx="7833208" cy="2547440"/>
          </a:xfrm>
          <a:solidFill>
            <a:srgbClr val="E28C89">
              <a:alpha val="40000"/>
            </a:srgbClr>
          </a:solidFill>
        </p:grpSpPr>
        <p:sp>
          <p:nvSpPr>
            <p:cNvPr id="20" name="Forme libre : Forme 9">
              <a:extLst>
                <a:ext uri="{FF2B5EF4-FFF2-40B4-BE49-F238E27FC236}">
                  <a16:creationId xmlns:a16="http://schemas.microsoft.com/office/drawing/2014/main" id="{E531D018-EFA3-4346-AB80-7CE436393D9E}"/>
                </a:ext>
              </a:extLst>
            </p:cNvPr>
            <p:cNvSpPr/>
            <p:nvPr/>
          </p:nvSpPr>
          <p:spPr>
            <a:xfrm>
              <a:off x="0" y="3808320"/>
              <a:ext cx="7833208" cy="2547440"/>
            </a:xfrm>
            <a:custGeom>
              <a:avLst/>
              <a:gdLst>
                <a:gd name="connsiteX0" fmla="*/ 0 w 7833208"/>
                <a:gd name="connsiteY0" fmla="*/ 0 h 2547440"/>
                <a:gd name="connsiteX1" fmla="*/ 7833208 w 7833208"/>
                <a:gd name="connsiteY1" fmla="*/ 0 h 2547440"/>
                <a:gd name="connsiteX2" fmla="*/ 7135846 w 7833208"/>
                <a:gd name="connsiteY2" fmla="*/ 2547440 h 2547440"/>
                <a:gd name="connsiteX3" fmla="*/ 0 w 7833208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33208" h="2547440">
                  <a:moveTo>
                    <a:pt x="0" y="0"/>
                  </a:moveTo>
                  <a:lnTo>
                    <a:pt x="7833208" y="0"/>
                  </a:lnTo>
                  <a:lnTo>
                    <a:pt x="7135846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1" name="Forme libre : Forme 10">
              <a:extLst>
                <a:ext uri="{FF2B5EF4-FFF2-40B4-BE49-F238E27FC236}">
                  <a16:creationId xmlns:a16="http://schemas.microsoft.com/office/drawing/2014/main" id="{FA9D7AC8-80D5-49DC-A585-FCFFA6CA4B66}"/>
                </a:ext>
              </a:extLst>
            </p:cNvPr>
            <p:cNvSpPr/>
            <p:nvPr/>
          </p:nvSpPr>
          <p:spPr>
            <a:xfrm>
              <a:off x="1" y="3808320"/>
              <a:ext cx="7692571" cy="2547440"/>
            </a:xfrm>
            <a:custGeom>
              <a:avLst/>
              <a:gdLst>
                <a:gd name="connsiteX0" fmla="*/ 0 w 7692571"/>
                <a:gd name="connsiteY0" fmla="*/ 0 h 2547440"/>
                <a:gd name="connsiteX1" fmla="*/ 7692571 w 7692571"/>
                <a:gd name="connsiteY1" fmla="*/ 0 h 2547440"/>
                <a:gd name="connsiteX2" fmla="*/ 6995209 w 7692571"/>
                <a:gd name="connsiteY2" fmla="*/ 2547440 h 2547440"/>
                <a:gd name="connsiteX3" fmla="*/ 0 w 7692571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92571" h="2547440">
                  <a:moveTo>
                    <a:pt x="0" y="0"/>
                  </a:moveTo>
                  <a:lnTo>
                    <a:pt x="7692571" y="0"/>
                  </a:lnTo>
                  <a:lnTo>
                    <a:pt x="6995209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sp>
        <p:nvSpPr>
          <p:cNvPr id="33" name="Titre 32">
            <a:extLst>
              <a:ext uri="{FF2B5EF4-FFF2-40B4-BE49-F238E27FC236}">
                <a16:creationId xmlns:a16="http://schemas.microsoft.com/office/drawing/2014/main" id="{18CDD97B-6E25-4FB4-B239-493E54AA0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682" y="2766400"/>
            <a:ext cx="5005614" cy="822960"/>
          </a:xfrm>
        </p:spPr>
        <p:txBody>
          <a:bodyPr rtlCol="0"/>
          <a:lstStyle/>
          <a:p>
            <a:pPr algn="ctr" rtl="0"/>
            <a:r>
              <a:rPr lang="fr-FR" sz="4400" dirty="0" smtClean="0"/>
              <a:t>EXPERIENCE</a:t>
            </a:r>
            <a:endParaRPr lang="fr-FR" sz="4400" dirty="0"/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859D862E-AE8E-482F-9E23-3C096FF03E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674" y="3589360"/>
            <a:ext cx="6237006" cy="1005840"/>
          </a:xfrm>
        </p:spPr>
        <p:txBody>
          <a:bodyPr rtlCol="0"/>
          <a:lstStyle/>
          <a:p>
            <a:pPr algn="ctr" rtl="0"/>
            <a:r>
              <a:rPr lang="fr-FR" sz="1800" dirty="0" smtClean="0"/>
              <a:t>Estimation de l’impédance humain au cours d’une tâche rythmique</a:t>
            </a:r>
            <a:endParaRPr lang="fr-FR" sz="1800" dirty="0"/>
          </a:p>
        </p:txBody>
      </p:sp>
      <p:sp>
        <p:nvSpPr>
          <p:cNvPr id="9" name="Rectangle 8"/>
          <p:cNvSpPr/>
          <p:nvPr/>
        </p:nvSpPr>
        <p:spPr>
          <a:xfrm rot="19559597">
            <a:off x="8797826" y="3168470"/>
            <a:ext cx="520105" cy="161210"/>
          </a:xfrm>
          <a:prstGeom prst="rect">
            <a:avLst/>
          </a:prstGeom>
          <a:gradFill flip="none" rotWithShape="1">
            <a:gsLst>
              <a:gs pos="0">
                <a:srgbClr val="EEA81C"/>
              </a:gs>
              <a:gs pos="100000">
                <a:srgbClr val="E7992F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75377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11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KUKA </a:t>
            </a:r>
            <a:r>
              <a:rPr lang="fr-FR" dirty="0" err="1" smtClean="0"/>
              <a:t>YouBot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40785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12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Commande de robot pour une interaction collaborative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184459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 descr="affichage arial d’un garçon assis devant son ordinateur portable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7388298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13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 smtClean="0"/>
              <a:t>Estimation de l’impédance au cours d’une tâche rythmique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34323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Livre ouvert">
            <a:extLst>
              <a:ext uri="{FF2B5EF4-FFF2-40B4-BE49-F238E27FC236}">
                <a16:creationId xmlns:a16="http://schemas.microsoft.com/office/drawing/2014/main" id="{A799F565-1DAB-4AD3-BCE4-5DAC8012F35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9" name="Rectangle 28" descr="élément décoratif">
            <a:extLst>
              <a:ext uri="{FF2B5EF4-FFF2-40B4-BE49-F238E27FC236}">
                <a16:creationId xmlns:a16="http://schemas.microsoft.com/office/drawing/2014/main" id="{5C2DDD60-EB1C-44D8-84E1-D86EB3558F11}"/>
              </a:ext>
            </a:extLst>
          </p:cNvPr>
          <p:cNvSpPr/>
          <p:nvPr/>
        </p:nvSpPr>
        <p:spPr>
          <a:xfrm>
            <a:off x="0" y="0"/>
            <a:ext cx="12192000" cy="6863626"/>
          </a:xfrm>
          <a:prstGeom prst="rect">
            <a:avLst/>
          </a:prstGeom>
          <a:solidFill>
            <a:schemeClr val="tx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 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9" name="Espace réservé du numéro de diapositive 5">
            <a:extLst>
              <a:ext uri="{FF2B5EF4-FFF2-40B4-BE49-F238E27FC236}">
                <a16:creationId xmlns:a16="http://schemas.microsoft.com/office/drawing/2014/main" id="{DB02A950-05E3-4691-9BC9-47B314EEA715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14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pic>
        <p:nvPicPr>
          <p:cNvPr id="83" name="Espace réservé du contenu 82" descr="Cloche">
            <a:extLst>
              <a:ext uri="{FF2B5EF4-FFF2-40B4-BE49-F238E27FC236}">
                <a16:creationId xmlns:a16="http://schemas.microsoft.com/office/drawing/2014/main" id="{604095CF-E62F-46A4-A86C-5F465AE6E23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/>
      </p:pic>
      <p:pic>
        <p:nvPicPr>
          <p:cNvPr id="95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03775" y="1981993"/>
            <a:ext cx="547688" cy="547688"/>
          </a:xfrm>
        </p:spPr>
      </p:pic>
      <p:pic>
        <p:nvPicPr>
          <p:cNvPr id="97" name="Espace réservé du contenu 96" descr="Crayon">
            <a:extLst>
              <a:ext uri="{FF2B5EF4-FFF2-40B4-BE49-F238E27FC236}">
                <a16:creationId xmlns:a16="http://schemas.microsoft.com/office/drawing/2014/main" id="{40D9C27B-A51D-4036-B3F9-56081BD60AB9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D01EBAE5-B81D-4150-B62C-F56241C555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1F4C9CA2-B224-40CD-8DB2-CAE478D236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</a:t>
            </a:r>
          </a:p>
        </p:txBody>
      </p:sp>
      <p:sp>
        <p:nvSpPr>
          <p:cNvPr id="90" name="Espace réservé du texte 89">
            <a:extLst>
              <a:ext uri="{FF2B5EF4-FFF2-40B4-BE49-F238E27FC236}">
                <a16:creationId xmlns:a16="http://schemas.microsoft.com/office/drawing/2014/main" id="{AC38A326-FA47-4BD6-B27D-DEB6A4485A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</a:t>
            </a:r>
          </a:p>
        </p:txBody>
      </p:sp>
    </p:spTree>
    <p:extLst>
      <p:ext uri="{BB962C8B-B14F-4D97-AF65-F5344CB8AC3E}">
        <p14:creationId xmlns:p14="http://schemas.microsoft.com/office/powerpoint/2010/main" val="31910146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groupe d’étudiants jetant leur chapeau de diplômés dans les airs au coucher du soleil">
            <a:extLst>
              <a:ext uri="{FF2B5EF4-FFF2-40B4-BE49-F238E27FC236}">
                <a16:creationId xmlns:a16="http://schemas.microsoft.com/office/drawing/2014/main" id="{039BFAD7-131E-407E-8A28-E4CF6B8977F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1" name="Rectangle 30" descr="élément décoratif">
            <a:extLst>
              <a:ext uri="{FF2B5EF4-FFF2-40B4-BE49-F238E27FC236}">
                <a16:creationId xmlns:a16="http://schemas.microsoft.com/office/drawing/2014/main" id="{340A7491-C312-4D36-BA63-6F859CD81D66}"/>
              </a:ext>
            </a:extLst>
          </p:cNvPr>
          <p:cNvSpPr/>
          <p:nvPr/>
        </p:nvSpPr>
        <p:spPr>
          <a:xfrm>
            <a:off x="0" y="11252"/>
            <a:ext cx="12191999" cy="6852374"/>
          </a:xfrm>
          <a:prstGeom prst="rect">
            <a:avLst/>
          </a:prstGeom>
          <a:solidFill>
            <a:schemeClr val="tx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 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8" name="Espace réservé du numéro de diapositive 5">
            <a:extLst>
              <a:ext uri="{FF2B5EF4-FFF2-40B4-BE49-F238E27FC236}">
                <a16:creationId xmlns:a16="http://schemas.microsoft.com/office/drawing/2014/main" id="{118AA3A9-97EA-409C-AD65-3CD3B0A58871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15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1F4C9CA2-B224-40CD-8DB2-CAE478D236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80" name="Espace réservé du contenu 79" descr="Livre ouvert">
            <a:extLst>
              <a:ext uri="{FF2B5EF4-FFF2-40B4-BE49-F238E27FC236}">
                <a16:creationId xmlns:a16="http://schemas.microsoft.com/office/drawing/2014/main" id="{1198805C-69FE-4129-96D0-B3F35CB6416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493" y="2305050"/>
            <a:ext cx="547688" cy="547688"/>
          </a:xfrm>
        </p:spPr>
      </p:pic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D01EBAE5-B81D-4150-B62C-F56241C555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pic>
        <p:nvPicPr>
          <p:cNvPr id="95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8493" y="4505325"/>
            <a:ext cx="547688" cy="547688"/>
          </a:xfrm>
        </p:spPr>
      </p:pic>
      <p:cxnSp>
        <p:nvCxnSpPr>
          <p:cNvPr id="65" name="Connecteur droit 64" descr="élément décoratif">
            <a:extLst>
              <a:ext uri="{FF2B5EF4-FFF2-40B4-BE49-F238E27FC236}">
                <a16:creationId xmlns:a16="http://schemas.microsoft.com/office/drawing/2014/main" id="{A4132B5C-BDF2-4C9A-B21E-BDD2CD03A542}"/>
              </a:ext>
            </a:extLst>
          </p:cNvPr>
          <p:cNvCxnSpPr/>
          <p:nvPr/>
        </p:nvCxnSpPr>
        <p:spPr>
          <a:xfrm>
            <a:off x="2080210" y="3553688"/>
            <a:ext cx="7498080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2196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Deux garçons regardant de l’autre côté d’un pont.">
            <a:extLst>
              <a:ext uri="{FF2B5EF4-FFF2-40B4-BE49-F238E27FC236}">
                <a16:creationId xmlns:a16="http://schemas.microsoft.com/office/drawing/2014/main" id="{B4DB50D3-94C9-4471-8076-F037B6C11D8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" y="0"/>
            <a:ext cx="12192000" cy="6858000"/>
          </a:xfrm>
        </p:spPr>
      </p:pic>
      <p:sp>
        <p:nvSpPr>
          <p:cNvPr id="31" name="Espace réservé du texte 30">
            <a:extLst>
              <a:ext uri="{FF2B5EF4-FFF2-40B4-BE49-F238E27FC236}">
                <a16:creationId xmlns:a16="http://schemas.microsoft.com/office/drawing/2014/main" id="{A7DE1A1C-1BA0-439B-99B1-C80C5806DE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endParaRPr lang="fr-FR"/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endParaRPr lang="fr-FR"/>
          </a:p>
          <a:p>
            <a:pPr rtl="0"/>
            <a:r>
              <a:rPr lang="fr-FR"/>
              <a:t>Pellentesque habitant morbi tristique senectus et netus et malesuada fames ac turpis egestas. Proin pharetra nonummy pede. </a:t>
            </a:r>
          </a:p>
          <a:p>
            <a:pPr rtl="0"/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pic>
        <p:nvPicPr>
          <p:cNvPr id="40" name="Espace réservé du contenu 79" descr="Livre ouvert">
            <a:extLst>
              <a:ext uri="{FF2B5EF4-FFF2-40B4-BE49-F238E27FC236}">
                <a16:creationId xmlns:a16="http://schemas.microsoft.com/office/drawing/2014/main" id="{C997398D-3BA0-47F4-93CE-55576CE45E2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/>
      </p:pic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 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0FD571BD-7BCF-4777-BAD5-51B3EB30BBF7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16</a:t>
            </a:fld>
            <a:endParaRPr lang="fr-FR" sz="12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67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5336101E-D654-46D8-A983-BF46C5D865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pic>
        <p:nvPicPr>
          <p:cNvPr id="27" name="Espace réservé du contenu 79" descr="Livre ouvert">
            <a:extLst>
              <a:ext uri="{FF2B5EF4-FFF2-40B4-BE49-F238E27FC236}">
                <a16:creationId xmlns:a16="http://schemas.microsoft.com/office/drawing/2014/main" id="{EBEE0E99-191F-4498-9399-4BA8BCD3E66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064734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018DA92-5FF3-4104-A4AD-2CBC58FC3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227750"/>
              </p:ext>
            </p:extLst>
          </p:nvPr>
        </p:nvGraphicFramePr>
        <p:xfrm>
          <a:off x="633186" y="1512416"/>
          <a:ext cx="10949215" cy="3820747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2189843">
                  <a:extLst>
                    <a:ext uri="{9D8B030D-6E8A-4147-A177-3AD203B41FA5}">
                      <a16:colId xmlns:a16="http://schemas.microsoft.com/office/drawing/2014/main" val="2752061506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3057165699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932898841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1832443924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1078784030"/>
                    </a:ext>
                  </a:extLst>
                </a:gridCol>
              </a:tblGrid>
              <a:tr h="545821">
                <a:tc>
                  <a:txBody>
                    <a:bodyPr/>
                    <a:lstStyle/>
                    <a:p>
                      <a:pPr algn="ctr" rtl="0"/>
                      <a:r>
                        <a:rPr lang="fr-FR" noProof="0" dirty="0">
                          <a:solidFill>
                            <a:schemeClr val="bg1"/>
                          </a:solidFill>
                          <a:latin typeface="+mj-lt"/>
                        </a:rPr>
                        <a:t>Titre</a:t>
                      </a:r>
                      <a:endParaRPr lang="fr-FR" b="1" noProof="0" dirty="0">
                        <a:solidFill>
                          <a:schemeClr val="bg1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800" b="1" kern="1200" noProof="0" dirty="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Titre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800" b="1" kern="1200" noProof="0" dirty="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Titre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800" b="1" kern="1200" noProof="0" dirty="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Titre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r-FR" sz="1800" u="none" strike="noStrike" kern="1200" cap="none" spc="0" normalizeH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j-lt"/>
                        </a:rPr>
                        <a:t>Titre</a:t>
                      </a:r>
                      <a:endParaRPr lang="fr-FR" noProof="0">
                        <a:solidFill>
                          <a:schemeClr val="bg1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578168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6539862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435978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075193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9034183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1849101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1015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7599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d’image 5" descr="Un groupe de personnes assises autour d’une table en bois&#10;">
            <a:extLst>
              <a:ext uri="{FF2B5EF4-FFF2-40B4-BE49-F238E27FC236}">
                <a16:creationId xmlns:a16="http://schemas.microsoft.com/office/drawing/2014/main" id="{D48306FF-9A46-43AC-BC11-DE5D9F2D183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</p:spPr>
      </p:pic>
      <p:sp>
        <p:nvSpPr>
          <p:cNvPr id="52" name="Rectangle 51" descr="élément décoratif">
            <a:extLst>
              <a:ext uri="{FF2B5EF4-FFF2-40B4-BE49-F238E27FC236}">
                <a16:creationId xmlns:a16="http://schemas.microsoft.com/office/drawing/2014/main" id="{31664CF3-C0D1-4769-8E59-8694AF07951A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chemeClr val="tx1">
              <a:alpha val="6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2" name="Titre 41">
            <a:extLst>
              <a:ext uri="{FF2B5EF4-FFF2-40B4-BE49-F238E27FC236}">
                <a16:creationId xmlns:a16="http://schemas.microsoft.com/office/drawing/2014/main" id="{72FCEAE4-FA74-4446-B2F5-9AFA2DA13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80" y="2142271"/>
            <a:ext cx="5578995" cy="879928"/>
          </a:xfrm>
        </p:spPr>
        <p:txBody>
          <a:bodyPr rtlCol="0"/>
          <a:lstStyle/>
          <a:p>
            <a:pPr rtl="0"/>
            <a:r>
              <a:rPr lang="fr-FR" b="0"/>
              <a:t>MERCI</a:t>
            </a:r>
          </a:p>
        </p:txBody>
      </p:sp>
      <p:sp>
        <p:nvSpPr>
          <p:cNvPr id="80" name="Espace réservé du texte 79">
            <a:extLst>
              <a:ext uri="{FF2B5EF4-FFF2-40B4-BE49-F238E27FC236}">
                <a16:creationId xmlns:a16="http://schemas.microsoft.com/office/drawing/2014/main" id="{40F0AA8D-0756-4350-8005-9BCD0DDB3B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fr-FR"/>
              <a:t>Nom</a:t>
            </a:r>
          </a:p>
        </p:txBody>
      </p:sp>
      <p:sp>
        <p:nvSpPr>
          <p:cNvPr id="86" name="Espace réservé du texte 85">
            <a:extLst>
              <a:ext uri="{FF2B5EF4-FFF2-40B4-BE49-F238E27FC236}">
                <a16:creationId xmlns:a16="http://schemas.microsoft.com/office/drawing/2014/main" id="{60CCF183-9FEB-4677-9379-BC01A7251D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fr-FR"/>
              <a:t>Téléphone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DF3FE72B-F9BD-472F-A413-71BEEF95F43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fr-FR"/>
              <a:t>Adresse électronique</a:t>
            </a:r>
          </a:p>
        </p:txBody>
      </p:sp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3717E33B-5954-4CDC-B30A-BD21BED6DD4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pPr rtl="0"/>
            <a:r>
              <a:rPr lang="fr-FR"/>
              <a:t>Site web</a:t>
            </a:r>
          </a:p>
        </p:txBody>
      </p:sp>
      <p:pic>
        <p:nvPicPr>
          <p:cNvPr id="96" name="Espace réservé du contenu 95" descr="Destinataire">
            <a:extLst>
              <a:ext uri="{FF2B5EF4-FFF2-40B4-BE49-F238E27FC236}">
                <a16:creationId xmlns:a16="http://schemas.microsoft.com/office/drawing/2014/main" id="{106CDB5A-A67F-441C-894F-3EDD7AD64C9A}"/>
              </a:ext>
            </a:extLst>
          </p:cNvPr>
          <p:cNvPicPr>
            <a:picLocks noGrp="1" noChangeAspect="1"/>
          </p:cNvPicPr>
          <p:nvPr>
            <p:ph sz="quarter" idx="19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/>
      </p:pic>
      <p:pic>
        <p:nvPicPr>
          <p:cNvPr id="98" name="Espace réservé du contenu 97" descr="Enveloppe">
            <a:extLst>
              <a:ext uri="{FF2B5EF4-FFF2-40B4-BE49-F238E27FC236}">
                <a16:creationId xmlns:a16="http://schemas.microsoft.com/office/drawing/2014/main" id="{0B9C03E0-6367-44D9-A740-AA6436F075E8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7"/>
              </a:ext>
            </a:extLst>
          </a:blip>
          <a:stretch>
            <a:fillRect/>
          </a:stretch>
        </p:blipFill>
        <p:spPr/>
      </p:pic>
      <p:pic>
        <p:nvPicPr>
          <p:cNvPr id="100" name="Espace réservé du contenu 99" descr="Lien">
            <a:extLst>
              <a:ext uri="{FF2B5EF4-FFF2-40B4-BE49-F238E27FC236}">
                <a16:creationId xmlns:a16="http://schemas.microsoft.com/office/drawing/2014/main" id="{420E824D-10A7-42CB-A7E8-5298E3E84F02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  <p:pic>
        <p:nvPicPr>
          <p:cNvPr id="94" name="Espace réservé du contenu 93" descr="Utilisateur">
            <a:extLst>
              <a:ext uri="{FF2B5EF4-FFF2-40B4-BE49-F238E27FC236}">
                <a16:creationId xmlns:a16="http://schemas.microsoft.com/office/drawing/2014/main" id="{5AC6F288-703B-45A1-9B56-079BD755B2CB}"/>
              </a:ext>
            </a:extLst>
          </p:cNvPr>
          <p:cNvPicPr>
            <a:picLocks noGrp="1" noChangeAspect="1"/>
          </p:cNvPicPr>
          <p:nvPr>
            <p:ph sz="quarter" idx="22"/>
          </p:nvPr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/>
      </p:pic>
      <p:cxnSp>
        <p:nvCxnSpPr>
          <p:cNvPr id="131" name="Connecteur droit 130" descr="élément décoratif">
            <a:extLst>
              <a:ext uri="{FF2B5EF4-FFF2-40B4-BE49-F238E27FC236}">
                <a16:creationId xmlns:a16="http://schemas.microsoft.com/office/drawing/2014/main" id="{8695A66A-1D9E-4D4E-9067-DC97380D3FDF}"/>
              </a:ext>
            </a:extLst>
          </p:cNvPr>
          <p:cNvCxnSpPr/>
          <p:nvPr/>
        </p:nvCxnSpPr>
        <p:spPr>
          <a:xfrm>
            <a:off x="756601" y="41430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 descr="élément décoratif">
            <a:extLst>
              <a:ext uri="{FF2B5EF4-FFF2-40B4-BE49-F238E27FC236}">
                <a16:creationId xmlns:a16="http://schemas.microsoft.com/office/drawing/2014/main" id="{529648F7-20E3-4312-823A-D8265A94AF23}"/>
              </a:ext>
            </a:extLst>
          </p:cNvPr>
          <p:cNvCxnSpPr/>
          <p:nvPr/>
        </p:nvCxnSpPr>
        <p:spPr>
          <a:xfrm>
            <a:off x="756601" y="48669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 descr="élément décoratif">
            <a:extLst>
              <a:ext uri="{FF2B5EF4-FFF2-40B4-BE49-F238E27FC236}">
                <a16:creationId xmlns:a16="http://schemas.microsoft.com/office/drawing/2014/main" id="{8F841485-6093-48AB-9892-0FB58675C726}"/>
              </a:ext>
            </a:extLst>
          </p:cNvPr>
          <p:cNvCxnSpPr/>
          <p:nvPr/>
        </p:nvCxnSpPr>
        <p:spPr>
          <a:xfrm>
            <a:off x="756601" y="56162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 descr="élément décoratif">
            <a:extLst>
              <a:ext uri="{FF2B5EF4-FFF2-40B4-BE49-F238E27FC236}">
                <a16:creationId xmlns:a16="http://schemas.microsoft.com/office/drawing/2014/main" id="{FF17C705-3351-4B11-BD28-D0CACC12D311}"/>
              </a:ext>
            </a:extLst>
          </p:cNvPr>
          <p:cNvGrpSpPr/>
          <p:nvPr/>
        </p:nvGrpSpPr>
        <p:grpSpPr>
          <a:xfrm>
            <a:off x="822755" y="2930325"/>
            <a:ext cx="469807" cy="79404"/>
            <a:chOff x="9330846" y="5054600"/>
            <a:chExt cx="676275" cy="114300"/>
          </a:xfrm>
          <a:solidFill>
            <a:schemeClr val="bg1"/>
          </a:solidFill>
        </p:grpSpPr>
        <p:sp>
          <p:nvSpPr>
            <p:cNvPr id="155" name="Ovale 154">
              <a:extLst>
                <a:ext uri="{FF2B5EF4-FFF2-40B4-BE49-F238E27FC236}">
                  <a16:creationId xmlns:a16="http://schemas.microsoft.com/office/drawing/2014/main" id="{925FEBFE-A26D-4E0B-B884-7E186CD878E5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2A24665D-D5CF-4F18-A88A-8E4471800E8D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39F2203F-31BF-4705-AC57-E197602982AA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8" name="Ovale 157">
              <a:extLst>
                <a:ext uri="{FF2B5EF4-FFF2-40B4-BE49-F238E27FC236}">
                  <a16:creationId xmlns:a16="http://schemas.microsoft.com/office/drawing/2014/main" id="{D4734E32-080E-49F2-89F3-16F0DBB5D130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69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alpha val="2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75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accent1">
                <a:lumMod val="75000"/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accent1">
                <a:lumMod val="75000"/>
                <a:alpha val="8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674200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hème Office">
  <a:themeElements>
    <a:clrScheme name="MSFT_04_Educatio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2606E"/>
      </a:accent1>
      <a:accent2>
        <a:srgbClr val="0F3955"/>
      </a:accent2>
      <a:accent3>
        <a:srgbClr val="FFC000"/>
      </a:accent3>
      <a:accent4>
        <a:srgbClr val="BF678E"/>
      </a:accent4>
      <a:accent5>
        <a:srgbClr val="731F1C"/>
      </a:accent5>
      <a:accent6>
        <a:srgbClr val="7A9E56"/>
      </a:accent6>
      <a:hlink>
        <a:srgbClr val="00B0F0"/>
      </a:hlink>
      <a:folHlink>
        <a:srgbClr val="595959"/>
      </a:folHlink>
    </a:clrScheme>
    <a:fontScheme name="MSFT_04_Education">
      <a:majorFont>
        <a:latin typeface="Corbe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22_TF00475556" id="{1773F893-1B64-4C50-B449-C7130E3DEDFD}" vid="{AA1B2606-3863-43D4-81FC-E4C93E7D8FD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941CEA3-A3B3-4568-9E84-C4619CC82D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49A191-EC8C-4AA6-9C64-D32B5F04743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BA4148EB-7DAD-48FA-A275-D42F48043C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pédagogique</Template>
  <TotalTime>0</TotalTime>
  <Words>1879</Words>
  <Application>Microsoft Office PowerPoint</Application>
  <PresentationFormat>Grand écran</PresentationFormat>
  <Paragraphs>176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Corbel</vt:lpstr>
      <vt:lpstr>Thème Office</vt:lpstr>
      <vt:lpstr>COMMANDE BIO-INSPIREE DE ROBOT POUR DES TACHES RYTHMIQUES EN INTERACTION AVEC L’ENVIRONNEMENT</vt:lpstr>
      <vt:lpstr>Présentation PowerPoint</vt:lpstr>
      <vt:lpstr>CONTEXTE</vt:lpstr>
      <vt:lpstr>Mouvements rythmiques bio-inspirés </vt:lpstr>
      <vt:lpstr>Interactions mécaniques avec des environnements incertains</vt:lpstr>
      <vt:lpstr>IMPEDANCE MECANIQUE</vt:lpstr>
      <vt:lpstr>Définitions de l’impédance</vt:lpstr>
      <vt:lpstr>Méthodes d’estimation de l’impédance</vt:lpstr>
      <vt:lpstr>Evolution des paramètres d’impédance</vt:lpstr>
      <vt:lpstr>EXPERIENCE</vt:lpstr>
      <vt:lpstr>KUKA YouBot</vt:lpstr>
      <vt:lpstr>Commande de robot pour une interaction collaborative</vt:lpstr>
      <vt:lpstr>Estimation de l’impédance au cours d’une tâche rythmique</vt:lpstr>
      <vt:lpstr>LOREM IPSUM DOLOR SIT AMET, CONSECTETUER ADIPISCING ELIT. </vt:lpstr>
      <vt:lpstr>LOREM IPSUM DOLOR SIT AMET, CONSECTETUER ADIPISCING ELIT. </vt:lpstr>
      <vt:lpstr>LOREM IPSUM DOLOR SIT AMET, CONSECTETUER ADIPISCING ELIT. </vt:lpstr>
      <vt:lpstr>LOREM IPSUM DOLOR SIT AMET, CONSECTETUER ADIPISCING ELIT. </vt:lpstr>
      <vt:lpstr>LOREM IPSUM DOLOR SIT AMET, CONSECTETUER ADIPISCING ELIT. </vt:lpstr>
      <vt:lpstr>MERCI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2019-10-21T11:42:01Z</dcterms:created>
  <dcterms:modified xsi:type="dcterms:W3CDTF">2019-10-21T15:59:21Z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